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 output tokens/day</c:v>
                </c:pt>
              </c:strCache>
            </c:strRef>
          </c:tx>
          <c:cat>
            <c:strRef>
              <c:f>Sheet1!$A$2:$A$10</c:f>
              <c:strCache>
                <c:ptCount val="9"/>
                <c:pt idx="0">
                  <c:v>Microsoft</c:v>
                </c:pt>
                <c:pt idx="1">
                  <c:v>Meta</c:v>
                </c:pt>
                <c:pt idx="2">
                  <c:v>Tencent</c:v>
                </c:pt>
                <c:pt idx="3">
                  <c:v>xAI</c:v>
                </c:pt>
                <c:pt idx="4">
                  <c:v>Alibaba</c:v>
                </c:pt>
                <c:pt idx="5">
                  <c:v>Google</c:v>
                </c:pt>
                <c:pt idx="6">
                  <c:v>OpenAI</c:v>
                </c:pt>
                <c:pt idx="7">
                  <c:v>Anthropic</c:v>
                </c:pt>
                <c:pt idx="8">
                  <c:v>DeepSeek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0.2154517006752</c:v>
                </c:pt>
                <c:pt idx="1">
                  <c:v>0.111140957952</c:v>
                </c:pt>
                <c:pt idx="2">
                  <c:v>0.0943886774016</c:v>
                </c:pt>
                <c:pt idx="3">
                  <c:v>0.0718923135168</c:v>
                </c:pt>
                <c:pt idx="4">
                  <c:v>0.0468196402176</c:v>
                </c:pt>
                <c:pt idx="5">
                  <c:v>0.0196766000928</c:v>
                </c:pt>
                <c:pt idx="6">
                  <c:v>0.0185825173248</c:v>
                </c:pt>
                <c:pt idx="7">
                  <c:v>0.0122926510656</c:v>
                </c:pt>
                <c:pt idx="8">
                  <c:v>0.0040192552512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650">
                  <a:solidFill>
                    <a:srgbClr val="747E8E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E3E9F2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spPr>
          <a:ln>
            <a:solidFill>
              <a:srgbClr val="E3E9F2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Microsoft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0.034688068992</c:v>
                </c:pt>
                <c:pt idx="1">
                  <c:v>0.06718716288</c:v>
                </c:pt>
                <c:pt idx="2">
                  <c:v>0.1083303261216</c:v>
                </c:pt>
                <c:pt idx="3">
                  <c:v>0.1580741713152</c:v>
                </c:pt>
                <c:pt idx="4">
                  <c:v>0.2154517006752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Meta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0.021667972608</c:v>
                </c:pt>
                <c:pt idx="1">
                  <c:v>0.039607226208</c:v>
                </c:pt>
                <c:pt idx="2">
                  <c:v>0.0605383206912</c:v>
                </c:pt>
                <c:pt idx="3">
                  <c:v>0.0844137324288</c:v>
                </c:pt>
                <c:pt idx="4">
                  <c:v>0.111140957952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Tencent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0.0098764952832</c:v>
                </c:pt>
                <c:pt idx="1">
                  <c:v>0.0242263636992</c:v>
                </c:pt>
                <c:pt idx="2">
                  <c:v>0.042791991552</c:v>
                </c:pt>
                <c:pt idx="3">
                  <c:v>0.066048986304</c:v>
                </c:pt>
                <c:pt idx="4">
                  <c:v>0.0943886774016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xAI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0.00482484816</c:v>
                </c:pt>
                <c:pt idx="1">
                  <c:v>0.0150968161152</c:v>
                </c:pt>
                <c:pt idx="2">
                  <c:v>0.0293604801408</c:v>
                </c:pt>
                <c:pt idx="3">
                  <c:v>0.048117908736</c:v>
                </c:pt>
                <c:pt idx="4">
                  <c:v>0.0718923135168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Alibaba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</c:strCache>
            </c: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0.0048673505664</c:v>
                </c:pt>
                <c:pt idx="1">
                  <c:v>0.0116748238464</c:v>
                </c:pt>
                <c:pt idx="2">
                  <c:v>0.020738180736</c:v>
                </c:pt>
                <c:pt idx="3">
                  <c:v>0.0323455693824</c:v>
                </c:pt>
                <c:pt idx="4">
                  <c:v>0.0468196402176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3E9F2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spPr>
          <a:ln>
            <a:solidFill>
              <a:srgbClr val="E3E9F2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Microsoft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0.71</c:v>
                </c:pt>
                <c:pt idx="1">
                  <c:v>1.247</c:v>
                </c:pt>
                <c:pt idx="2">
                  <c:v>1.863</c:v>
                </c:pt>
                <c:pt idx="3">
                  <c:v>2.559</c:v>
                </c:pt>
                <c:pt idx="4">
                  <c:v>3.333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Meta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0.673</c:v>
                </c:pt>
                <c:pt idx="1">
                  <c:v>1.21</c:v>
                </c:pt>
                <c:pt idx="2">
                  <c:v>1.824</c:v>
                </c:pt>
                <c:pt idx="3">
                  <c:v>2.514</c:v>
                </c:pt>
                <c:pt idx="4">
                  <c:v>3.28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Tencent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0.184</c:v>
                </c:pt>
                <c:pt idx="1">
                  <c:v>0.416</c:v>
                </c:pt>
                <c:pt idx="2">
                  <c:v>0.681</c:v>
                </c:pt>
                <c:pt idx="3">
                  <c:v>0.98</c:v>
                </c:pt>
                <c:pt idx="4">
                  <c:v>1.311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xAI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0.11</c:v>
                </c:pt>
                <c:pt idx="1">
                  <c:v>0.317</c:v>
                </c:pt>
                <c:pt idx="2">
                  <c:v>0.571</c:v>
                </c:pt>
                <c:pt idx="3">
                  <c:v>0.872</c:v>
                </c:pt>
                <c:pt idx="4">
                  <c:v>1.219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Alibaba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</c:strCache>
            </c:strRef>
          </c:cat>
          <c:val>
            <c:numRef>
              <c:f>Sheet1!$F$2:$F$6</c:f>
              <c:numCache>
                <c:formatCode>General</c:formatCode>
                <c:ptCount val="5"/>
                <c:pt idx="0">
                  <c:v>0.266</c:v>
                </c:pt>
                <c:pt idx="1">
                  <c:v>0.572</c:v>
                </c:pt>
                <c:pt idx="2">
                  <c:v>0.92</c:v>
                </c:pt>
                <c:pt idx="3">
                  <c:v>1.312</c:v>
                </c:pt>
                <c:pt idx="4">
                  <c:v>1.748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3E9F2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spPr>
          <a:ln>
            <a:solidFill>
              <a:srgbClr val="E3E9F2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Contracted GW</c:v>
                </c:pt>
              </c:strCache>
            </c:strRef>
          </c:tx>
          <c:cat>
            <c:strRef>
              <c:f>Sheet1!$A$2:$A$10</c:f>
              <c:strCache>
                <c:ptCount val="9"/>
                <c:pt idx="0">
                  <c:v>Microsoft</c:v>
                </c:pt>
                <c:pt idx="1">
                  <c:v>Meta</c:v>
                </c:pt>
                <c:pt idx="2">
                  <c:v>Tencent</c:v>
                </c:pt>
                <c:pt idx="3">
                  <c:v>xAI</c:v>
                </c:pt>
                <c:pt idx="4">
                  <c:v>Alibaba</c:v>
                </c:pt>
                <c:pt idx="5">
                  <c:v>Google</c:v>
                </c:pt>
                <c:pt idx="6">
                  <c:v>OpenAI</c:v>
                </c:pt>
                <c:pt idx="7">
                  <c:v>Anthropic</c:v>
                </c:pt>
                <c:pt idx="8">
                  <c:v>DeepSeek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9.0</c:v>
                </c:pt>
                <c:pt idx="1">
                  <c:v>7.0</c:v>
                </c:pt>
                <c:pt idx="2">
                  <c:v>3.0</c:v>
                </c:pt>
                <c:pt idx="3">
                  <c:v>3.0</c:v>
                </c:pt>
                <c:pt idx="4">
                  <c:v>4.0</c:v>
                </c:pt>
                <c:pt idx="5">
                  <c:v>8.0</c:v>
                </c:pt>
                <c:pt idx="6">
                  <c:v>12.0</c:v>
                </c:pt>
                <c:pt idx="7">
                  <c:v>7.0</c:v>
                </c:pt>
                <c:pt idx="8">
                  <c:v>1.8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Active GW</c:v>
                </c:pt>
              </c:strCache>
            </c:strRef>
          </c:tx>
          <c:cat>
            <c:strRef>
              <c:f>Sheet1!$A$2:$A$10</c:f>
              <c:strCache>
                <c:ptCount val="9"/>
                <c:pt idx="0">
                  <c:v>Microsoft</c:v>
                </c:pt>
                <c:pt idx="1">
                  <c:v>Meta</c:v>
                </c:pt>
                <c:pt idx="2">
                  <c:v>Tencent</c:v>
                </c:pt>
                <c:pt idx="3">
                  <c:v>xAI</c:v>
                </c:pt>
                <c:pt idx="4">
                  <c:v>Alibaba</c:v>
                </c:pt>
                <c:pt idx="5">
                  <c:v>Google</c:v>
                </c:pt>
                <c:pt idx="6">
                  <c:v>OpenAI</c:v>
                </c:pt>
                <c:pt idx="7">
                  <c:v>Anthropic</c:v>
                </c:pt>
                <c:pt idx="8">
                  <c:v>DeepSeek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6.2</c:v>
                </c:pt>
                <c:pt idx="1">
                  <c:v>5.8</c:v>
                </c:pt>
                <c:pt idx="2">
                  <c:v>2.4</c:v>
                </c:pt>
                <c:pt idx="3">
                  <c:v>2.5</c:v>
                </c:pt>
                <c:pt idx="4">
                  <c:v>3.2</c:v>
                </c:pt>
                <c:pt idx="5">
                  <c:v>6.8</c:v>
                </c:pt>
                <c:pt idx="6">
                  <c:v>8.5</c:v>
                </c:pt>
                <c:pt idx="7">
                  <c:v>5.5</c:v>
                </c:pt>
                <c:pt idx="8">
                  <c:v>1.2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650">
                  <a:solidFill>
                    <a:srgbClr val="747E8E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E3E9F2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spPr>
          <a:ln>
            <a:solidFill>
              <a:srgbClr val="E3E9F2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Inference GW</c:v>
                </c:pt>
              </c:strCache>
            </c:strRef>
          </c:tx>
          <c:cat>
            <c:strRef>
              <c:f>Sheet1!$A$2:$A$10</c:f>
              <c:strCache>
                <c:ptCount val="9"/>
                <c:pt idx="0">
                  <c:v>Microsoft</c:v>
                </c:pt>
                <c:pt idx="1">
                  <c:v>Meta</c:v>
                </c:pt>
                <c:pt idx="2">
                  <c:v>Tencent</c:v>
                </c:pt>
                <c:pt idx="3">
                  <c:v>xAI</c:v>
                </c:pt>
                <c:pt idx="4">
                  <c:v>Alibaba</c:v>
                </c:pt>
                <c:pt idx="5">
                  <c:v>Google</c:v>
                </c:pt>
                <c:pt idx="6">
                  <c:v>OpenAI</c:v>
                </c:pt>
                <c:pt idx="7">
                  <c:v>Anthropic</c:v>
                </c:pt>
                <c:pt idx="8">
                  <c:v>DeepSeek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3.333</c:v>
                </c:pt>
                <c:pt idx="1">
                  <c:v>3.28</c:v>
                </c:pt>
                <c:pt idx="2">
                  <c:v>1.311</c:v>
                </c:pt>
                <c:pt idx="3">
                  <c:v>1.219</c:v>
                </c:pt>
                <c:pt idx="4">
                  <c:v>1.748</c:v>
                </c:pt>
                <c:pt idx="5">
                  <c:v>3.651</c:v>
                </c:pt>
                <c:pt idx="6">
                  <c:v>4.862</c:v>
                </c:pt>
                <c:pt idx="7">
                  <c:v>2.966</c:v>
                </c:pt>
                <c:pt idx="8">
                  <c:v>0.651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Training GW</c:v>
                </c:pt>
              </c:strCache>
            </c:strRef>
          </c:tx>
          <c:cat>
            <c:strRef>
              <c:f>Sheet1!$A$2:$A$10</c:f>
              <c:strCache>
                <c:ptCount val="9"/>
                <c:pt idx="0">
                  <c:v>Microsoft</c:v>
                </c:pt>
                <c:pt idx="1">
                  <c:v>Meta</c:v>
                </c:pt>
                <c:pt idx="2">
                  <c:v>Tencent</c:v>
                </c:pt>
                <c:pt idx="3">
                  <c:v>xAI</c:v>
                </c:pt>
                <c:pt idx="4">
                  <c:v>Alibaba</c:v>
                </c:pt>
                <c:pt idx="5">
                  <c:v>Google</c:v>
                </c:pt>
                <c:pt idx="6">
                  <c:v>OpenAI</c:v>
                </c:pt>
                <c:pt idx="7">
                  <c:v>Anthropic</c:v>
                </c:pt>
                <c:pt idx="8">
                  <c:v>DeepSeek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1.111</c:v>
                </c:pt>
                <c:pt idx="1">
                  <c:v>0.925</c:v>
                </c:pt>
                <c:pt idx="2">
                  <c:v>0.328</c:v>
                </c:pt>
                <c:pt idx="3">
                  <c:v>0.523</c:v>
                </c:pt>
                <c:pt idx="4">
                  <c:v>0.437</c:v>
                </c:pt>
                <c:pt idx="5">
                  <c:v>1.42</c:v>
                </c:pt>
                <c:pt idx="6">
                  <c:v>1.371</c:v>
                </c:pt>
                <c:pt idx="7">
                  <c:v>1.042</c:v>
                </c:pt>
                <c:pt idx="8">
                  <c:v>0.143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650">
                  <a:solidFill>
                    <a:srgbClr val="747E8E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E3E9F2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spPr>
          <a:ln>
            <a:solidFill>
              <a:srgbClr val="E3E9F2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Output tokens/sec/MW</c:v>
                </c:pt>
              </c:strCache>
            </c:strRef>
          </c:tx>
          <c:cat>
            <c:strRef>
              <c:f>Sheet1!$A$2:$A$10</c:f>
              <c:strCache>
                <c:ptCount val="9"/>
                <c:pt idx="0">
                  <c:v>Microsoft</c:v>
                </c:pt>
                <c:pt idx="1">
                  <c:v>Meta</c:v>
                </c:pt>
                <c:pt idx="2">
                  <c:v>Tencent</c:v>
                </c:pt>
                <c:pt idx="3">
                  <c:v>xAI</c:v>
                </c:pt>
                <c:pt idx="4">
                  <c:v>Alibaba</c:v>
                </c:pt>
                <c:pt idx="5">
                  <c:v>Google</c:v>
                </c:pt>
                <c:pt idx="6">
                  <c:v>OpenAI</c:v>
                </c:pt>
                <c:pt idx="7">
                  <c:v>Anthropic</c:v>
                </c:pt>
                <c:pt idx="8">
                  <c:v>DeepSeek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0.748171</c:v>
                </c:pt>
                <c:pt idx="1">
                  <c:v>0.392181</c:v>
                </c:pt>
                <c:pt idx="2">
                  <c:v>0.833304</c:v>
                </c:pt>
                <c:pt idx="3">
                  <c:v>0.682598</c:v>
                </c:pt>
                <c:pt idx="4">
                  <c:v>0.310008</c:v>
                </c:pt>
                <c:pt idx="5">
                  <c:v>0.062377</c:v>
                </c:pt>
                <c:pt idx="6">
                  <c:v>0.044236</c:v>
                </c:pt>
                <c:pt idx="7">
                  <c:v>0.047969</c:v>
                </c:pt>
                <c:pt idx="8">
                  <c:v>0.071458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650">
                  <a:solidFill>
                    <a:srgbClr val="747E8E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E3E9F2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numFmt formatCode="0.0" sourceLinked="0"/>
        <c:majorTickMark val="out"/>
        <c:minorTickMark val="none"/>
        <c:tickLblPos val="nextTo"/>
        <c:spPr>
          <a:ln>
            <a:solidFill>
              <a:srgbClr val="E3E9F2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Bear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0.047</c:v>
                </c:pt>
                <c:pt idx="1">
                  <c:v>0.094</c:v>
                </c:pt>
                <c:pt idx="2">
                  <c:v>0.152</c:v>
                </c:pt>
                <c:pt idx="3">
                  <c:v>0.22</c:v>
                </c:pt>
                <c:pt idx="4">
                  <c:v>0.296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0.085</c:v>
                </c:pt>
                <c:pt idx="1">
                  <c:v>0.177</c:v>
                </c:pt>
                <c:pt idx="2">
                  <c:v>0.291</c:v>
                </c:pt>
                <c:pt idx="3">
                  <c:v>0.43</c:v>
                </c:pt>
                <c:pt idx="4">
                  <c:v>0.594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Bull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2026</c:v>
                </c:pt>
                <c:pt idx="1">
                  <c:v>2027</c:v>
                </c:pt>
                <c:pt idx="2">
                  <c:v>2028</c:v>
                </c:pt>
                <c:pt idx="3">
                  <c:v>2029</c:v>
                </c:pt>
                <c:pt idx="4">
                  <c:v>2030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0.124</c:v>
                </c:pt>
                <c:pt idx="1">
                  <c:v>0.267</c:v>
                </c:pt>
                <c:pt idx="2">
                  <c:v>0.456</c:v>
                </c:pt>
                <c:pt idx="3">
                  <c:v>0.696</c:v>
                </c:pt>
                <c:pt idx="4">
                  <c:v>0.992</c:v>
                </c:pt>
              </c:numCache>
            </c:numRef>
          </c:val>
          <c:smooth val="0"/>
        </c:ser>
        <c:dLbls>
          <c:numFmt formatCode="0.00" sourceLinked="0"/>
          <c:txPr>
            <a:bodyPr/>
            <a:lstStyle/>
            <a:p>
              <a:pPr>
                <a:defRPr sz="650">
                  <a:solidFill>
                    <a:srgbClr val="747E8E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3E9F2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spPr>
          <a:ln>
            <a:solidFill>
              <a:srgbClr val="E3E9F2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8A0"/>
          </a:solidFill>
          <a:ln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66928"/>
            <a:ext cx="402336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800" b="1">
                <a:solidFill>
                  <a:srgbClr val="1428A0"/>
                </a:solidFill>
              </a:defRPr>
            </a:pPr>
            <a:r>
              <a:t>COMPUTE CAPACITY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7772400" cy="15727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3500" b="1">
                <a:solidFill>
                  <a:srgbClr val="141820"/>
                </a:solidFill>
              </a:defRPr>
            </a:pPr>
            <a:r>
              <a:t>Token Supply Constraints</a:t>
            </a:r>
            <a:br/>
            <a:r>
              <a:t>by LLM Provider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2788920"/>
            <a:ext cx="7223760" cy="5669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320" b="0">
                <a:solidFill>
                  <a:srgbClr val="3A4252"/>
                </a:solidFill>
              </a:defRPr>
            </a:pPr>
            <a:r>
              <a:t>A compute-capacity view of how contracted power, active AI load, inference allocation, and serving efficiency limit generated output token supply</a:t>
            </a:r>
          </a:p>
        </p:txBody>
      </p:sp>
      <p:sp>
        <p:nvSpPr>
          <p:cNvPr id="6" name="Rectangle 5"/>
          <p:cNvSpPr/>
          <p:nvPr/>
        </p:nvSpPr>
        <p:spPr>
          <a:xfrm>
            <a:off x="8119872" y="1097280"/>
            <a:ext cx="36576" cy="3154680"/>
          </a:xfrm>
          <a:prstGeom prst="rect">
            <a:avLst/>
          </a:prstGeom>
          <a:solidFill>
            <a:srgbClr val="1428A0"/>
          </a:solidFill>
          <a:ln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94192" y="1133856"/>
            <a:ext cx="27889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860" b="1">
                <a:solidFill>
                  <a:srgbClr val="747E8E"/>
                </a:solidFill>
              </a:defRPr>
            </a:pPr>
            <a:r>
              <a:t>Modeled provider 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94192" y="1417320"/>
            <a:ext cx="2788920" cy="5669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700" b="1">
                <a:solidFill>
                  <a:srgbClr val="1428A0"/>
                </a:solidFill>
              </a:defRPr>
            </a:pPr>
            <a: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94192" y="1993391"/>
            <a:ext cx="278892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840" b="0">
                <a:solidFill>
                  <a:srgbClr val="747E8E"/>
                </a:solidFill>
              </a:defRPr>
            </a:pPr>
            <a:r>
              <a:t>commercial LLM owners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94192" y="2505456"/>
            <a:ext cx="27889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860" b="1">
                <a:solidFill>
                  <a:srgbClr val="747E8E"/>
                </a:solidFill>
              </a:defRPr>
            </a:pPr>
            <a:r>
              <a:t>Base 2030 supply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94192" y="2788920"/>
            <a:ext cx="2788920" cy="5669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700" b="1">
                <a:solidFill>
                  <a:srgbClr val="00A3E0"/>
                </a:solidFill>
              </a:defRPr>
            </a:pPr>
            <a:r>
              <a:t>0.59Q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4192" y="3364992"/>
            <a:ext cx="278892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840" b="0">
                <a:solidFill>
                  <a:srgbClr val="747E8E"/>
                </a:solidFill>
              </a:defRPr>
            </a:pPr>
            <a:r>
              <a:t>generated output tokens/day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5980176"/>
            <a:ext cx="61264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800" b="0">
                <a:solidFill>
                  <a:srgbClr val="747E8E"/>
                </a:solidFill>
              </a:defRPr>
            </a:pPr>
            <a:r>
              <a:t>Focus: supply constraints, not memory marketing motions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02368" y="5980176"/>
            <a:ext cx="173736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800" b="0">
                <a:solidFill>
                  <a:srgbClr val="747E8E"/>
                </a:solidFill>
              </a:defRPr>
            </a:pPr>
            <a:r>
              <a:t>2026-07-22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28A0"/>
          </a:solidFill>
          <a:ln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9184"/>
            <a:ext cx="42976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750" b="1">
                <a:solidFill>
                  <a:srgbClr val="1428A0"/>
                </a:solidFill>
              </a:defRPr>
            </a:pPr>
            <a:r>
              <a:t>TOKEN SUPPLY CONSTRAINTS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83564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950" b="1">
                <a:solidFill>
                  <a:srgbClr val="141820"/>
                </a:solidFill>
              </a:defRPr>
            </a:pPr>
            <a:r>
              <a:t>Executive answer: the bottleneck is active inference compute, not announced power alone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133856"/>
            <a:ext cx="104241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900" b="0">
                <a:solidFill>
                  <a:srgbClr val="747E8E"/>
                </a:solidFill>
              </a:defRPr>
            </a:pPr>
            <a:r>
              <a:t>Token supply is constrained by four sequential conversion losses: deployment, AI IT allocation, inference share, and serving efficiency.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99616"/>
            <a:ext cx="10881360" cy="9144"/>
          </a:xfrm>
          <a:prstGeom prst="rect">
            <a:avLst/>
          </a:prstGeom>
          <a:solidFill>
            <a:srgbClr val="E3E9F2"/>
          </a:solidFill>
          <a:ln>
            <a:solidFill>
              <a:srgbClr val="E3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828800"/>
            <a:ext cx="6400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100" b="1">
                <a:solidFill>
                  <a:srgbClr val="1428A0"/>
                </a:solidFill>
              </a:defRPr>
            </a:pPr>
            <a: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2157984"/>
            <a:ext cx="2971800" cy="27432"/>
          </a:xfrm>
          <a:prstGeom prst="rect">
            <a:avLst/>
          </a:prstGeom>
          <a:solidFill>
            <a:srgbClr val="1428A0"/>
          </a:solidFill>
          <a:ln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423160"/>
            <a:ext cx="30632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750" b="1">
                <a:solidFill>
                  <a:srgbClr val="141820"/>
                </a:solidFill>
              </a:defRPr>
            </a:pPr>
            <a:r>
              <a:t>Deployment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907792"/>
            <a:ext cx="3063240" cy="1143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400" b="0">
                <a:solidFill>
                  <a:srgbClr val="3A4252"/>
                </a:solidFill>
              </a:defRPr>
            </a:pPr>
            <a:r>
              <a:t>42.1GW active out of 54.8GW contracted in Base 2030.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53128" y="1828800"/>
            <a:ext cx="6400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100" b="1">
                <a:solidFill>
                  <a:srgbClr val="1428A0"/>
                </a:solidFill>
              </a:defRPr>
            </a:pPr>
            <a:r>
              <a:t>02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53128" y="2157984"/>
            <a:ext cx="2971800" cy="27432"/>
          </a:xfrm>
          <a:prstGeom prst="rect">
            <a:avLst/>
          </a:prstGeom>
          <a:solidFill>
            <a:srgbClr val="E3E9F2"/>
          </a:solidFill>
          <a:ln>
            <a:solidFill>
              <a:srgbClr val="E3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53128" y="2423160"/>
            <a:ext cx="30632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750" b="1">
                <a:solidFill>
                  <a:srgbClr val="141820"/>
                </a:solidFill>
              </a:defRPr>
            </a:pPr>
            <a:r>
              <a:t>Inference allocation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3128" y="2907792"/>
            <a:ext cx="3063240" cy="1143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400" b="0">
                <a:solidFill>
                  <a:srgbClr val="3A4252"/>
                </a:solidFill>
              </a:defRPr>
            </a:pPr>
            <a:r>
              <a:t>23.0GW goes to inference; 7.3GW remains training-oriented.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6448" y="1828800"/>
            <a:ext cx="64008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100" b="1">
                <a:solidFill>
                  <a:srgbClr val="1428A0"/>
                </a:solidFill>
              </a:defRPr>
            </a:pPr>
            <a:r>
              <a:t>03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56448" y="2157984"/>
            <a:ext cx="2971800" cy="27432"/>
          </a:xfrm>
          <a:prstGeom prst="rect">
            <a:avLst/>
          </a:prstGeom>
          <a:solidFill>
            <a:srgbClr val="E3E9F2"/>
          </a:solidFill>
          <a:ln>
            <a:solidFill>
              <a:srgbClr val="E3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56448" y="2423160"/>
            <a:ext cx="306324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750" b="1">
                <a:solidFill>
                  <a:srgbClr val="141820"/>
                </a:solidFill>
              </a:defRPr>
            </a:pPr>
            <a:r>
              <a:t>Concentration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6448" y="2907792"/>
            <a:ext cx="3063240" cy="1143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400" b="0">
                <a:solidFill>
                  <a:srgbClr val="3A4252"/>
                </a:solidFill>
              </a:defRPr>
            </a:pPr>
            <a:r>
              <a:t>Top 3 providers account for 71% of modeled 2030 generated-token supply.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4645152"/>
            <a:ext cx="105156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130" b="0">
                <a:solidFill>
                  <a:srgbClr val="3A4252"/>
                </a:solidFill>
              </a:defRPr>
            </a:pPr>
            <a:r>
              <a:t>What changed from the prior deck: this version does not lead with memory revenue actions. It leads with provider-level token supply constraints and only uses memory implications as downstream context.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5870448"/>
            <a:ext cx="1143000" cy="36576"/>
          </a:xfrm>
          <a:prstGeom prst="rect">
            <a:avLst/>
          </a:prstGeom>
          <a:solidFill>
            <a:srgbClr val="1428A0"/>
          </a:solidFill>
          <a:ln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47672" y="5760720"/>
            <a:ext cx="946404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120" b="1">
                <a:solidFill>
                  <a:srgbClr val="141820"/>
                </a:solidFill>
              </a:defRPr>
            </a:pPr>
            <a:r>
              <a:t>Read every provider through the same funnel: contracted GW to active GW to inference GW to output tokens.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6473952"/>
            <a:ext cx="93268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720" b="0">
                <a:solidFill>
                  <a:srgbClr val="747E8E"/>
                </a:solidFill>
              </a:defRPr>
            </a:pPr>
            <a:r>
              <a:t>Commercial LLM model-owner basis | Compute capacity to generated output token supply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33888" y="6473952"/>
            <a:ext cx="100584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720" b="0">
                <a:solidFill>
                  <a:srgbClr val="747E8E"/>
                </a:solidFill>
              </a:defRPr>
            </a:pPr>
            <a:r>
              <a:t>2026-07-22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28A0"/>
          </a:solidFill>
          <a:ln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9184"/>
            <a:ext cx="42976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750" b="1">
                <a:solidFill>
                  <a:srgbClr val="1428A0"/>
                </a:solidFill>
              </a:defRPr>
            </a:pPr>
            <a:r>
              <a:t>TOKEN SUPPLY CONSTRAINTS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83564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950" b="1">
                <a:solidFill>
                  <a:srgbClr val="141820"/>
                </a:solidFill>
              </a:defRPr>
            </a:pPr>
            <a:r>
              <a:t>The constraint model traces where compute capacity is lost before it becomes tokens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133856"/>
            <a:ext cx="104241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900" b="0">
                <a:solidFill>
                  <a:srgbClr val="747E8E"/>
                </a:solidFill>
              </a:defRPr>
            </a:pPr>
            <a:r>
              <a:t>The same formula is applied to every provider so differences come from assumptions, capacity attribution, and serving efficiency.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99616"/>
            <a:ext cx="10881360" cy="9144"/>
          </a:xfrm>
          <a:prstGeom prst="rect">
            <a:avLst/>
          </a:prstGeom>
          <a:solidFill>
            <a:srgbClr val="E3E9F2"/>
          </a:solidFill>
          <a:ln>
            <a:solidFill>
              <a:srgbClr val="E3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901952"/>
            <a:ext cx="155448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650" b="1">
                <a:solidFill>
                  <a:srgbClr val="141820"/>
                </a:solidFill>
              </a:defRPr>
            </a:pPr>
            <a:r>
              <a:t>Contracted</a:t>
            </a:r>
            <a:br/>
            <a:r>
              <a:t>power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2670048"/>
            <a:ext cx="1554480" cy="32004"/>
          </a:xfrm>
          <a:prstGeom prst="rect">
            <a:avLst/>
          </a:prstGeom>
          <a:solidFill>
            <a:srgbClr val="E3E9F2"/>
          </a:solidFill>
          <a:ln>
            <a:solidFill>
              <a:srgbClr val="E3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2889504"/>
            <a:ext cx="1554480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800" b="0">
                <a:solidFill>
                  <a:srgbClr val="747E8E"/>
                </a:solidFill>
              </a:defRPr>
            </a:pPr>
            <a:r>
              <a:t>Announced or inferred capacity envelope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95728" y="2221992"/>
            <a:ext cx="2286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550" b="1">
                <a:solidFill>
                  <a:srgbClr val="747E8E"/>
                </a:solidFill>
              </a:defRPr>
            </a:pPr>
            <a: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53512" y="1901952"/>
            <a:ext cx="155448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650" b="1">
                <a:solidFill>
                  <a:srgbClr val="141820"/>
                </a:solidFill>
              </a:defRPr>
            </a:pPr>
            <a:r>
              <a:t>Active</a:t>
            </a:r>
            <a:br/>
            <a:r>
              <a:t>power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53512" y="2670048"/>
            <a:ext cx="1554480" cy="32004"/>
          </a:xfrm>
          <a:prstGeom prst="rect">
            <a:avLst/>
          </a:prstGeom>
          <a:solidFill>
            <a:srgbClr val="E3E9F2"/>
          </a:solidFill>
          <a:ln>
            <a:solidFill>
              <a:srgbClr val="E3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53512" y="2889504"/>
            <a:ext cx="1554480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800" b="0">
                <a:solidFill>
                  <a:srgbClr val="747E8E"/>
                </a:solidFill>
              </a:defRPr>
            </a:pPr>
            <a:r>
              <a:t>Energized sites and deployed accelerators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8" y="2221992"/>
            <a:ext cx="2286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550" b="1">
                <a:solidFill>
                  <a:srgbClr val="747E8E"/>
                </a:solidFill>
              </a:defRPr>
            </a:pPr>
            <a: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93792" y="1901952"/>
            <a:ext cx="155448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650" b="1">
                <a:solidFill>
                  <a:srgbClr val="141820"/>
                </a:solidFill>
              </a:defRPr>
            </a:pPr>
            <a:r>
              <a:t>AI IT</a:t>
            </a:r>
            <a:br/>
            <a:r>
              <a:t>load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93792" y="2670048"/>
            <a:ext cx="1554480" cy="32004"/>
          </a:xfrm>
          <a:prstGeom prst="rect">
            <a:avLst/>
          </a:prstGeom>
          <a:solidFill>
            <a:srgbClr val="E3E9F2"/>
          </a:solidFill>
          <a:ln>
            <a:solidFill>
              <a:srgbClr val="E3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93792" y="2889504"/>
            <a:ext cx="1554480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800" b="0">
                <a:solidFill>
                  <a:srgbClr val="747E8E"/>
                </a:solidFill>
              </a:defRPr>
            </a:pPr>
            <a:r>
              <a:t>PUE and AI workload allocation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76288" y="2221992"/>
            <a:ext cx="2286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550" b="1">
                <a:solidFill>
                  <a:srgbClr val="747E8E"/>
                </a:solidFill>
              </a:defRPr>
            </a:pPr>
            <a: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34072" y="1901952"/>
            <a:ext cx="155448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650" b="1">
                <a:solidFill>
                  <a:srgbClr val="141820"/>
                </a:solidFill>
              </a:defRPr>
            </a:pPr>
            <a:r>
              <a:t>Inference</a:t>
            </a:r>
            <a:br/>
            <a:r>
              <a:t>GW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34072" y="2670048"/>
            <a:ext cx="1554480" cy="32004"/>
          </a:xfrm>
          <a:prstGeom prst="rect">
            <a:avLst/>
          </a:prstGeom>
          <a:solidFill>
            <a:srgbClr val="E3E9F2"/>
          </a:solidFill>
          <a:ln>
            <a:solidFill>
              <a:srgbClr val="E3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34072" y="2889504"/>
            <a:ext cx="1554480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800" b="0">
                <a:solidFill>
                  <a:srgbClr val="747E8E"/>
                </a:solidFill>
              </a:defRPr>
            </a:pPr>
            <a:r>
              <a:t>Power assigned to commercial serving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16568" y="2221992"/>
            <a:ext cx="2286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550" b="1">
                <a:solidFill>
                  <a:srgbClr val="747E8E"/>
                </a:solidFill>
              </a:defRPr>
            </a:pPr>
            <a: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74352" y="1901952"/>
            <a:ext cx="155448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650" b="1">
                <a:solidFill>
                  <a:srgbClr val="141820"/>
                </a:solidFill>
              </a:defRPr>
            </a:pPr>
            <a:r>
              <a:t>Token</a:t>
            </a:r>
            <a:br/>
            <a:r>
              <a:t>supply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74352" y="2670048"/>
            <a:ext cx="1554480" cy="32004"/>
          </a:xfrm>
          <a:prstGeom prst="rect">
            <a:avLst/>
          </a:prstGeom>
          <a:solidFill>
            <a:srgbClr val="1428A0"/>
          </a:solidFill>
          <a:ln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74352" y="2889504"/>
            <a:ext cx="1554480" cy="4206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800" b="0">
                <a:solidFill>
                  <a:srgbClr val="747E8E"/>
                </a:solidFill>
              </a:defRPr>
            </a:pPr>
            <a:r>
              <a:t>Selected output tokens/sec/MW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3886200"/>
            <a:ext cx="1051560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500" b="1">
                <a:solidFill>
                  <a:srgbClr val="1428A0"/>
                </a:solidFill>
              </a:defRPr>
            </a:pPr>
            <a:r>
              <a:t>generated output tokens/day = inference GW x 1,000 x fleet-weighted serving tokens/sec/MW x 86,400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" y="4617720"/>
            <a:ext cx="9966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040">
                <a:solidFill>
                  <a:srgbClr val="3A4252"/>
                </a:solidFill>
              </a:defRPr>
            </a:pPr>
            <a:r>
              <a:t>Deployment gap captures power that is contracted or planned but not yet producing AI IT load.</a:t>
            </a:r>
          </a:p>
          <a:p>
            <a:pPr>
              <a:spcAft>
                <a:spcPts val="400"/>
              </a:spcAft>
              <a:defRPr sz="1040">
                <a:solidFill>
                  <a:srgbClr val="3A4252"/>
                </a:solidFill>
              </a:defRPr>
            </a:pPr>
            <a:r>
              <a:t>Serving efficiency captures model architecture, precision, batching, SLO targets, and production overhead.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5870448"/>
            <a:ext cx="1143000" cy="36576"/>
          </a:xfrm>
          <a:prstGeom prst="rect">
            <a:avLst/>
          </a:prstGeom>
          <a:solidFill>
            <a:srgbClr val="1428A0"/>
          </a:solidFill>
          <a:ln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947672" y="5760720"/>
            <a:ext cx="946404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120" b="1">
                <a:solidFill>
                  <a:srgbClr val="141820"/>
                </a:solidFill>
              </a:defRPr>
            </a:pPr>
            <a:r>
              <a:t>The constraint is visible only after separating capacity ownership from operating conversion factors.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473952"/>
            <a:ext cx="93268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720" b="0">
                <a:solidFill>
                  <a:srgbClr val="747E8E"/>
                </a:solidFill>
              </a:defRPr>
            </a:pPr>
            <a:r>
              <a:t>Commercial LLM model-owner basis | Compute capacity to generated output token supply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33888" y="6473952"/>
            <a:ext cx="100584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720" b="0">
                <a:solidFill>
                  <a:srgbClr val="747E8E"/>
                </a:solidFill>
              </a:defRPr>
            </a:pPr>
            <a:r>
              <a:t>2026-07-22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28A0"/>
          </a:solidFill>
          <a:ln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9184"/>
            <a:ext cx="42976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750" b="1">
                <a:solidFill>
                  <a:srgbClr val="1428A0"/>
                </a:solidFill>
              </a:defRPr>
            </a:pPr>
            <a:r>
              <a:t>TOKEN SUPPLY CONSTRAINTS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83564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950" b="1">
                <a:solidFill>
                  <a:srgbClr val="141820"/>
                </a:solidFill>
              </a:defRPr>
            </a:pPr>
            <a:r>
              <a:t>2030 token supply is concentrated in providers with both scale and high inference conversion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133856"/>
            <a:ext cx="104241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900" b="0">
                <a:solidFill>
                  <a:srgbClr val="747E8E"/>
                </a:solidFill>
              </a:defRPr>
            </a:pPr>
            <a:r>
              <a:t>The chart ranks generated output token supply, while the side metrics show the compute base behind the output.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99616"/>
            <a:ext cx="10881360" cy="9144"/>
          </a:xfrm>
          <a:prstGeom prst="rect">
            <a:avLst/>
          </a:prstGeom>
          <a:solidFill>
            <a:srgbClr val="E3E9F2"/>
          </a:solidFill>
          <a:ln>
            <a:solidFill>
              <a:srgbClr val="E3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58368" y="1755648"/>
          <a:ext cx="66294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726679" y="1755648"/>
            <a:ext cx="333756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60" b="1">
                <a:solidFill>
                  <a:srgbClr val="747E8E"/>
                </a:solidFill>
              </a:defRPr>
            </a:pPr>
            <a:r>
              <a:t>2030 provider snapshot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726679" y="2084831"/>
          <a:ext cx="3355848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713232"/>
                <a:gridCol w="749808"/>
                <a:gridCol w="749808"/>
              </a:tblGrid>
              <a:tr h="358140"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Provider</a:t>
                      </a:r>
                    </a:p>
                  </a:txBody>
                  <a:tcPr marL="50292" marR="50292" marT="32004" marB="32004"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Q/day</a:t>
                      </a:r>
                    </a:p>
                  </a:txBody>
                  <a:tcPr marL="50292" marR="50292" marT="32004" marB="32004"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Inf. GW</a:t>
                      </a:r>
                    </a:p>
                  </a:txBody>
                  <a:tcPr marL="50292" marR="50292" marT="32004" marB="32004"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Act. GW</a:t>
                      </a:r>
                    </a:p>
                  </a:txBody>
                  <a:tcPr marL="50292" marR="50292" marT="32004" marB="32004">
                    <a:solidFill>
                      <a:srgbClr val="1428A0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>
                        <a:defRPr sz="710" b="0">
                          <a:solidFill>
                            <a:srgbClr val="3A4252"/>
                          </a:solidFill>
                        </a:defRPr>
                      </a:pPr>
                      <a:r>
                        <a:t>Microsoft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10" b="0">
                          <a:solidFill>
                            <a:srgbClr val="3A4252"/>
                          </a:solidFill>
                        </a:defRPr>
                      </a:pPr>
                      <a:r>
                        <a:t>0.22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10" b="0">
                          <a:solidFill>
                            <a:srgbClr val="3A4252"/>
                          </a:solidFill>
                        </a:defRPr>
                      </a:pPr>
                      <a:r>
                        <a:t>3.3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10" b="0">
                          <a:solidFill>
                            <a:srgbClr val="3A4252"/>
                          </a:solidFill>
                        </a:defRPr>
                      </a:pPr>
                      <a:r>
                        <a:t>6.2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>
                        <a:defRPr sz="710" b="0">
                          <a:solidFill>
                            <a:srgbClr val="3A4252"/>
                          </a:solidFill>
                        </a:defRPr>
                      </a:pPr>
                      <a:r>
                        <a:t>Meta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10" b="0">
                          <a:solidFill>
                            <a:srgbClr val="3A4252"/>
                          </a:solidFill>
                        </a:defRPr>
                      </a:pPr>
                      <a:r>
                        <a:t>0.11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10" b="0">
                          <a:solidFill>
                            <a:srgbClr val="3A4252"/>
                          </a:solidFill>
                        </a:defRPr>
                      </a:pPr>
                      <a:r>
                        <a:t>3.3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10" b="0">
                          <a:solidFill>
                            <a:srgbClr val="3A4252"/>
                          </a:solidFill>
                        </a:defRPr>
                      </a:pPr>
                      <a:r>
                        <a:t>5.8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>
                        <a:defRPr sz="710" b="0">
                          <a:solidFill>
                            <a:srgbClr val="3A4252"/>
                          </a:solidFill>
                        </a:defRPr>
                      </a:pPr>
                      <a:r>
                        <a:t>Tencent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10" b="0">
                          <a:solidFill>
                            <a:srgbClr val="3A4252"/>
                          </a:solidFill>
                        </a:defRPr>
                      </a:pPr>
                      <a:r>
                        <a:t>0.09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10" b="0">
                          <a:solidFill>
                            <a:srgbClr val="3A4252"/>
                          </a:solidFill>
                        </a:defRPr>
                      </a:pPr>
                      <a:r>
                        <a:t>1.3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10" b="0">
                          <a:solidFill>
                            <a:srgbClr val="3A4252"/>
                          </a:solidFill>
                        </a:defRPr>
                      </a:pPr>
                      <a:r>
                        <a:t>2.4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>
                        <a:defRPr sz="710" b="0">
                          <a:solidFill>
                            <a:srgbClr val="3A4252"/>
                          </a:solidFill>
                        </a:defRPr>
                      </a:pPr>
                      <a:r>
                        <a:t>xAI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10" b="0">
                          <a:solidFill>
                            <a:srgbClr val="3A4252"/>
                          </a:solidFill>
                        </a:defRPr>
                      </a:pPr>
                      <a:r>
                        <a:t>0.07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10" b="0">
                          <a:solidFill>
                            <a:srgbClr val="3A4252"/>
                          </a:solidFill>
                        </a:defRPr>
                      </a:pPr>
                      <a:r>
                        <a:t>1.2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10" b="0">
                          <a:solidFill>
                            <a:srgbClr val="3A4252"/>
                          </a:solidFill>
                        </a:defRPr>
                      </a:pPr>
                      <a:r>
                        <a:t>2.5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>
                        <a:defRPr sz="710" b="0">
                          <a:solidFill>
                            <a:srgbClr val="3A4252"/>
                          </a:solidFill>
                        </a:defRPr>
                      </a:pPr>
                      <a:r>
                        <a:t>Alibaba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10" b="0">
                          <a:solidFill>
                            <a:srgbClr val="3A4252"/>
                          </a:solidFill>
                        </a:defRPr>
                      </a:pPr>
                      <a:r>
                        <a:t>0.05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10" b="0">
                          <a:solidFill>
                            <a:srgbClr val="3A4252"/>
                          </a:solidFill>
                        </a:defRPr>
                      </a:pPr>
                      <a:r>
                        <a:t>1.7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10" b="0">
                          <a:solidFill>
                            <a:srgbClr val="3A4252"/>
                          </a:solidFill>
                        </a:defRPr>
                      </a:pPr>
                      <a:r>
                        <a:t>3.2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726679" y="4498848"/>
            <a:ext cx="27889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860" b="1">
                <a:solidFill>
                  <a:srgbClr val="747E8E"/>
                </a:solidFill>
              </a:defRPr>
            </a:pPr>
            <a:r>
              <a:t>Top 3 share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4782312"/>
            <a:ext cx="2788920" cy="5669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700" b="1">
                <a:solidFill>
                  <a:srgbClr val="00A3E0"/>
                </a:solidFill>
              </a:defRPr>
            </a:pPr>
            <a:r>
              <a:t>71%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5358383"/>
            <a:ext cx="278892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840" b="0">
                <a:solidFill>
                  <a:srgbClr val="747E8E"/>
                </a:solidFill>
              </a:defRPr>
            </a:pPr>
            <a:r>
              <a:t>of modeled 2030 supply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5870448"/>
            <a:ext cx="1143000" cy="36576"/>
          </a:xfrm>
          <a:prstGeom prst="rect">
            <a:avLst/>
          </a:prstGeom>
          <a:solidFill>
            <a:srgbClr val="1428A0"/>
          </a:solidFill>
          <a:ln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47672" y="5760720"/>
            <a:ext cx="946404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120" b="1">
                <a:solidFill>
                  <a:srgbClr val="141820"/>
                </a:solidFill>
              </a:defRPr>
            </a:pPr>
            <a:r>
              <a:t>Token supply leadership is a compute-conversion outcome, not just a data-center footprint outcome.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473952"/>
            <a:ext cx="93268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720" b="0">
                <a:solidFill>
                  <a:srgbClr val="747E8E"/>
                </a:solidFill>
              </a:defRPr>
            </a:pPr>
            <a:r>
              <a:t>Commercial LLM model-owner basis | Compute capacity to generated output token supply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33888" y="6473952"/>
            <a:ext cx="100584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720" b="0">
                <a:solidFill>
                  <a:srgbClr val="747E8E"/>
                </a:solidFill>
              </a:defRPr>
            </a:pPr>
            <a:r>
              <a:t>2026-07-22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28A0"/>
          </a:solidFill>
          <a:ln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9184"/>
            <a:ext cx="42976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750" b="1">
                <a:solidFill>
                  <a:srgbClr val="1428A0"/>
                </a:solidFill>
              </a:defRPr>
            </a:pPr>
            <a:r>
              <a:t>TOKEN SUPPLY CONSTRAINTS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83564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950" b="1">
                <a:solidFill>
                  <a:srgbClr val="141820"/>
                </a:solidFill>
              </a:defRPr>
            </a:pPr>
            <a:r>
              <a:t>Provider token supply trajectories show when each company begins to separate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133856"/>
            <a:ext cx="104241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900" b="0">
                <a:solidFill>
                  <a:srgbClr val="747E8E"/>
                </a:solidFill>
              </a:defRPr>
            </a:pPr>
            <a:r>
              <a:t>The line chart shows the top 2030 providers; the table keeps every modeled provider visible across 2026, 2028, and 2030.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99616"/>
            <a:ext cx="10881360" cy="9144"/>
          </a:xfrm>
          <a:prstGeom prst="rect">
            <a:avLst/>
          </a:prstGeom>
          <a:solidFill>
            <a:srgbClr val="E3E9F2"/>
          </a:solidFill>
          <a:ln>
            <a:solidFill>
              <a:srgbClr val="E3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58368" y="1737360"/>
          <a:ext cx="6446520" cy="373075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479792" y="1755648"/>
            <a:ext cx="36118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60" b="1">
                <a:solidFill>
                  <a:srgbClr val="747E8E"/>
                </a:solidFill>
              </a:defRPr>
            </a:pPr>
            <a:r>
              <a:t>All-provider token supply table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479792" y="2084831"/>
          <a:ext cx="365760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5568"/>
                <a:gridCol w="640080"/>
                <a:gridCol w="640080"/>
                <a:gridCol w="640080"/>
                <a:gridCol w="621792"/>
              </a:tblGrid>
              <a:tr h="324612"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Provider</a:t>
                      </a:r>
                    </a:p>
                  </a:txBody>
                  <a:tcPr marL="50292" marR="50292" marT="32004" marB="32004"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2026</a:t>
                      </a:r>
                    </a:p>
                  </a:txBody>
                  <a:tcPr marL="50292" marR="50292" marT="32004" marB="32004"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2028</a:t>
                      </a:r>
                    </a:p>
                  </a:txBody>
                  <a:tcPr marL="50292" marR="50292" marT="32004" marB="32004"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2030</a:t>
                      </a:r>
                    </a:p>
                  </a:txBody>
                  <a:tcPr marL="50292" marR="50292" marT="32004" marB="32004"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30/26</a:t>
                      </a:r>
                    </a:p>
                  </a:txBody>
                  <a:tcPr marL="50292" marR="50292" marT="32004" marB="32004">
                    <a:solidFill>
                      <a:srgbClr val="1428A0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Microsoft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0.03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0.11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0.22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6.2x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Meta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0.02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0.06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0.11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5.1x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Tencent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0.01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0.04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0.09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9.6x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xAI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0.00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0.03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0.07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14.9x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Alibaba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0.00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0.02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0.05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9.6x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Google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0.00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0.01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0.02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4.0x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OpenAI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0.00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0.01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0.02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7.6x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Anthropic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0.00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0.01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0.01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7.7x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DeepSeek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0.00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0.00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0.00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11.2x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58368" y="5870448"/>
            <a:ext cx="1143000" cy="36576"/>
          </a:xfrm>
          <a:prstGeom prst="rect">
            <a:avLst/>
          </a:prstGeom>
          <a:solidFill>
            <a:srgbClr val="1428A0"/>
          </a:solidFill>
          <a:ln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47672" y="5760720"/>
            <a:ext cx="946404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120" b="1">
                <a:solidFill>
                  <a:srgbClr val="141820"/>
                </a:solidFill>
              </a:defRPr>
            </a:pPr>
            <a:r>
              <a:t>The constraint story is dynamic: the relevant question is when token supply separates, not only who leads in 2030.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473952"/>
            <a:ext cx="93268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720" b="0">
                <a:solidFill>
                  <a:srgbClr val="747E8E"/>
                </a:solidFill>
              </a:defRPr>
            </a:pPr>
            <a:r>
              <a:t>Commercial LLM model-owner basis | Compute capacity to generated output token supply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33888" y="6473952"/>
            <a:ext cx="100584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720" b="0">
                <a:solidFill>
                  <a:srgbClr val="747E8E"/>
                </a:solidFill>
              </a:defRPr>
            </a:pPr>
            <a:r>
              <a:t>2026-07-22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28A0"/>
          </a:solidFill>
          <a:ln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9184"/>
            <a:ext cx="42976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750" b="1">
                <a:solidFill>
                  <a:srgbClr val="1428A0"/>
                </a:solidFill>
              </a:defRPr>
            </a:pPr>
            <a:r>
              <a:t>TOKEN SUPPLY CONSTRAINTS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83564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950" b="1">
                <a:solidFill>
                  <a:srgbClr val="141820"/>
                </a:solidFill>
              </a:defRPr>
            </a:pPr>
            <a:r>
              <a:t>Inference GW trajectories explain the token supply trajectories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133856"/>
            <a:ext cx="104241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900" b="0">
                <a:solidFill>
                  <a:srgbClr val="747E8E"/>
                </a:solidFill>
              </a:defRPr>
            </a:pPr>
            <a:r>
              <a:t>The core model changes token supply through operational inference GW and a workload-adjusted serving reference derived from InferenceX.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99616"/>
            <a:ext cx="10881360" cy="9144"/>
          </a:xfrm>
          <a:prstGeom prst="rect">
            <a:avLst/>
          </a:prstGeom>
          <a:solidFill>
            <a:srgbClr val="E3E9F2"/>
          </a:solidFill>
          <a:ln>
            <a:solidFill>
              <a:srgbClr val="E3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58368" y="1737360"/>
          <a:ext cx="6446520" cy="373075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479792" y="1755648"/>
            <a:ext cx="36118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60" b="1">
                <a:solidFill>
                  <a:srgbClr val="747E8E"/>
                </a:solidFill>
              </a:defRPr>
            </a:pPr>
            <a:r>
              <a:t>All-provider inference GW table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479792" y="2084831"/>
          <a:ext cx="365760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5568"/>
                <a:gridCol w="640080"/>
                <a:gridCol w="640080"/>
                <a:gridCol w="640080"/>
                <a:gridCol w="621792"/>
              </a:tblGrid>
              <a:tr h="324612"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Provider</a:t>
                      </a:r>
                    </a:p>
                  </a:txBody>
                  <a:tcPr marL="50292" marR="50292" marT="32004" marB="32004"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2026</a:t>
                      </a:r>
                    </a:p>
                  </a:txBody>
                  <a:tcPr marL="50292" marR="50292" marT="32004" marB="32004"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2028</a:t>
                      </a:r>
                    </a:p>
                  </a:txBody>
                  <a:tcPr marL="50292" marR="50292" marT="32004" marB="32004"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2030</a:t>
                      </a:r>
                    </a:p>
                  </a:txBody>
                  <a:tcPr marL="50292" marR="50292" marT="32004" marB="32004"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Share</a:t>
                      </a:r>
                    </a:p>
                  </a:txBody>
                  <a:tcPr marL="50292" marR="50292" marT="32004" marB="32004">
                    <a:solidFill>
                      <a:srgbClr val="1428A0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Microsoft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0.7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1.9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3.3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75%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Meta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0.7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1.8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3.3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78%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Tencent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0.2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0.7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1.3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80%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xAI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0.1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0.6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1.2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70%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Alibaba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0.3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0.9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1.7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80%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Google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0.9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2.1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3.7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72%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OpenAI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0.6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2.5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4.9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78%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Anthropic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0.4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1.5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3.0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74%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DeepSeek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0.1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0.3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0.7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3A4252"/>
                          </a:solidFill>
                        </a:defRPr>
                      </a:pPr>
                      <a:r>
                        <a:t>82%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58368" y="5870448"/>
            <a:ext cx="1143000" cy="36576"/>
          </a:xfrm>
          <a:prstGeom prst="rect">
            <a:avLst/>
          </a:prstGeom>
          <a:solidFill>
            <a:srgbClr val="1428A0"/>
          </a:solidFill>
          <a:ln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47672" y="5760720"/>
            <a:ext cx="946404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120" b="1">
                <a:solidFill>
                  <a:srgbClr val="141820"/>
                </a:solidFill>
              </a:defRPr>
            </a:pPr>
            <a:r>
              <a:t>Token growth should be decomposed into more inference GW versus better token output per MW.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473952"/>
            <a:ext cx="93268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720" b="0">
                <a:solidFill>
                  <a:srgbClr val="747E8E"/>
                </a:solidFill>
              </a:defRPr>
            </a:pPr>
            <a:r>
              <a:t>Commercial LLM model-owner basis | Compute capacity to generated output token supply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33888" y="6473952"/>
            <a:ext cx="100584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720" b="0">
                <a:solidFill>
                  <a:srgbClr val="747E8E"/>
                </a:solidFill>
              </a:defRPr>
            </a:pPr>
            <a:r>
              <a:t>2026-07-22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28A0"/>
          </a:solidFill>
          <a:ln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9184"/>
            <a:ext cx="42976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750" b="1">
                <a:solidFill>
                  <a:srgbClr val="1428A0"/>
                </a:solidFill>
              </a:defRPr>
            </a:pPr>
            <a:r>
              <a:t>TOKEN SUPPLY CONSTRAINTS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83564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950" b="1">
                <a:solidFill>
                  <a:srgbClr val="141820"/>
                </a:solidFill>
              </a:defRPr>
            </a:pPr>
            <a:r>
              <a:t>The first constraint is the gap between contracted capacity and active capacity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133856"/>
            <a:ext cx="104241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900" b="0">
                <a:solidFill>
                  <a:srgbClr val="747E8E"/>
                </a:solidFill>
              </a:defRPr>
            </a:pPr>
            <a:r>
              <a:t>This is the most important near-term bottleneck because non-energized or non-deployed power cannot serve tokens.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99616"/>
            <a:ext cx="10881360" cy="9144"/>
          </a:xfrm>
          <a:prstGeom prst="rect">
            <a:avLst/>
          </a:prstGeom>
          <a:solidFill>
            <a:srgbClr val="E3E9F2"/>
          </a:solidFill>
          <a:ln>
            <a:solidFill>
              <a:srgbClr val="E3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58368" y="1737360"/>
          <a:ext cx="6995160" cy="37490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001000" y="1783080"/>
            <a:ext cx="30632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80" b="1">
                <a:solidFill>
                  <a:srgbClr val="747E8E"/>
                </a:solidFill>
              </a:defRPr>
            </a:pPr>
            <a:r>
              <a:t>Deployment gap table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001000" y="2148840"/>
          <a:ext cx="3136392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685800"/>
                <a:gridCol w="685800"/>
                <a:gridCol w="621792"/>
              </a:tblGrid>
              <a:tr h="388620"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Provider</a:t>
                      </a:r>
                    </a:p>
                  </a:txBody>
                  <a:tcPr marL="50292" marR="50292" marT="32004" marB="32004"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Contr.</a:t>
                      </a:r>
                    </a:p>
                  </a:txBody>
                  <a:tcPr marL="50292" marR="50292" marT="32004" marB="32004"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Active</a:t>
                      </a:r>
                    </a:p>
                  </a:txBody>
                  <a:tcPr marL="50292" marR="50292" marT="32004" marB="32004"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Gap</a:t>
                      </a:r>
                    </a:p>
                  </a:txBody>
                  <a:tcPr marL="50292" marR="50292" marT="32004" marB="32004">
                    <a:solidFill>
                      <a:srgbClr val="1428A0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DeepSeek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1.8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1.2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33%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Microsoft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9.0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6.2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31%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OpenAI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12.0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8.5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29%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001000" y="4041648"/>
            <a:ext cx="315468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00" b="0">
                <a:solidFill>
                  <a:srgbClr val="3A4252"/>
                </a:solidFill>
              </a:defRPr>
            </a:pPr>
            <a:r>
              <a:t>How to read this: the gap between contracted and active GW is supply that exists in plans but not yet in token-serving reality.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5870448"/>
            <a:ext cx="1143000" cy="36576"/>
          </a:xfrm>
          <a:prstGeom prst="rect">
            <a:avLst/>
          </a:prstGeom>
          <a:solidFill>
            <a:srgbClr val="1428A0"/>
          </a:solidFill>
          <a:ln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47672" y="5760720"/>
            <a:ext cx="946404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120" b="1">
                <a:solidFill>
                  <a:srgbClr val="141820"/>
                </a:solidFill>
              </a:defRPr>
            </a:pPr>
            <a:r>
              <a:t>Deployment speed is the first gating variable in the 2026-2030 token supply ramp.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473952"/>
            <a:ext cx="93268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720" b="0">
                <a:solidFill>
                  <a:srgbClr val="747E8E"/>
                </a:solidFill>
              </a:defRPr>
            </a:pPr>
            <a:r>
              <a:t>Commercial LLM model-owner basis | Compute capacity to generated output token supply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33888" y="6473952"/>
            <a:ext cx="100584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720" b="0">
                <a:solidFill>
                  <a:srgbClr val="747E8E"/>
                </a:solidFill>
              </a:defRPr>
            </a:pPr>
            <a:r>
              <a:t>2026-07-22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28A0"/>
          </a:solidFill>
          <a:ln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9184"/>
            <a:ext cx="42976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750" b="1">
                <a:solidFill>
                  <a:srgbClr val="1428A0"/>
                </a:solidFill>
              </a:defRPr>
            </a:pPr>
            <a:r>
              <a:t>TOKEN SUPPLY CONSTRAINTS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83564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950" b="1">
                <a:solidFill>
                  <a:srgbClr val="141820"/>
                </a:solidFill>
              </a:defRPr>
            </a:pPr>
            <a:r>
              <a:t>The second constraint is how much AI load is assigned to inference instead of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133856"/>
            <a:ext cx="104241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900" b="0">
                <a:solidFill>
                  <a:srgbClr val="747E8E"/>
                </a:solidFill>
              </a:defRPr>
            </a:pPr>
            <a:r>
              <a:t>A provider can own large compute capacity but still have limited commercial token supply if more AI load remains training-oriented.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99616"/>
            <a:ext cx="10881360" cy="9144"/>
          </a:xfrm>
          <a:prstGeom prst="rect">
            <a:avLst/>
          </a:prstGeom>
          <a:solidFill>
            <a:srgbClr val="E3E9F2"/>
          </a:solidFill>
          <a:ln>
            <a:solidFill>
              <a:srgbClr val="E3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58368" y="1737360"/>
          <a:ext cx="6995160" cy="37490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001000" y="1783080"/>
            <a:ext cx="306324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80" b="1">
                <a:solidFill>
                  <a:srgbClr val="747E8E"/>
                </a:solidFill>
              </a:defRPr>
            </a:pPr>
            <a:r>
              <a:t>Inference allocation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001000" y="2148840"/>
          <a:ext cx="3118104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658368"/>
                <a:gridCol w="658368"/>
                <a:gridCol w="658368"/>
              </a:tblGrid>
              <a:tr h="342900"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Provider</a:t>
                      </a:r>
                    </a:p>
                  </a:txBody>
                  <a:tcPr marL="50292" marR="50292" marT="32004" marB="32004"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Inf.</a:t>
                      </a:r>
                    </a:p>
                  </a:txBody>
                  <a:tcPr marL="50292" marR="50292" marT="32004" marB="32004"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Train</a:t>
                      </a:r>
                    </a:p>
                  </a:txBody>
                  <a:tcPr marL="50292" marR="50292" marT="32004" marB="32004"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Share</a:t>
                      </a:r>
                    </a:p>
                  </a:txBody>
                  <a:tcPr marL="50292" marR="50292" marT="32004" marB="32004">
                    <a:solidFill>
                      <a:srgbClr val="1428A0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3A4252"/>
                          </a:solidFill>
                        </a:defRPr>
                      </a:pPr>
                      <a:r>
                        <a:t>Microsoft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3A4252"/>
                          </a:solidFill>
                        </a:defRPr>
                      </a:pPr>
                      <a:r>
                        <a:t>3.3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3A4252"/>
                          </a:solidFill>
                        </a:defRPr>
                      </a:pPr>
                      <a:r>
                        <a:t>1.1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3A4252"/>
                          </a:solidFill>
                        </a:defRPr>
                      </a:pPr>
                      <a:r>
                        <a:t>75%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3A4252"/>
                          </a:solidFill>
                        </a:defRPr>
                      </a:pPr>
                      <a:r>
                        <a:t>Meta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3A4252"/>
                          </a:solidFill>
                        </a:defRPr>
                      </a:pPr>
                      <a:r>
                        <a:t>3.3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3A4252"/>
                          </a:solidFill>
                        </a:defRPr>
                      </a:pPr>
                      <a:r>
                        <a:t>0.9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3A4252"/>
                          </a:solidFill>
                        </a:defRPr>
                      </a:pPr>
                      <a:r>
                        <a:t>78%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3A4252"/>
                          </a:solidFill>
                        </a:defRPr>
                      </a:pPr>
                      <a:r>
                        <a:t>Tencent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3A4252"/>
                          </a:solidFill>
                        </a:defRPr>
                      </a:pPr>
                      <a:r>
                        <a:t>1.3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3A4252"/>
                          </a:solidFill>
                        </a:defRPr>
                      </a:pPr>
                      <a:r>
                        <a:t>0.3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3A4252"/>
                          </a:solidFill>
                        </a:defRPr>
                      </a:pPr>
                      <a:r>
                        <a:t>80%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3A4252"/>
                          </a:solidFill>
                        </a:defRPr>
                      </a:pPr>
                      <a:r>
                        <a:t>xAI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3A4252"/>
                          </a:solidFill>
                        </a:defRPr>
                      </a:pPr>
                      <a:r>
                        <a:t>1.2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3A4252"/>
                          </a:solidFill>
                        </a:defRPr>
                      </a:pPr>
                      <a:r>
                        <a:t>0.5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3A4252"/>
                          </a:solidFill>
                        </a:defRPr>
                      </a:pPr>
                      <a:r>
                        <a:t>70%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3A4252"/>
                          </a:solidFill>
                        </a:defRPr>
                      </a:pPr>
                      <a:r>
                        <a:t>Alibaba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3A4252"/>
                          </a:solidFill>
                        </a:defRPr>
                      </a:pPr>
                      <a:r>
                        <a:t>1.7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3A4252"/>
                          </a:solidFill>
                        </a:defRPr>
                      </a:pPr>
                      <a:r>
                        <a:t>0.4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3A4252"/>
                          </a:solidFill>
                        </a:defRPr>
                      </a:pPr>
                      <a:r>
                        <a:t>80%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001000" y="4526280"/>
            <a:ext cx="3154680" cy="4937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950" b="0">
                <a:solidFill>
                  <a:srgbClr val="3A4252"/>
                </a:solidFill>
              </a:defRPr>
            </a:pPr>
            <a:r>
              <a:t>This split is a scenario variable and should be updated as providers disclose product traffic and training cadence.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5870448"/>
            <a:ext cx="1143000" cy="36576"/>
          </a:xfrm>
          <a:prstGeom prst="rect">
            <a:avLst/>
          </a:prstGeom>
          <a:solidFill>
            <a:srgbClr val="1428A0"/>
          </a:solidFill>
          <a:ln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47672" y="5760720"/>
            <a:ext cx="946404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120" b="1">
                <a:solidFill>
                  <a:srgbClr val="141820"/>
                </a:solidFill>
              </a:defRPr>
            </a:pPr>
            <a:r>
              <a:t>Inference share is the bridge between compute capacity and commercial token supply.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473952"/>
            <a:ext cx="93268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720" b="0">
                <a:solidFill>
                  <a:srgbClr val="747E8E"/>
                </a:solidFill>
              </a:defRPr>
            </a:pPr>
            <a:r>
              <a:t>Commercial LLM model-owner basis | Compute capacity to generated output token supply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33888" y="6473952"/>
            <a:ext cx="100584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720" b="0">
                <a:solidFill>
                  <a:srgbClr val="747E8E"/>
                </a:solidFill>
              </a:defRPr>
            </a:pPr>
            <a:r>
              <a:t>2026-07-22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28A0"/>
          </a:solidFill>
          <a:ln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9184"/>
            <a:ext cx="42976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750" b="1">
                <a:solidFill>
                  <a:srgbClr val="1428A0"/>
                </a:solidFill>
              </a:defRPr>
            </a:pPr>
            <a:r>
              <a:t>TOKEN SUPPLY CONSTRAINTS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83564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950" b="1">
                <a:solidFill>
                  <a:srgbClr val="141820"/>
                </a:solidFill>
              </a:defRPr>
            </a:pPr>
            <a:r>
              <a:t>The third input weights H200, B200, GB200 and purpose-built capacity into serving throughput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133856"/>
            <a:ext cx="104241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900" b="0">
                <a:solidFill>
                  <a:srgbClr val="747E8E"/>
                </a:solidFill>
              </a:defRPr>
            </a:pPr>
            <a:r>
              <a:t>GPU-generation mix is an editable scenario input; public reference rows are then adjusted for commercial workload fit.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99616"/>
            <a:ext cx="10881360" cy="9144"/>
          </a:xfrm>
          <a:prstGeom prst="rect">
            <a:avLst/>
          </a:prstGeom>
          <a:solidFill>
            <a:srgbClr val="E3E9F2"/>
          </a:solidFill>
          <a:ln>
            <a:solidFill>
              <a:srgbClr val="E3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58368" y="1737360"/>
          <a:ext cx="6400800" cy="37490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479792" y="1755648"/>
            <a:ext cx="36118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60" b="1">
                <a:solidFill>
                  <a:srgbClr val="747E8E"/>
                </a:solidFill>
              </a:defRPr>
            </a:pPr>
            <a:r>
              <a:t>Commercial serving reference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479792" y="2103120"/>
          <a:ext cx="370332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/>
                <a:gridCol w="914400"/>
                <a:gridCol w="914400"/>
                <a:gridCol w="914400"/>
              </a:tblGrid>
              <a:tr h="358140"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Provider</a:t>
                      </a:r>
                    </a:p>
                  </a:txBody>
                  <a:tcPr marL="50292" marR="50292" marT="32004" marB="32004"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S/L/A</a:t>
                      </a:r>
                    </a:p>
                  </a:txBody>
                  <a:tcPr marL="50292" marR="50292" marT="32004" marB="32004"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Fit</a:t>
                      </a:r>
                    </a:p>
                  </a:txBody>
                  <a:tcPr marL="50292" marR="50292" marT="32004" marB="32004"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M tok/s/MW</a:t>
                      </a:r>
                    </a:p>
                  </a:txBody>
                  <a:tcPr marL="50292" marR="50292" marT="32004" marB="32004">
                    <a:solidFill>
                      <a:srgbClr val="1428A0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>
                        <a:defRPr sz="690" b="0">
                          <a:solidFill>
                            <a:srgbClr val="3A4252"/>
                          </a:solidFill>
                        </a:defRPr>
                      </a:pPr>
                      <a:r>
                        <a:t>OpenAI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90" b="0">
                          <a:solidFill>
                            <a:srgbClr val="3A4252"/>
                          </a:solidFill>
                        </a:defRPr>
                      </a:pPr>
                      <a:r>
                        <a:t>45%/25%/30%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90" b="0">
                          <a:solidFill>
                            <a:srgbClr val="3A4252"/>
                          </a:solidFill>
                        </a:defRPr>
                      </a:pPr>
                      <a:r>
                        <a:t>50%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90" b="0">
                          <a:solidFill>
                            <a:srgbClr val="3A4252"/>
                          </a:solidFill>
                        </a:defRPr>
                      </a:pPr>
                      <a:r>
                        <a:t>0.04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>
                        <a:defRPr sz="690" b="0">
                          <a:solidFill>
                            <a:srgbClr val="3A4252"/>
                          </a:solidFill>
                        </a:defRPr>
                      </a:pPr>
                      <a:r>
                        <a:t>Anthropic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90" b="0">
                          <a:solidFill>
                            <a:srgbClr val="3A4252"/>
                          </a:solidFill>
                        </a:defRPr>
                      </a:pPr>
                      <a:r>
                        <a:t>30%/30%/40%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90" b="0">
                          <a:solidFill>
                            <a:srgbClr val="3A4252"/>
                          </a:solidFill>
                        </a:defRPr>
                      </a:pPr>
                      <a:r>
                        <a:t>50%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90" b="0">
                          <a:solidFill>
                            <a:srgbClr val="3A4252"/>
                          </a:solidFill>
                        </a:defRPr>
                      </a:pPr>
                      <a:r>
                        <a:t>0.05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>
                        <a:defRPr sz="690" b="0">
                          <a:solidFill>
                            <a:srgbClr val="3A4252"/>
                          </a:solidFill>
                        </a:defRPr>
                      </a:pPr>
                      <a:r>
                        <a:t>Google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90" b="0">
                          <a:solidFill>
                            <a:srgbClr val="3A4252"/>
                          </a:solidFill>
                        </a:defRPr>
                      </a:pPr>
                      <a:r>
                        <a:t>40%/40%/20%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90" b="0">
                          <a:solidFill>
                            <a:srgbClr val="3A4252"/>
                          </a:solidFill>
                        </a:defRPr>
                      </a:pPr>
                      <a:r>
                        <a:t>60%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90" b="0">
                          <a:solidFill>
                            <a:srgbClr val="3A4252"/>
                          </a:solidFill>
                        </a:defRPr>
                      </a:pPr>
                      <a:r>
                        <a:t>0.06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>
                        <a:defRPr sz="690" b="0">
                          <a:solidFill>
                            <a:srgbClr val="3A4252"/>
                          </a:solidFill>
                        </a:defRPr>
                      </a:pPr>
                      <a:r>
                        <a:t>DeepSeek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90" b="0">
                          <a:solidFill>
                            <a:srgbClr val="3A4252"/>
                          </a:solidFill>
                        </a:defRPr>
                      </a:pPr>
                      <a:r>
                        <a:t>35%/40%/25%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90" b="0">
                          <a:solidFill>
                            <a:srgbClr val="3A4252"/>
                          </a:solidFill>
                        </a:defRPr>
                      </a:pPr>
                      <a:r>
                        <a:t>85%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90" b="0">
                          <a:solidFill>
                            <a:srgbClr val="3A4252"/>
                          </a:solidFill>
                        </a:defRPr>
                      </a:pPr>
                      <a:r>
                        <a:t>0.07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>
                        <a:defRPr sz="690" b="0">
                          <a:solidFill>
                            <a:srgbClr val="3A4252"/>
                          </a:solidFill>
                        </a:defRPr>
                      </a:pPr>
                      <a:r>
                        <a:t>Alibaba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90" b="0">
                          <a:solidFill>
                            <a:srgbClr val="3A4252"/>
                          </a:solidFill>
                        </a:defRPr>
                      </a:pPr>
                      <a:r>
                        <a:t>45%/35%/20%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90" b="0">
                          <a:solidFill>
                            <a:srgbClr val="3A4252"/>
                          </a:solidFill>
                        </a:defRPr>
                      </a:pPr>
                      <a:r>
                        <a:t>90%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90" b="0">
                          <a:solidFill>
                            <a:srgbClr val="3A4252"/>
                          </a:solidFill>
                        </a:defRPr>
                      </a:pPr>
                      <a:r>
                        <a:t>0.31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479792" y="4553712"/>
            <a:ext cx="370332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940" b="0">
                <a:solidFill>
                  <a:srgbClr val="3A4252"/>
                </a:solidFill>
              </a:defRPr>
            </a:pPr>
            <a:r>
              <a:t>S/L/A is short conversation, long conversation and agentic mix; purpose-built hardware still receives no premium without matched output-token evidence.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5870448"/>
            <a:ext cx="1143000" cy="36576"/>
          </a:xfrm>
          <a:prstGeom prst="rect">
            <a:avLst/>
          </a:prstGeom>
          <a:solidFill>
            <a:srgbClr val="1428A0"/>
          </a:solidFill>
          <a:ln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47672" y="5760720"/>
            <a:ext cx="946404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120" b="1">
                <a:solidFill>
                  <a:srgbClr val="141820"/>
                </a:solidFill>
              </a:defRPr>
            </a:pPr>
            <a:r>
              <a:t>Base TPS/MW now reflects GPU-generation mix, workload class mix and commercial workload fit.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473952"/>
            <a:ext cx="93268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720" b="0">
                <a:solidFill>
                  <a:srgbClr val="747E8E"/>
                </a:solidFill>
              </a:defRPr>
            </a:pPr>
            <a:r>
              <a:t>Commercial LLM model-owner basis | Compute capacity to generated output token supply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33888" y="6473952"/>
            <a:ext cx="100584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720" b="0">
                <a:solidFill>
                  <a:srgbClr val="747E8E"/>
                </a:solidFill>
              </a:defRPr>
            </a:pPr>
            <a:r>
              <a:t>2026-07-22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28A0"/>
          </a:solidFill>
          <a:ln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9184"/>
            <a:ext cx="42976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750" b="1">
                <a:solidFill>
                  <a:srgbClr val="1428A0"/>
                </a:solidFill>
              </a:defRPr>
            </a:pPr>
            <a:r>
              <a:t>TOKEN SUPPLY CONSTRAINTS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83564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950" b="1">
                <a:solidFill>
                  <a:srgbClr val="141820"/>
                </a:solidFill>
              </a:defRPr>
            </a:pPr>
            <a:r>
              <a:t>Provider constraint map: each company has a different limiting factor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133856"/>
            <a:ext cx="104241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900" b="0">
                <a:solidFill>
                  <a:srgbClr val="747E8E"/>
                </a:solidFill>
              </a:defRPr>
            </a:pPr>
            <a:r>
              <a:t>The score is a directional operating index using deployment gap, inference share, and selected TPS/MW versus the peer set.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99616"/>
            <a:ext cx="10881360" cy="9144"/>
          </a:xfrm>
          <a:prstGeom prst="rect">
            <a:avLst/>
          </a:prstGeom>
          <a:solidFill>
            <a:srgbClr val="E3E9F2"/>
          </a:solidFill>
          <a:ln>
            <a:solidFill>
              <a:srgbClr val="E3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1691640"/>
          <a:ext cx="10012680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143000"/>
                <a:gridCol w="1097280"/>
                <a:gridCol w="1417320"/>
                <a:gridCol w="1234440"/>
                <a:gridCol w="3703320"/>
              </a:tblGrid>
              <a:tr h="388620"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Provider</a:t>
                      </a:r>
                    </a:p>
                  </a:txBody>
                  <a:tcPr marL="50292" marR="50292" marT="32004" marB="32004"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Supply Q/day</a:t>
                      </a:r>
                    </a:p>
                  </a:txBody>
                  <a:tcPr marL="50292" marR="50292" marT="32004" marB="32004"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Inf. GW</a:t>
                      </a:r>
                    </a:p>
                  </a:txBody>
                  <a:tcPr marL="50292" marR="50292" marT="32004" marB="32004"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Deploy gap</a:t>
                      </a:r>
                    </a:p>
                  </a:txBody>
                  <a:tcPr marL="50292" marR="50292" marT="32004" marB="32004"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Constraint</a:t>
                      </a:r>
                    </a:p>
                  </a:txBody>
                  <a:tcPr marL="50292" marR="50292" marT="32004" marB="32004"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What to validate next</a:t>
                      </a:r>
                    </a:p>
                  </a:txBody>
                  <a:tcPr marL="50292" marR="50292" marT="32004" marB="32004">
                    <a:solidFill>
                      <a:srgbClr val="1428A0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OpenAI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0.02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4.9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29%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Serving efficiency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model routing, precision, batching, TTFT/TPOT target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DeepSeek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0.00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0.7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33%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Deployment gap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site energization, rack deployment, accelerator delivery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Anthropic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0.01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3.0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21%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Training allocation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training cadence, launch schedule, commercial serving ramp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Google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0.02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3.7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15%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Training allocation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training cadence, launch schedule, commercial serving ramp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Microsoft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0.22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3.3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31%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Training allocation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training cadence, launch schedule, commercial serving ramp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xAI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0.07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1.2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17%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Training allocation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training cadence, launch schedule, commercial serving ramp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Tencent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0.09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1.3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20%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Scale absorption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demand absorption and product surface expansion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Alibaba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0.05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1.7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20%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Scale absorption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demand absorption and product surface expansion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Meta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0.11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3.3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17%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Scale absorption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40" b="0">
                          <a:solidFill>
                            <a:srgbClr val="3A4252"/>
                          </a:solidFill>
                        </a:defRPr>
                      </a:pPr>
                      <a:r>
                        <a:t>demand absorption and product surface expansion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58368" y="5870448"/>
            <a:ext cx="1143000" cy="36576"/>
          </a:xfrm>
          <a:prstGeom prst="rect">
            <a:avLst/>
          </a:prstGeom>
          <a:solidFill>
            <a:srgbClr val="1428A0"/>
          </a:solidFill>
          <a:ln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47672" y="5760720"/>
            <a:ext cx="946404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120" b="1">
                <a:solidFill>
                  <a:srgbClr val="141820"/>
                </a:solidFill>
              </a:defRPr>
            </a:pPr>
            <a:r>
              <a:t>The next research cycle should target the limiting factor for each provider, not collect generic capacity headlines.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6473952"/>
            <a:ext cx="93268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720" b="0">
                <a:solidFill>
                  <a:srgbClr val="747E8E"/>
                </a:solidFill>
              </a:defRPr>
            </a:pPr>
            <a:r>
              <a:t>Commercial LLM model-owner basis | Compute capacity to generated output token supply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33888" y="6473952"/>
            <a:ext cx="100584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720" b="0">
                <a:solidFill>
                  <a:srgbClr val="747E8E"/>
                </a:solidFill>
              </a:defRPr>
            </a:pPr>
            <a:r>
              <a:t>2026-07-22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28A0"/>
          </a:solidFill>
          <a:ln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9184"/>
            <a:ext cx="42976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750" b="1">
                <a:solidFill>
                  <a:srgbClr val="1428A0"/>
                </a:solidFill>
              </a:defRPr>
            </a:pPr>
            <a:r>
              <a:t>TOKEN SUPPLY CONSTRAINTS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83564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950" b="1">
                <a:solidFill>
                  <a:srgbClr val="141820"/>
                </a:solidFill>
              </a:defRPr>
            </a:pPr>
            <a:r>
              <a:t>Scenario stress shows how sensitive token supply is to compute conversion assumptions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133856"/>
            <a:ext cx="104241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900" b="0">
                <a:solidFill>
                  <a:srgbClr val="747E8E"/>
                </a:solidFill>
              </a:defRPr>
            </a:pPr>
            <a:r>
              <a:t>Bull and Bear cases move operational deployment, inference allocation and the explicit commercial-workload fit to the public reference.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99616"/>
            <a:ext cx="10881360" cy="9144"/>
          </a:xfrm>
          <a:prstGeom prst="rect">
            <a:avLst/>
          </a:prstGeom>
          <a:solidFill>
            <a:srgbClr val="E3E9F2"/>
          </a:solidFill>
          <a:ln>
            <a:solidFill>
              <a:srgbClr val="E3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49808" y="1737360"/>
          <a:ext cx="66294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818120" y="1783080"/>
            <a:ext cx="32004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80" b="1">
                <a:solidFill>
                  <a:srgbClr val="747E8E"/>
                </a:solidFill>
              </a:defRPr>
            </a:pPr>
            <a:r>
              <a:t>2030 scenario output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818120" y="2121408"/>
          <a:ext cx="32004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"/>
                <a:gridCol w="731520"/>
                <a:gridCol w="777240"/>
                <a:gridCol w="914400"/>
              </a:tblGrid>
              <a:tr h="388620"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Case</a:t>
                      </a:r>
                    </a:p>
                  </a:txBody>
                  <a:tcPr marL="50292" marR="50292" marT="32004" marB="32004"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Q/day</a:t>
                      </a:r>
                    </a:p>
                  </a:txBody>
                  <a:tcPr marL="50292" marR="50292" marT="32004" marB="32004"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Act. GW</a:t>
                      </a:r>
                    </a:p>
                  </a:txBody>
                  <a:tcPr marL="50292" marR="50292" marT="32004" marB="32004"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Inf. share</a:t>
                      </a:r>
                    </a:p>
                  </a:txBody>
                  <a:tcPr marL="50292" marR="50292" marT="32004" marB="32004">
                    <a:solidFill>
                      <a:srgbClr val="1428A0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3A4252"/>
                          </a:solidFill>
                        </a:defRPr>
                      </a:pPr>
                      <a:r>
                        <a:t>Bear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3A4252"/>
                          </a:solidFill>
                        </a:defRPr>
                      </a:pPr>
                      <a:r>
                        <a:t>0.30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3A4252"/>
                          </a:solidFill>
                        </a:defRPr>
                      </a:pPr>
                      <a:r>
                        <a:t>34.5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3A4252"/>
                          </a:solidFill>
                        </a:defRPr>
                      </a:pPr>
                      <a:r>
                        <a:t>66%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3A4252"/>
                          </a:solidFill>
                        </a:defRPr>
                      </a:pPr>
                      <a:r>
                        <a:t>Base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3A4252"/>
                          </a:solidFill>
                        </a:defRPr>
                      </a:pPr>
                      <a:r>
                        <a:t>0.59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3A4252"/>
                          </a:solidFill>
                        </a:defRPr>
                      </a:pPr>
                      <a:r>
                        <a:t>42.1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3A4252"/>
                          </a:solidFill>
                        </a:defRPr>
                      </a:pPr>
                      <a:r>
                        <a:t>76%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3A4252"/>
                          </a:solidFill>
                        </a:defRPr>
                      </a:pPr>
                      <a:r>
                        <a:t>Bull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3A4252"/>
                          </a:solidFill>
                        </a:defRPr>
                      </a:pPr>
                      <a:r>
                        <a:t>0.99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3A4252"/>
                          </a:solidFill>
                        </a:defRPr>
                      </a:pPr>
                      <a:r>
                        <a:t>49.7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3A4252"/>
                          </a:solidFill>
                        </a:defRPr>
                      </a:pPr>
                      <a:r>
                        <a:t>84%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818120" y="3977639"/>
            <a:ext cx="29260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50" b="1">
                <a:solidFill>
                  <a:srgbClr val="747E8E"/>
                </a:solidFill>
              </a:defRPr>
            </a:pPr>
            <a:r>
              <a:t>Scenario levers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4315968"/>
            <a:ext cx="301752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300"/>
              </a:spcAft>
              <a:defRPr sz="969">
                <a:solidFill>
                  <a:srgbClr val="3A4252"/>
                </a:solidFill>
              </a:defRPr>
            </a:pPr>
            <a:r>
              <a:t>Operational deployment speed</a:t>
            </a:r>
          </a:p>
          <a:p>
            <a:pPr>
              <a:spcAft>
                <a:spcPts val="300"/>
              </a:spcAft>
              <a:defRPr sz="969">
                <a:solidFill>
                  <a:srgbClr val="3A4252"/>
                </a:solidFill>
              </a:defRPr>
            </a:pPr>
            <a:r>
              <a:t>Commercial workload fit to public TPS/MW reference</a:t>
            </a:r>
          </a:p>
          <a:p>
            <a:pPr>
              <a:spcAft>
                <a:spcPts val="300"/>
              </a:spcAft>
              <a:defRPr sz="969">
                <a:solidFill>
                  <a:srgbClr val="3A4252"/>
                </a:solidFill>
              </a:defRPr>
            </a:pPr>
            <a:r>
              <a:t>Inference share of AI IT load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8120" y="5257800"/>
            <a:ext cx="292608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120" b="1">
                <a:solidFill>
                  <a:srgbClr val="1428A0"/>
                </a:solidFill>
              </a:defRPr>
            </a:pPr>
            <a:r>
              <a:t>Base growth: 7.0x, 2026-2030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5870448"/>
            <a:ext cx="1143000" cy="36576"/>
          </a:xfrm>
          <a:prstGeom prst="rect">
            <a:avLst/>
          </a:prstGeom>
          <a:solidFill>
            <a:srgbClr val="1428A0"/>
          </a:solidFill>
          <a:ln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47672" y="5760720"/>
            <a:ext cx="946404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120" b="1">
                <a:solidFill>
                  <a:srgbClr val="141820"/>
                </a:solidFill>
              </a:defRPr>
            </a:pPr>
            <a:r>
              <a:t>The same provider can move from constrained to advantaged if deployment and serving conversion improve together.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473952"/>
            <a:ext cx="93268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720" b="0">
                <a:solidFill>
                  <a:srgbClr val="747E8E"/>
                </a:solidFill>
              </a:defRPr>
            </a:pPr>
            <a:r>
              <a:t>Commercial LLM model-owner basis | Compute capacity to generated output token supply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33888" y="6473952"/>
            <a:ext cx="100584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720" b="0">
                <a:solidFill>
                  <a:srgbClr val="747E8E"/>
                </a:solidFill>
              </a:defRPr>
            </a:pPr>
            <a:r>
              <a:t>2026-07-22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28A0"/>
          </a:solidFill>
          <a:ln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9184"/>
            <a:ext cx="42976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750" b="1">
                <a:solidFill>
                  <a:srgbClr val="1428A0"/>
                </a:solidFill>
              </a:defRPr>
            </a:pPr>
            <a:r>
              <a:t>TOKEN SUPPLY CONSTRAINTS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83564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950" b="1">
                <a:solidFill>
                  <a:srgbClr val="141820"/>
                </a:solidFill>
              </a:defRPr>
            </a:pPr>
            <a:r>
              <a:t>Evidence base now separates official submissions, serving proxies, and provenance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133856"/>
            <a:ext cx="104241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900" b="0">
                <a:solidFill>
                  <a:srgbClr val="747E8E"/>
                </a:solidFill>
              </a:defRPr>
            </a:pPr>
            <a:r>
              <a:t>The workbook carries the source registry and number-level provenance so benchmark evidence is visible without changing the headline formula.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99616"/>
            <a:ext cx="10881360" cy="9144"/>
          </a:xfrm>
          <a:prstGeom prst="rect">
            <a:avLst/>
          </a:prstGeom>
          <a:solidFill>
            <a:srgbClr val="E3E9F2"/>
          </a:solidFill>
          <a:ln>
            <a:solidFill>
              <a:srgbClr val="E3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49808" y="1737360"/>
          <a:ext cx="10698479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3246120"/>
                <a:gridCol w="5577840"/>
              </a:tblGrid>
              <a:tr h="510540"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Layer</a:t>
                      </a:r>
                    </a:p>
                  </a:txBody>
                  <a:tcPr marL="50292" marR="50292" marT="32004" marB="32004"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Source set</a:t>
                      </a:r>
                    </a:p>
                  </a:txBody>
                  <a:tcPr marL="50292" marR="50292" marT="32004" marB="32004">
                    <a:solidFill>
                      <a:srgbClr val="1428A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19" b="1">
                          <a:solidFill>
                            <a:srgbClr val="FFFFFF"/>
                          </a:solidFill>
                        </a:defRPr>
                      </a:pPr>
                      <a:r>
                        <a:t>How it is used</a:t>
                      </a:r>
                    </a:p>
                  </a:txBody>
                  <a:tcPr marL="50292" marR="50292" marT="32004" marB="32004">
                    <a:solidFill>
                      <a:srgbClr val="1428A0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3A4252"/>
                          </a:solidFill>
                        </a:defRPr>
                      </a:pPr>
                      <a:r>
                        <a:t>Official benchmark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3A4252"/>
                          </a:solidFill>
                        </a:defRPr>
                      </a:pPr>
                      <a:r>
                        <a:t>MLPerf Inference / MLPerf Power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3A4252"/>
                          </a:solidFill>
                        </a:defRPr>
                      </a:pPr>
                      <a:r>
                        <a:t>hardware and power/performance anchor; not production telemetry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3A4252"/>
                          </a:solidFill>
                        </a:defRPr>
                      </a:pPr>
                      <a:r>
                        <a:t>LLM serving proxy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3A4252"/>
                          </a:solidFill>
                        </a:defRPr>
                      </a:pPr>
                      <a:r>
                        <a:t>InferenceX DB dump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3A4252"/>
                          </a:solidFill>
                        </a:defRPr>
                      </a:pPr>
                      <a:r>
                        <a:t>model x GPU x precision x ISL/OSL output TPS/MW reference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3A4252"/>
                          </a:solidFill>
                        </a:defRPr>
                      </a:pPr>
                      <a:r>
                        <a:t>Serving stack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3A4252"/>
                          </a:solidFill>
                        </a:defRPr>
                      </a:pPr>
                      <a:r>
                        <a:t>vLLM / SGLang / TensorRT-LLM / FlashInfer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3A4252"/>
                          </a:solidFill>
                        </a:defRPr>
                      </a:pPr>
                      <a:r>
                        <a:t>mechanism layer for batching, KV cache, kernel and runtime behavior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3A4252"/>
                          </a:solidFill>
                        </a:defRPr>
                      </a:pPr>
                      <a:r>
                        <a:t>Scheduling papers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3A4252"/>
                          </a:solidFill>
                        </a:defRPr>
                      </a:pPr>
                      <a:r>
                        <a:t>Orca / Sarathi / DistServe / Splitwise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3A4252"/>
                          </a:solidFill>
                        </a:defRPr>
                      </a:pPr>
                      <a:r>
                        <a:t>utilization, prefill/decode and TTFT/TPOT sensitivity</a:t>
                      </a:r>
                    </a:p>
                  </a:txBody>
                  <a:tcPr marL="50292" marR="50292" marT="32004" marB="32004">
                    <a:solidFill>
                      <a:srgbClr val="F7F9FC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3A4252"/>
                          </a:solidFill>
                        </a:defRPr>
                      </a:pPr>
                      <a:r>
                        <a:t>Trend context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3A4252"/>
                          </a:solidFill>
                        </a:defRPr>
                      </a:pPr>
                      <a:r>
                        <a:t>Epoch AI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3A4252"/>
                          </a:solidFill>
                        </a:defRPr>
                      </a:pPr>
                      <a:r>
                        <a:t>training scale, inference price trend, power and scaling bottlenecks</a:t>
                      </a:r>
                    </a:p>
                  </a:txBody>
                  <a:tcPr marL="50292" marR="50292" marT="32004" marB="3200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41248" y="5074920"/>
            <a:ext cx="10104120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50" b="0">
                <a:solidFill>
                  <a:srgbClr val="3A4252"/>
                </a:solidFill>
              </a:defRPr>
            </a:pPr>
            <a:r>
              <a:t>Excel tabs 07_Source_Registry, 08_Provenance_Trace, and 09_Fact_Assumption_Audit expose source IDs, formula/rule, replacement path, and evidence class for review.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5870448"/>
            <a:ext cx="1143000" cy="36576"/>
          </a:xfrm>
          <a:prstGeom prst="rect">
            <a:avLst/>
          </a:prstGeom>
          <a:solidFill>
            <a:srgbClr val="1428A0"/>
          </a:solidFill>
          <a:ln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47672" y="5760720"/>
            <a:ext cx="946404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120" b="1">
                <a:solidFill>
                  <a:srgbClr val="141820"/>
                </a:solidFill>
              </a:defRPr>
            </a:pPr>
            <a:r>
              <a:t>MLPerf and InferenceX are benchmark anchors; provider-specific production telemetry remains the replacement path.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473952"/>
            <a:ext cx="93268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720" b="0">
                <a:solidFill>
                  <a:srgbClr val="747E8E"/>
                </a:solidFill>
              </a:defRPr>
            </a:pPr>
            <a:r>
              <a:t>Commercial LLM model-owner basis | Compute capacity to generated output token supply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33888" y="6473952"/>
            <a:ext cx="100584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720" b="0">
                <a:solidFill>
                  <a:srgbClr val="747E8E"/>
                </a:solidFill>
              </a:defRPr>
            </a:pPr>
            <a:r>
              <a:t>2026-07-22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428A0"/>
          </a:solidFill>
          <a:ln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29184"/>
            <a:ext cx="42976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750" b="1">
                <a:solidFill>
                  <a:srgbClr val="1428A0"/>
                </a:solidFill>
              </a:defRPr>
            </a:pPr>
            <a:r>
              <a:t>TOKEN SUPPLY CONSTRAINTS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83564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950" b="1">
                <a:solidFill>
                  <a:srgbClr val="141820"/>
                </a:solidFill>
              </a:defRPr>
            </a:pPr>
            <a:r>
              <a:t>The operating agenda is to verify the bottleneck, then update the provider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133856"/>
            <a:ext cx="10424160" cy="31089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900" b="0">
                <a:solidFill>
                  <a:srgbClr val="747E8E"/>
                </a:solidFill>
              </a:defRPr>
            </a:pPr>
            <a:r>
              <a:t>This is the checklist that keeps the simulation tied to facts as new capacity, model, and benchmark data arrives.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99616"/>
            <a:ext cx="10881360" cy="9144"/>
          </a:xfrm>
          <a:prstGeom prst="rect">
            <a:avLst/>
          </a:prstGeom>
          <a:solidFill>
            <a:srgbClr val="E3E9F2"/>
          </a:solidFill>
          <a:ln>
            <a:solidFill>
              <a:srgbClr val="E3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700784"/>
            <a:ext cx="123444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200" b="1">
                <a:solidFill>
                  <a:srgbClr val="1428A0"/>
                </a:solidFill>
              </a:defRPr>
            </a:pPr>
            <a:r>
              <a:t>Power</a:t>
            </a:r>
          </a:p>
        </p:txBody>
      </p:sp>
      <p:sp>
        <p:nvSpPr>
          <p:cNvPr id="8" name="Rectangle 7"/>
          <p:cNvSpPr/>
          <p:nvPr/>
        </p:nvSpPr>
        <p:spPr>
          <a:xfrm>
            <a:off x="2267712" y="1801368"/>
            <a:ext cx="731520" cy="18288"/>
          </a:xfrm>
          <a:prstGeom prst="rect">
            <a:avLst/>
          </a:prstGeom>
          <a:solidFill>
            <a:srgbClr val="E3E9F2"/>
          </a:solidFill>
          <a:ln>
            <a:solidFill>
              <a:srgbClr val="E3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18688" y="1700784"/>
            <a:ext cx="7909560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140" b="0">
                <a:solidFill>
                  <a:srgbClr val="3A4252"/>
                </a:solidFill>
              </a:defRPr>
            </a:pPr>
            <a:r>
              <a:t>Which contracted sites are energized, and when do accelerators enter production service?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359152"/>
            <a:ext cx="123444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200" b="1">
                <a:solidFill>
                  <a:srgbClr val="1428A0"/>
                </a:solidFill>
              </a:defRPr>
            </a:pPr>
            <a:r>
              <a:t>Allocation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67712" y="2459736"/>
            <a:ext cx="731520" cy="18288"/>
          </a:xfrm>
          <a:prstGeom prst="rect">
            <a:avLst/>
          </a:prstGeom>
          <a:solidFill>
            <a:srgbClr val="E3E9F2"/>
          </a:solidFill>
          <a:ln>
            <a:solidFill>
              <a:srgbClr val="E3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18688" y="2359152"/>
            <a:ext cx="7909560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140" b="0">
                <a:solidFill>
                  <a:srgbClr val="3A4252"/>
                </a:solidFill>
              </a:defRPr>
            </a:pPr>
            <a:r>
              <a:t>What share of AI IT load is serving commercial inference versus training or experimentation?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017520"/>
            <a:ext cx="123444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200" b="1">
                <a:solidFill>
                  <a:srgbClr val="1428A0"/>
                </a:solidFill>
              </a:defRPr>
            </a:pPr>
            <a:r>
              <a:t>Architecture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67712" y="3118103"/>
            <a:ext cx="731520" cy="18288"/>
          </a:xfrm>
          <a:prstGeom prst="rect">
            <a:avLst/>
          </a:prstGeom>
          <a:solidFill>
            <a:srgbClr val="E3E9F2"/>
          </a:solidFill>
          <a:ln>
            <a:solidFill>
              <a:srgbClr val="E3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18688" y="3017520"/>
            <a:ext cx="7909560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140" b="0">
                <a:solidFill>
                  <a:srgbClr val="3A4252"/>
                </a:solidFill>
              </a:defRPr>
            </a:pPr>
            <a:r>
              <a:t>Which model family, active parameter band, context length, and routing policy dominate traffic?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3675888"/>
            <a:ext cx="123444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200" b="1">
                <a:solidFill>
                  <a:srgbClr val="1428A0"/>
                </a:solidFill>
              </a:defRPr>
            </a:pPr>
            <a:r>
              <a:t>Efficiency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67712" y="3776472"/>
            <a:ext cx="731520" cy="18288"/>
          </a:xfrm>
          <a:prstGeom prst="rect">
            <a:avLst/>
          </a:prstGeom>
          <a:solidFill>
            <a:srgbClr val="E3E9F2"/>
          </a:solidFill>
          <a:ln>
            <a:solidFill>
              <a:srgbClr val="E3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18688" y="3675888"/>
            <a:ext cx="7909560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140" b="0">
                <a:solidFill>
                  <a:srgbClr val="3A4252"/>
                </a:solidFill>
              </a:defRPr>
            </a:pPr>
            <a:r>
              <a:t>What output tokens/sec/MW is realistic after SLO, precision, batching, and production haircut?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4334256"/>
            <a:ext cx="123444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200" b="1">
                <a:solidFill>
                  <a:srgbClr val="1428A0"/>
                </a:solidFill>
              </a:defRPr>
            </a:pPr>
            <a:r>
              <a:t>Demand absorption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67712" y="4434840"/>
            <a:ext cx="731520" cy="18288"/>
          </a:xfrm>
          <a:prstGeom prst="rect">
            <a:avLst/>
          </a:prstGeom>
          <a:solidFill>
            <a:srgbClr val="E3E9F2"/>
          </a:solidFill>
          <a:ln>
            <a:solidFill>
              <a:srgbClr val="E3E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18688" y="4334256"/>
            <a:ext cx="7909560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140" b="0">
                <a:solidFill>
                  <a:srgbClr val="3A4252"/>
                </a:solidFill>
              </a:defRPr>
            </a:pPr>
            <a:r>
              <a:t>Which product surfaces can absorb the incremental token supply without idle capacity?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5285232"/>
            <a:ext cx="10149840" cy="38404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50" b="0">
                <a:solidFill>
                  <a:srgbClr val="747E8E"/>
                </a:solidFill>
              </a:defRPr>
            </a:pPr>
            <a:r>
              <a:t>Workbook tabs: Logic, Benchmark Input, Inputs, GPU Mix Input, Calculation, Output, Checks, Aggressive View, Source Registry, Provenance Trace, Fact Audit. Derived output cells use Excel formulas.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5870448"/>
            <a:ext cx="1143000" cy="36576"/>
          </a:xfrm>
          <a:prstGeom prst="rect">
            <a:avLst/>
          </a:prstGeom>
          <a:solidFill>
            <a:srgbClr val="1428A0"/>
          </a:solidFill>
          <a:ln>
            <a:solidFill>
              <a:srgbClr val="142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947672" y="5760720"/>
            <a:ext cx="9464040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120" b="1">
                <a:solidFill>
                  <a:srgbClr val="141820"/>
                </a:solidFill>
              </a:defRPr>
            </a:pPr>
            <a:r>
              <a:t>Update only visible inputs; the workbook recalculates token supply through the same core formula.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473952"/>
            <a:ext cx="932688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720" b="0">
                <a:solidFill>
                  <a:srgbClr val="747E8E"/>
                </a:solidFill>
              </a:defRPr>
            </a:pPr>
            <a:r>
              <a:t>Commercial LLM model-owner basis | Compute capacity to generated output token supply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33888" y="6473952"/>
            <a:ext cx="1005840" cy="1645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720" b="0">
                <a:solidFill>
                  <a:srgbClr val="747E8E"/>
                </a:solidFill>
              </a:defRPr>
            </a:pPr>
            <a:r>
              <a:t>2026-07-22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