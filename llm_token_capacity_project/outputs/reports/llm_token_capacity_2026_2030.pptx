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 output tokens/day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Microsoft</c:v>
                </c:pt>
                <c:pt idx="3">
                  <c:v>Anthropic</c:v>
                </c:pt>
                <c:pt idx="4">
                  <c:v>Tencent</c:v>
                </c:pt>
                <c:pt idx="5">
                  <c:v>Meta</c:v>
                </c:pt>
                <c:pt idx="6">
                  <c:v>xAI</c:v>
                </c:pt>
                <c:pt idx="7">
                  <c:v>Alibaba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0.304530475392</c:v>
                </c:pt>
                <c:pt idx="1">
                  <c:v>0.228679713216</c:v>
                </c:pt>
                <c:pt idx="2">
                  <c:v>0.208761841728</c:v>
                </c:pt>
                <c:pt idx="3">
                  <c:v>0.185774864256</c:v>
                </c:pt>
                <c:pt idx="4">
                  <c:v>0.082114243776</c:v>
                </c:pt>
                <c:pt idx="5">
                  <c:v>0.08016026112</c:v>
                </c:pt>
                <c:pt idx="6">
                  <c:v>0.076351840704</c:v>
                </c:pt>
                <c:pt idx="7">
                  <c:v>0.027055767744</c:v>
                </c:pt>
                <c:pt idx="8">
                  <c:v>0.005694666768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OpenAI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0.03726771552</c:v>
                </c:pt>
                <c:pt idx="1">
                  <c:v>0.091885275072</c:v>
                </c:pt>
                <c:pt idx="2">
                  <c:v>0.154582725888</c:v>
                </c:pt>
                <c:pt idx="3">
                  <c:v>0.2254853376</c:v>
                </c:pt>
                <c:pt idx="4">
                  <c:v>0.304530475392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Google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0.056496604032</c:v>
                </c:pt>
                <c:pt idx="1">
                  <c:v>0.09269952768</c:v>
                </c:pt>
                <c:pt idx="2">
                  <c:v>0.133474792896</c:v>
                </c:pt>
                <c:pt idx="3">
                  <c:v>0.17882239968</c:v>
                </c:pt>
                <c:pt idx="4">
                  <c:v>0.228679713216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Microsoft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0.04447071936</c:v>
                </c:pt>
                <c:pt idx="1">
                  <c:v>0.078105615552</c:v>
                </c:pt>
                <c:pt idx="2">
                  <c:v>0.116688662208</c:v>
                </c:pt>
                <c:pt idx="3">
                  <c:v>0.160282494144</c:v>
                </c:pt>
                <c:pt idx="4">
                  <c:v>0.208761841728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Anthropic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0.023738595264</c:v>
                </c:pt>
                <c:pt idx="1">
                  <c:v>0.055807621056</c:v>
                </c:pt>
                <c:pt idx="2">
                  <c:v>0.093451145472</c:v>
                </c:pt>
                <c:pt idx="3">
                  <c:v>0.136794438144</c:v>
                </c:pt>
                <c:pt idx="4">
                  <c:v>0.185774864256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Tencent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0.011524806144</c:v>
                </c:pt>
                <c:pt idx="1">
                  <c:v>0.026056083456</c:v>
                </c:pt>
                <c:pt idx="2">
                  <c:v>0.042654309696</c:v>
                </c:pt>
                <c:pt idx="3">
                  <c:v>0.06138211968</c:v>
                </c:pt>
                <c:pt idx="4">
                  <c:v>0.082114243776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OpenAI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0.595</c:v>
                </c:pt>
                <c:pt idx="1">
                  <c:v>1.467</c:v>
                </c:pt>
                <c:pt idx="2">
                  <c:v>2.468</c:v>
                </c:pt>
                <c:pt idx="3">
                  <c:v>3.6</c:v>
                </c:pt>
                <c:pt idx="4">
                  <c:v>4.862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Google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0.902</c:v>
                </c:pt>
                <c:pt idx="1">
                  <c:v>1.48</c:v>
                </c:pt>
                <c:pt idx="2">
                  <c:v>2.131</c:v>
                </c:pt>
                <c:pt idx="3">
                  <c:v>2.855</c:v>
                </c:pt>
                <c:pt idx="4">
                  <c:v>3.651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Microsoft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0.71</c:v>
                </c:pt>
                <c:pt idx="1">
                  <c:v>1.247</c:v>
                </c:pt>
                <c:pt idx="2">
                  <c:v>1.863</c:v>
                </c:pt>
                <c:pt idx="3">
                  <c:v>2.559</c:v>
                </c:pt>
                <c:pt idx="4">
                  <c:v>3.333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Anthropic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0.379</c:v>
                </c:pt>
                <c:pt idx="1">
                  <c:v>0.891</c:v>
                </c:pt>
                <c:pt idx="2">
                  <c:v>1.492</c:v>
                </c:pt>
                <c:pt idx="3">
                  <c:v>2.184</c:v>
                </c:pt>
                <c:pt idx="4">
                  <c:v>2.966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Tencent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0.184</c:v>
                </c:pt>
                <c:pt idx="1">
                  <c:v>0.416</c:v>
                </c:pt>
                <c:pt idx="2">
                  <c:v>0.681</c:v>
                </c:pt>
                <c:pt idx="3">
                  <c:v>0.98</c:v>
                </c:pt>
                <c:pt idx="4">
                  <c:v>1.311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Contracted GW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Microsoft</c:v>
                </c:pt>
                <c:pt idx="3">
                  <c:v>Anthropic</c:v>
                </c:pt>
                <c:pt idx="4">
                  <c:v>Tencent</c:v>
                </c:pt>
                <c:pt idx="5">
                  <c:v>Meta</c:v>
                </c:pt>
                <c:pt idx="6">
                  <c:v>xAI</c:v>
                </c:pt>
                <c:pt idx="7">
                  <c:v>Alibaba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7.0</c:v>
                </c:pt>
                <c:pt idx="4">
                  <c:v>3.0</c:v>
                </c:pt>
                <c:pt idx="5">
                  <c:v>7.0</c:v>
                </c:pt>
                <c:pt idx="6">
                  <c:v>3.0</c:v>
                </c:pt>
                <c:pt idx="7">
                  <c:v>4.0</c:v>
                </c:pt>
                <c:pt idx="8">
                  <c:v>1.8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Active GW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Microsoft</c:v>
                </c:pt>
                <c:pt idx="3">
                  <c:v>Anthropic</c:v>
                </c:pt>
                <c:pt idx="4">
                  <c:v>Tencent</c:v>
                </c:pt>
                <c:pt idx="5">
                  <c:v>Meta</c:v>
                </c:pt>
                <c:pt idx="6">
                  <c:v>xAI</c:v>
                </c:pt>
                <c:pt idx="7">
                  <c:v>Alibaba</c:v>
                </c:pt>
                <c:pt idx="8">
                  <c:v>DeepSeek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8.5</c:v>
                </c:pt>
                <c:pt idx="1">
                  <c:v>6.8</c:v>
                </c:pt>
                <c:pt idx="2">
                  <c:v>6.2</c:v>
                </c:pt>
                <c:pt idx="3">
                  <c:v>5.5</c:v>
                </c:pt>
                <c:pt idx="4">
                  <c:v>2.4</c:v>
                </c:pt>
                <c:pt idx="5">
                  <c:v>5.8</c:v>
                </c:pt>
                <c:pt idx="6">
                  <c:v>2.5</c:v>
                </c:pt>
                <c:pt idx="7">
                  <c:v>3.2</c:v>
                </c:pt>
                <c:pt idx="8">
                  <c:v>1.2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Inference GW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Microsoft</c:v>
                </c:pt>
                <c:pt idx="3">
                  <c:v>Anthropic</c:v>
                </c:pt>
                <c:pt idx="4">
                  <c:v>Tencent</c:v>
                </c:pt>
                <c:pt idx="5">
                  <c:v>Meta</c:v>
                </c:pt>
                <c:pt idx="6">
                  <c:v>xAI</c:v>
                </c:pt>
                <c:pt idx="7">
                  <c:v>Alibaba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4.862</c:v>
                </c:pt>
                <c:pt idx="1">
                  <c:v>3.651</c:v>
                </c:pt>
                <c:pt idx="2">
                  <c:v>3.333</c:v>
                </c:pt>
                <c:pt idx="3">
                  <c:v>2.966</c:v>
                </c:pt>
                <c:pt idx="4">
                  <c:v>1.311</c:v>
                </c:pt>
                <c:pt idx="5">
                  <c:v>3.28</c:v>
                </c:pt>
                <c:pt idx="6">
                  <c:v>1.219</c:v>
                </c:pt>
                <c:pt idx="7">
                  <c:v>1.748</c:v>
                </c:pt>
                <c:pt idx="8">
                  <c:v>0.651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Training GW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Microsoft</c:v>
                </c:pt>
                <c:pt idx="3">
                  <c:v>Anthropic</c:v>
                </c:pt>
                <c:pt idx="4">
                  <c:v>Tencent</c:v>
                </c:pt>
                <c:pt idx="5">
                  <c:v>Meta</c:v>
                </c:pt>
                <c:pt idx="6">
                  <c:v>xAI</c:v>
                </c:pt>
                <c:pt idx="7">
                  <c:v>Alibaba</c:v>
                </c:pt>
                <c:pt idx="8">
                  <c:v>DeepSeek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1.371</c:v>
                </c:pt>
                <c:pt idx="1">
                  <c:v>1.42</c:v>
                </c:pt>
                <c:pt idx="2">
                  <c:v>1.111</c:v>
                </c:pt>
                <c:pt idx="3">
                  <c:v>1.042</c:v>
                </c:pt>
                <c:pt idx="4">
                  <c:v>0.328</c:v>
                </c:pt>
                <c:pt idx="5">
                  <c:v>0.925</c:v>
                </c:pt>
                <c:pt idx="6">
                  <c:v>0.523</c:v>
                </c:pt>
                <c:pt idx="7">
                  <c:v>0.437</c:v>
                </c:pt>
                <c:pt idx="8">
                  <c:v>0.143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Output tokens/sec/MW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Microsoft</c:v>
                </c:pt>
                <c:pt idx="3">
                  <c:v>Anthropic</c:v>
                </c:pt>
                <c:pt idx="4">
                  <c:v>Tencent</c:v>
                </c:pt>
                <c:pt idx="5">
                  <c:v>Meta</c:v>
                </c:pt>
                <c:pt idx="6">
                  <c:v>xAI</c:v>
                </c:pt>
                <c:pt idx="7">
                  <c:v>Alibaba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0.72494</c:v>
                </c:pt>
                <c:pt idx="1">
                  <c:v>0.72494</c:v>
                </c:pt>
                <c:pt idx="2">
                  <c:v>0.72494</c:v>
                </c:pt>
                <c:pt idx="3">
                  <c:v>0.72494</c:v>
                </c:pt>
                <c:pt idx="4">
                  <c:v>0.72494</c:v>
                </c:pt>
                <c:pt idx="5">
                  <c:v>0.28286</c:v>
                </c:pt>
                <c:pt idx="6">
                  <c:v>0.72494</c:v>
                </c:pt>
                <c:pt idx="7">
                  <c:v>0.179145</c:v>
                </c:pt>
                <c:pt idx="8">
                  <c:v>0.101245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numFmt formatCode="0.0" sourceLinked="0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Bear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0.155</c:v>
                </c:pt>
                <c:pt idx="1">
                  <c:v>0.306</c:v>
                </c:pt>
                <c:pt idx="2">
                  <c:v>0.473</c:v>
                </c:pt>
                <c:pt idx="3">
                  <c:v>0.656</c:v>
                </c:pt>
                <c:pt idx="4">
                  <c:v>0.853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0.201</c:v>
                </c:pt>
                <c:pt idx="1">
                  <c:v>0.404</c:v>
                </c:pt>
                <c:pt idx="2">
                  <c:v>0.638</c:v>
                </c:pt>
                <c:pt idx="3">
                  <c:v>0.903</c:v>
                </c:pt>
                <c:pt idx="4">
                  <c:v>1.199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Bull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0.231</c:v>
                </c:pt>
                <c:pt idx="1">
                  <c:v>0.48</c:v>
                </c:pt>
                <c:pt idx="2">
                  <c:v>0.783</c:v>
                </c:pt>
                <c:pt idx="3">
                  <c:v>1.143</c:v>
                </c:pt>
                <c:pt idx="4">
                  <c:v>1.565</c:v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402336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1">
                <a:solidFill>
                  <a:srgbClr val="1428A0"/>
                </a:solidFill>
              </a:defRPr>
            </a:pPr>
            <a:r>
              <a:t>COMPUTE CAPACITY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7772400" cy="1572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3500" b="1">
                <a:solidFill>
                  <a:srgbClr val="141820"/>
                </a:solidFill>
              </a:defRPr>
            </a:pPr>
            <a:r>
              <a:t>Token Supply Constraints</a:t>
            </a:r>
            <a:br/>
            <a:r>
              <a:t>by LLM Provider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2788920"/>
            <a:ext cx="722376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20" b="0">
                <a:solidFill>
                  <a:srgbClr val="3A4252"/>
                </a:solidFill>
              </a:defRPr>
            </a:pPr>
            <a:r>
              <a:t>A compute-capacity view of how contracted power, active AI load, inference allocation, and serving efficiency limit generated output token supply</a:t>
            </a:r>
          </a:p>
        </p:txBody>
      </p:sp>
      <p:sp>
        <p:nvSpPr>
          <p:cNvPr id="6" name="Rectangle 5"/>
          <p:cNvSpPr/>
          <p:nvPr/>
        </p:nvSpPr>
        <p:spPr>
          <a:xfrm>
            <a:off x="8119872" y="1097280"/>
            <a:ext cx="36576" cy="3154680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94192" y="1133856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Modeled provider 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94192" y="1417320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94192" y="1993391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commercial LLM owners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94192" y="2505456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Base 2030 supply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94192" y="2788920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1.20Q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94192" y="3364992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generated output tokens/day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980176"/>
            <a:ext cx="61264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0">
                <a:solidFill>
                  <a:srgbClr val="747E8E"/>
                </a:solidFill>
              </a:defRPr>
            </a:pPr>
            <a:r>
              <a:t>Focus: supply constraints, not memory marketing motions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02368" y="5980176"/>
            <a:ext cx="173736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0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Executive answer: the bottleneck is active inference compute, not announced power alone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Token supply is constrained by four sequential conversion losses: deployment, AI IT allocation, inference share, and serving efficiency.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157984"/>
            <a:ext cx="2971800" cy="2743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423160"/>
            <a:ext cx="30632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Deployment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907792"/>
            <a:ext cx="306324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42.1GW active out of 54.8GW contracted in Base 2030.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312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53128" y="2157984"/>
            <a:ext cx="2971800" cy="27432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3128" y="2423160"/>
            <a:ext cx="30632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Inference allocation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2907792"/>
            <a:ext cx="306324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23.0GW goes to inference; 7.3GW remains training-oriented.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56448" y="2157984"/>
            <a:ext cx="2971800" cy="27432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6448" y="2423160"/>
            <a:ext cx="30632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Concentration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6448" y="2907792"/>
            <a:ext cx="306324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Top 3 providers account for 62% of modeled 2030 generated-token supply.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645152"/>
            <a:ext cx="105156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30" b="0">
                <a:solidFill>
                  <a:srgbClr val="3A4252"/>
                </a:solidFill>
              </a:defRPr>
            </a:pPr>
            <a:r>
              <a:t>What changed from the prior deck: this version does not lead with memory revenue actions. It leads with provider-level token supply constraints and only uses memory implications as downstream context.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Read every provider through the same funnel: contracted GW to active GW to inference GW to output tokens.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constraint model traces where compute capacity is lost before it becomes tokens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same formula is applied to every provider so differences come from assumptions, capacity attribution, and serving efficiency.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Contracted</a:t>
            </a:r>
            <a:br/>
            <a:r>
              <a:t>power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670048"/>
            <a:ext cx="155448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Announced or inferred capacity envelope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5728" y="2221992"/>
            <a:ext cx="228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5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5351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Active</a:t>
            </a:r>
            <a:br/>
            <a:r>
              <a:t>power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53512" y="2670048"/>
            <a:ext cx="155448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351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Energized sites and deployed accelerators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2221992"/>
            <a:ext cx="228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5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AI IT</a:t>
            </a:r>
            <a:br/>
            <a:r>
              <a:t>load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93792" y="2670048"/>
            <a:ext cx="155448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9379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PUE and AI workload allocation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76288" y="2221992"/>
            <a:ext cx="228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5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3407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Inference</a:t>
            </a:r>
            <a:br/>
            <a:r>
              <a:t>GW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34072" y="2670048"/>
            <a:ext cx="155448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3407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Power assigned to commercial serving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6568" y="2221992"/>
            <a:ext cx="228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5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7435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Token</a:t>
            </a:r>
            <a:br/>
            <a:r>
              <a:t>supply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74352" y="2670048"/>
            <a:ext cx="1554480" cy="32004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7435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Selected output tokens/sec/MW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3886200"/>
            <a:ext cx="105156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00" b="1">
                <a:solidFill>
                  <a:srgbClr val="1428A0"/>
                </a:solidFill>
              </a:defRPr>
            </a:pPr>
            <a:r>
              <a:t>generated output tokens/day = inference GW x 1,000 x selected output tokens/sec/MW x 86,400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" y="4617720"/>
            <a:ext cx="9966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040">
                <a:solidFill>
                  <a:srgbClr val="3A4252"/>
                </a:solidFill>
              </a:defRPr>
            </a:pPr>
            <a:r>
              <a:t>Deployment gap captures power that is contracted or planned but not yet producing AI IT load.</a:t>
            </a:r>
          </a:p>
          <a:p>
            <a:pPr>
              <a:spcAft>
                <a:spcPts val="400"/>
              </a:spcAft>
              <a:defRPr sz="1040">
                <a:solidFill>
                  <a:srgbClr val="3A4252"/>
                </a:solidFill>
              </a:defRPr>
            </a:pPr>
            <a:r>
              <a:t>Serving efficiency captures model architecture, precision, batching, SLO targets, and production overhead.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constraint is visible only after separating capacity ownership from operating conversion factors.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2030 token supply is concentrated in providers with both scale and high inference conversion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chart ranks generated output token supply, while the side metrics show the compute base behind the output.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55648"/>
          <a:ext cx="66294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726679" y="1755648"/>
            <a:ext cx="333756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60" b="1">
                <a:solidFill>
                  <a:srgbClr val="747E8E"/>
                </a:solidFill>
              </a:defRPr>
            </a:pPr>
            <a:r>
              <a:t>2030 provider snapshot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26679" y="2084831"/>
          <a:ext cx="3355848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713232"/>
                <a:gridCol w="749808"/>
                <a:gridCol w="749808"/>
              </a:tblGrid>
              <a:tr h="35814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Q/day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Inf. GW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Act. GW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0.30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4.9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8.5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0.23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3.7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6.8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0.21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6.2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0.19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3.0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5.5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Tencent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0.08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1.3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2.4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726679" y="4498848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Top 3 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4782312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62%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5358383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of modeled 2030 supply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Token supply leadership is a compute-conversion outcome, not just a data-center footprint outcome.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Provider token supply trajectories show when each company begins to separate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line chart shows the top 2030 providers; the table keeps every modeled provider visible across 2026, 2028, and 2030.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446520" cy="37307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79792" y="1755648"/>
            <a:ext cx="3611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60" b="1">
                <a:solidFill>
                  <a:srgbClr val="747E8E"/>
                </a:solidFill>
              </a:defRPr>
            </a:pPr>
            <a:r>
              <a:t>All-provider token supply table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79792" y="2084831"/>
          <a:ext cx="365760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5568"/>
                <a:gridCol w="640080"/>
                <a:gridCol w="640080"/>
                <a:gridCol w="640080"/>
                <a:gridCol w="621792"/>
              </a:tblGrid>
              <a:tr h="324612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2026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2028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2030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30/26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0.30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8.2x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0.06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0.23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4.0x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0.21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4.7x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0.09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0.19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7.8x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Tencent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0.08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7.1x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0.04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0.08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4.9x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0.08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11.1x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6.6x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10.7x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constraint story is dynamic: the relevant question is when token supply separates, not only who leads in 2030.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Inference GW trajectories explain the token supply trajectories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core model changes token supply through operational inference GW; TPS/MW is held to the selected InferenceX proxy unless explicitly stress-tested.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446520" cy="37307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79792" y="1755648"/>
            <a:ext cx="3611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60" b="1">
                <a:solidFill>
                  <a:srgbClr val="747E8E"/>
                </a:solidFill>
              </a:defRPr>
            </a:pPr>
            <a:r>
              <a:t>All-provider inference GW table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79792" y="2084831"/>
          <a:ext cx="365760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5568"/>
                <a:gridCol w="640080"/>
                <a:gridCol w="640080"/>
                <a:gridCol w="640080"/>
                <a:gridCol w="621792"/>
              </a:tblGrid>
              <a:tr h="324612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2026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2028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2030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Share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0.6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2.5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4.9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78%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2.1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3.7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72%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75%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0.4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1.5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3.0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74%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Tencent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80%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1.8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78%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0.6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80%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82%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Token growth should be decomposed into more inference GW versus better token output per MW.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first constraint is the gap between contracted capacity and active capacity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This is the most important near-term bottleneck because non-energized or non-deployed power cannot serve tokens.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99516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01000" y="1783080"/>
            <a:ext cx="30632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1">
                <a:solidFill>
                  <a:srgbClr val="747E8E"/>
                </a:solidFill>
              </a:defRPr>
            </a:pPr>
            <a:r>
              <a:t>Deployment gap table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001000" y="2148840"/>
          <a:ext cx="3136392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685800"/>
                <a:gridCol w="685800"/>
                <a:gridCol w="621792"/>
              </a:tblGrid>
              <a:tr h="38862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Contr.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Active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1.8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33%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9.0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6.2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31%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12.0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8.5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29%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001000" y="4041648"/>
            <a:ext cx="31546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00" b="0">
                <a:solidFill>
                  <a:srgbClr val="3A4252"/>
                </a:solidFill>
              </a:defRPr>
            </a:pPr>
            <a:r>
              <a:t>How to read this: the gap between contracted and active GW is supply that exists in plans but not yet in token-serving reality.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Deployment speed is the first gating variable in the 2026-2030 token supply ramp.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second constraint is how much AI load is assigned to inference instead of 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A provider can own large compute capacity but still have limited commercial token supply if more AI load remains training-oriented.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99516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01000" y="1783080"/>
            <a:ext cx="30632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1">
                <a:solidFill>
                  <a:srgbClr val="747E8E"/>
                </a:solidFill>
              </a:defRPr>
            </a:pPr>
            <a:r>
              <a:t>Inference allocation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001000" y="2148840"/>
          <a:ext cx="3118104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658368"/>
                <a:gridCol w="658368"/>
                <a:gridCol w="658368"/>
              </a:tblGrid>
              <a:tr h="34290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Inf.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Train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Share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4.9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78%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3.7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1.4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72%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75%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3.0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74%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Tencent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80%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001000" y="4526280"/>
            <a:ext cx="3154680" cy="4937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3A4252"/>
                </a:solidFill>
              </a:defRPr>
            </a:pPr>
            <a:r>
              <a:t>This split is a scenario variable and should be updated as providers disclose product traffic and training cadence.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Inference share is the bridge between compute capacity and commercial token supply.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third input is a transparent InferenceX output-token TPS/MW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A fixed B200, single_turn, ISL/OSL 1024/1024 output-throughput median is selected by proxy model; no hidden uplift is applied.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40080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79792" y="1755648"/>
            <a:ext cx="3611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60" b="1">
                <a:solidFill>
                  <a:srgbClr val="747E8E"/>
                </a:solidFill>
              </a:defRPr>
            </a:pPr>
            <a:r>
              <a:t>Selected proxy mapping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79792" y="2103120"/>
          <a:ext cx="370332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120"/>
                <a:gridCol w="914400"/>
                <a:gridCol w="914400"/>
                <a:gridCol w="914400"/>
              </a:tblGrid>
              <a:tr h="35814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Proxy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M tok/s/MW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Constraint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dsr1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0.10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Deployment gap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qwen3.5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0.18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Serving efficiency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llama70b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0.28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Serving efficiency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gptoss120b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0.72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Scale absorption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gptoss120b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0.72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479792" y="4553712"/>
            <a:ext cx="3703320" cy="4937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40" b="0">
                <a:solidFill>
                  <a:srgbClr val="3A4252"/>
                </a:solidFill>
              </a:defRPr>
            </a:pPr>
            <a:r>
              <a:t>Purpose-built accelerator mix is visible, but no efficiency uplift is applied until a comparable output-token benchmark exists.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Selected TPS/MW is a readable benchmark proxy, not a compounded estimate.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Provider constraint map: each company has a different limiting factor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score is a directional operating index using deployment gap, inference share, and selected TPS/MW versus the peer set.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691640"/>
          <a:ext cx="1001268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143000"/>
                <a:gridCol w="1097280"/>
                <a:gridCol w="1417320"/>
                <a:gridCol w="1234440"/>
                <a:gridCol w="3703320"/>
              </a:tblGrid>
              <a:tr h="38862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Supply Q/day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Inf. GW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Deploy gap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Constraint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What to validate next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33%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Deployment gap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site energization, rack deployment, accelerator delivery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Serving efficiency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model routing, precision, batching, TTFT/TPOT target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0.08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17%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Serving efficiency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model routing, precision, batching, TTFT/TPOT target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0.21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31%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cadence, launch schedule, commercial serving ramp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0.30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4.9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29%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Scale absorption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demand absorption and product surface expansion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0.19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3.0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21%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cadence, launch schedule, commercial serving ramp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0.08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17%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cadence, launch schedule, commercial serving ramp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Tencent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0.08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Scale absorption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demand absorption and product surface expansion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0.23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15%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cadence, launch schedule, commercial serving ramp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next research cycle should target the limiting factor for each provider, not collect generic capacity headlines.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Scenario stress shows how sensitive token supply is to compute conversion assumptions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Bull and Bear cases move operational deployment and inference allocation only; TPS/MW is held to the selected benchmark proxy.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49808" y="1737360"/>
          <a:ext cx="66294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818120" y="1783080"/>
            <a:ext cx="32004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1">
                <a:solidFill>
                  <a:srgbClr val="747E8E"/>
                </a:solidFill>
              </a:defRPr>
            </a:pPr>
            <a:r>
              <a:t>2030 scenario output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818120" y="2121408"/>
          <a:ext cx="32004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731520"/>
                <a:gridCol w="777240"/>
                <a:gridCol w="914400"/>
              </a:tblGrid>
              <a:tr h="38862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Case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Q/day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Act. GW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Inf. share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Bear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0.85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34.5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66%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Base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1.20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42.1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76%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Bull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1.56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49.7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84%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818120" y="3977639"/>
            <a:ext cx="2926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50" b="1">
                <a:solidFill>
                  <a:srgbClr val="747E8E"/>
                </a:solidFill>
              </a:defRPr>
            </a:pPr>
            <a:r>
              <a:t>Scenario levers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4315968"/>
            <a:ext cx="3017520" cy="8046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300"/>
              </a:spcAft>
              <a:defRPr sz="969">
                <a:solidFill>
                  <a:srgbClr val="3A4252"/>
                </a:solidFill>
              </a:defRPr>
            </a:pPr>
            <a:r>
              <a:t>Operational deployment speed</a:t>
            </a:r>
          </a:p>
          <a:p>
            <a:pPr>
              <a:spcAft>
                <a:spcPts val="300"/>
              </a:spcAft>
              <a:defRPr sz="969">
                <a:solidFill>
                  <a:srgbClr val="3A4252"/>
                </a:solidFill>
              </a:defRPr>
            </a:pPr>
            <a:r>
              <a:t>Selected benchmark TPS/MW held constant</a:t>
            </a:r>
          </a:p>
          <a:p>
            <a:pPr>
              <a:spcAft>
                <a:spcPts val="300"/>
              </a:spcAft>
              <a:defRPr sz="969">
                <a:solidFill>
                  <a:srgbClr val="3A4252"/>
                </a:solidFill>
              </a:defRPr>
            </a:pPr>
            <a:r>
              <a:t>Inference share of AI IT load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5257800"/>
            <a:ext cx="2926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28A0"/>
                </a:solidFill>
              </a:defRPr>
            </a:pPr>
            <a:r>
              <a:t>Base growth: 6.0x, 2026-2030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same provider can move from constrained to advantaged if deployment and serving conversion improve together.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operating agenda is to verify the bottleneck, then update the provider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This is the checklist that keeps the simulation tied to facts as new capacity, model, and benchmark data arrives.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700784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Power</a:t>
            </a:r>
          </a:p>
        </p:txBody>
      </p:sp>
      <p:sp>
        <p:nvSpPr>
          <p:cNvPr id="8" name="Rectangle 7"/>
          <p:cNvSpPr/>
          <p:nvPr/>
        </p:nvSpPr>
        <p:spPr>
          <a:xfrm>
            <a:off x="2267712" y="1801368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18688" y="1700784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Which contracted sites are energized, and when do accelerators enter production service?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359152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Allocation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67712" y="2459736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18688" y="2359152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What share of AI IT load is serving commercial inference versus training or experimentation?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017520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Architecture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67712" y="3118103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18688" y="3017520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Which model family, active parameter band, context length, and routing policy dominate traffic?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3675888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Efficiency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67712" y="3776472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18688" y="3675888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What output tokens/sec/MW is realistic after SLO, precision, batching, and production haircut?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4334256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Demand absorption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67712" y="4434840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18688" y="4334256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Which product surfaces can absorb the incremental token supply without idle capacity?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5285232"/>
            <a:ext cx="1014984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50" b="0">
                <a:solidFill>
                  <a:srgbClr val="747E8E"/>
                </a:solidFill>
              </a:defRPr>
            </a:pPr>
            <a:r>
              <a:t>Workbook tabs: Logic, Benchmark Input, Inputs, Calculation, Output, Checks. Derived output cells use Excel formulas.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Update only visible inputs; the workbook recalculates token supply through the same core formula.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