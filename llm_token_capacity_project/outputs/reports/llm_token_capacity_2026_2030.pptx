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OpenAI</c:v>
                </c:pt>
                <c:pt idx="5">
                  <c:v>Google</c:v>
                </c:pt>
                <c:pt idx="6">
                  <c:v>Anthropic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0.4936059624672</c:v>
                </c:pt>
                <c:pt idx="1">
                  <c:v>0.240019987968</c:v>
                </c:pt>
                <c:pt idx="2">
                  <c:v>0.2305701679392</c:v>
                </c:pt>
                <c:pt idx="3">
                  <c:v>0.1743765496128</c:v>
                </c:pt>
                <c:pt idx="4">
                  <c:v>0.0414590596992</c:v>
                </c:pt>
                <c:pt idx="5">
                  <c:v>0.0323625925152</c:v>
                </c:pt>
                <c:pt idx="6">
                  <c:v>0.02410147872</c:v>
                </c:pt>
                <c:pt idx="7">
                  <c:v>0.0226438101504</c:v>
                </c:pt>
                <c:pt idx="8">
                  <c:v>0.0088044739776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0.101332129248</c:v>
                </c:pt>
                <c:pt idx="1">
                  <c:v>0.1832039646912</c:v>
                </c:pt>
                <c:pt idx="2">
                  <c:v>0.2759039628192</c:v>
                </c:pt>
                <c:pt idx="3">
                  <c:v>0.3789791953056</c:v>
                </c:pt>
                <c:pt idx="4">
                  <c:v>0.4936059624672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0.0492480036288</c:v>
                </c:pt>
                <c:pt idx="1">
                  <c:v>0.088543958976</c:v>
                </c:pt>
                <c:pt idx="2">
                  <c:v>0.1334745298944</c:v>
                </c:pt>
                <c:pt idx="3">
                  <c:v>0.1839665395584</c:v>
                </c:pt>
                <c:pt idx="4">
                  <c:v>0.240019987968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0.022510683648</c:v>
                </c:pt>
                <c:pt idx="1">
                  <c:v>0.056436397056</c:v>
                </c:pt>
                <c:pt idx="2">
                  <c:v>0.1015419574368</c:v>
                </c:pt>
                <c:pt idx="3">
                  <c:v>0.159182259264</c:v>
                </c:pt>
                <c:pt idx="4">
                  <c:v>0.2305701679392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0.015735373632</c:v>
                </c:pt>
                <c:pt idx="1">
                  <c:v>0.0453464858304</c:v>
                </c:pt>
                <c:pt idx="2">
                  <c:v>0.0816808940352</c:v>
                </c:pt>
                <c:pt idx="3">
                  <c:v>0.1247385982464</c:v>
                </c:pt>
                <c:pt idx="4">
                  <c:v>0.1743765496128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0.0055662012</c:v>
                </c:pt>
                <c:pt idx="1">
                  <c:v>0.0128343299904</c:v>
                </c:pt>
                <c:pt idx="2">
                  <c:v>0.0301847219712</c:v>
                </c:pt>
                <c:pt idx="3">
                  <c:v>0.03697830144</c:v>
                </c:pt>
                <c:pt idx="4">
                  <c:v>0.0414590596992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0.673</c:v>
                </c:pt>
                <c:pt idx="1">
                  <c:v>1.21</c:v>
                </c:pt>
                <c:pt idx="2">
                  <c:v>1.824</c:v>
                </c:pt>
                <c:pt idx="3">
                  <c:v>2.514</c:v>
                </c:pt>
                <c:pt idx="4">
                  <c:v>3.28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0.184</c:v>
                </c:pt>
                <c:pt idx="1">
                  <c:v>0.416</c:v>
                </c:pt>
                <c:pt idx="2">
                  <c:v>0.681</c:v>
                </c:pt>
                <c:pt idx="3">
                  <c:v>0.98</c:v>
                </c:pt>
                <c:pt idx="4">
                  <c:v>1.311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0.11</c:v>
                </c:pt>
                <c:pt idx="1">
                  <c:v>0.317</c:v>
                </c:pt>
                <c:pt idx="2">
                  <c:v>0.571</c:v>
                </c:pt>
                <c:pt idx="3">
                  <c:v>0.872</c:v>
                </c:pt>
                <c:pt idx="4">
                  <c:v>1.219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0.595</c:v>
                </c:pt>
                <c:pt idx="1">
                  <c:v>1.467</c:v>
                </c:pt>
                <c:pt idx="2">
                  <c:v>2.468</c:v>
                </c:pt>
                <c:pt idx="3">
                  <c:v>3.6</c:v>
                </c:pt>
                <c:pt idx="4">
                  <c:v>4.862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OpenAI</c:v>
                </c:pt>
                <c:pt idx="5">
                  <c:v>Google</c:v>
                </c:pt>
                <c:pt idx="6">
                  <c:v>Anthropic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9.0</c:v>
                </c:pt>
                <c:pt idx="1">
                  <c:v>7.0</c:v>
                </c:pt>
                <c:pt idx="2">
                  <c:v>3.0</c:v>
                </c:pt>
                <c:pt idx="3">
                  <c:v>3.0</c:v>
                </c:pt>
                <c:pt idx="4">
                  <c:v>12.0</c:v>
                </c:pt>
                <c:pt idx="5">
                  <c:v>8.0</c:v>
                </c:pt>
                <c:pt idx="6">
                  <c:v>7.0</c:v>
                </c:pt>
                <c:pt idx="7">
                  <c:v>4.0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OpenAI</c:v>
                </c:pt>
                <c:pt idx="5">
                  <c:v>Google</c:v>
                </c:pt>
                <c:pt idx="6">
                  <c:v>Anthropic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6.2</c:v>
                </c:pt>
                <c:pt idx="1">
                  <c:v>5.8</c:v>
                </c:pt>
                <c:pt idx="2">
                  <c:v>2.4</c:v>
                </c:pt>
                <c:pt idx="3">
                  <c:v>2.5</c:v>
                </c:pt>
                <c:pt idx="4">
                  <c:v>8.5</c:v>
                </c:pt>
                <c:pt idx="5">
                  <c:v>6.8</c:v>
                </c:pt>
                <c:pt idx="6">
                  <c:v>5.5</c:v>
                </c:pt>
                <c:pt idx="7">
                  <c:v>3.2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OpenAI</c:v>
                </c:pt>
                <c:pt idx="5">
                  <c:v>Google</c:v>
                </c:pt>
                <c:pt idx="6">
                  <c:v>Anthropic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3.333</c:v>
                </c:pt>
                <c:pt idx="1">
                  <c:v>3.28</c:v>
                </c:pt>
                <c:pt idx="2">
                  <c:v>1.311</c:v>
                </c:pt>
                <c:pt idx="3">
                  <c:v>1.219</c:v>
                </c:pt>
                <c:pt idx="4">
                  <c:v>4.862</c:v>
                </c:pt>
                <c:pt idx="5">
                  <c:v>3.651</c:v>
                </c:pt>
                <c:pt idx="6">
                  <c:v>2.966</c:v>
                </c:pt>
                <c:pt idx="7">
                  <c:v>1.748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OpenAI</c:v>
                </c:pt>
                <c:pt idx="5">
                  <c:v>Google</c:v>
                </c:pt>
                <c:pt idx="6">
                  <c:v>Anthropic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1.111</c:v>
                </c:pt>
                <c:pt idx="1">
                  <c:v>0.925</c:v>
                </c:pt>
                <c:pt idx="2">
                  <c:v>0.328</c:v>
                </c:pt>
                <c:pt idx="3">
                  <c:v>0.523</c:v>
                </c:pt>
                <c:pt idx="4">
                  <c:v>1.371</c:v>
                </c:pt>
                <c:pt idx="5">
                  <c:v>1.42</c:v>
                </c:pt>
                <c:pt idx="6">
                  <c:v>1.042</c:v>
                </c:pt>
                <c:pt idx="7">
                  <c:v>0.437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OpenAI</c:v>
                </c:pt>
                <c:pt idx="5">
                  <c:v>Google</c:v>
                </c:pt>
                <c:pt idx="6">
                  <c:v>Anthropic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1.714081</c:v>
                </c:pt>
                <c:pt idx="1">
                  <c:v>0.846954</c:v>
                </c:pt>
                <c:pt idx="2">
                  <c:v>2.035573</c:v>
                </c:pt>
                <c:pt idx="3">
                  <c:v>1.655658</c:v>
                </c:pt>
                <c:pt idx="4">
                  <c:v>0.098694</c:v>
                </c:pt>
                <c:pt idx="5">
                  <c:v>0.102593</c:v>
                </c:pt>
                <c:pt idx="6">
                  <c:v>0.09405</c:v>
                </c:pt>
                <c:pt idx="7">
                  <c:v>0.149932</c:v>
                </c:pt>
                <c:pt idx="8">
                  <c:v>0.156534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0.114</c:v>
                </c:pt>
                <c:pt idx="1">
                  <c:v>0.221</c:v>
                </c:pt>
                <c:pt idx="2">
                  <c:v>0.346</c:v>
                </c:pt>
                <c:pt idx="3">
                  <c:v>0.479</c:v>
                </c:pt>
                <c:pt idx="4">
                  <c:v>0.626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0.21</c:v>
                </c:pt>
                <c:pt idx="1">
                  <c:v>0.418</c:v>
                </c:pt>
                <c:pt idx="2">
                  <c:v>0.671</c:v>
                </c:pt>
                <c:pt idx="3">
                  <c:v>0.951</c:v>
                </c:pt>
                <c:pt idx="4">
                  <c:v>1.268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0.309</c:v>
                </c:pt>
                <c:pt idx="1">
                  <c:v>0.639</c:v>
                </c:pt>
                <c:pt idx="2">
                  <c:v>1.062</c:v>
                </c:pt>
                <c:pt idx="3">
                  <c:v>1.555</c:v>
                </c:pt>
                <c:pt idx="4">
                  <c:v>2.14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1.27Q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76%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Selected output tokens/sec/MW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0.49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0.24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0.23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76%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10.2x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11.1x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7.4x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4.1x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6.0x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6.6x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14.0x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core model changes token supply through operational inference GW and a workload-adjusted serving reference derived from InferenceX.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input weights H200, B200, GB200 and purpose-built capacity into serving throughput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GPU-generation mix is an editable scenario input; public reference rows are then adjusted for commercial workload 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Commercial serving reference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7033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914400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S/L/A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Fit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30%/30%/40%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45%/25%/30%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40%/40%/20%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45%/35%/20%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35%/40%/25%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S/L/A is short conversation, long conversation and agentic mix; purpose-built hardware still receives no premium without matched output-token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Base TPS/MW now reflects GPU-generation mix, workload class mix and commercial workload fit.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and selected TPS/MW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0.49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0.23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0.24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move operational deployment, inference allocation and the explicit commercial-workload fit to the public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0.63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1.27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2.14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Commercial workload fit to public TPS/MW reference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6.0x,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Evidence base now separates official submissions, serving proxies,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workbook carries the source registry and number-level provenance so benchmark evidence is visible without changing the headline formula.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1737360"/>
          <a:ext cx="10698479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246120"/>
                <a:gridCol w="5577840"/>
              </a:tblGrid>
              <a:tr h="5105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Source set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How it is used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Official benchmark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MLPerf Inference / MLPerf Power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hardware and power/performance anchor; not production telemetry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LLM serving proxy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InferenceX DB dump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model x GPU x precision x ISL/OSL output TPS/MW reference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Serving stack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vLLM / SGLang / TensorRT-LLM / FlashInfer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mechanism layer for batching, KV cache, kernel and runtime behavior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Scheduling papers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Orca / Sarathi / DistServe / Splitwise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utilization, prefill/decode and TTFT/TPOT sensitivity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Trend context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Epoch 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training scale, inference price trend, power and scaling bottlenecks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5074920"/>
            <a:ext cx="1010412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3A4252"/>
                </a:solidFill>
              </a:defRPr>
            </a:pPr>
            <a:r>
              <a:t>Excel tabs 07_Source_Registry, 08_Provenance_Trace, and 09_Fact_Assumption_Audit expose source IDs, formula/rule, replacement path, and evidence class for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MLPerf and InferenceX are benchmark anchors; provider-specific production telemetry remains the replacement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tabs: Logic, Benchmark Input, Inputs, GPU Mix Input, Calculation, Output, Checks, Aggressive View, Source Registry, Provenance Trace, Fact Audit. Derived output cells use Excel formulas.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only visible inputs; the workbook recalculates token supply through the same core formula.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