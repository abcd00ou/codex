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2030 토큰/일 (Q)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0.117</c:v>
                </c:pt>
                <c:pt idx="1">
                  <c:v>0.286</c:v>
                </c:pt>
                <c:pt idx="2">
                  <c:v>0.546</c:v>
                </c:pt>
                <c:pt idx="3">
                  <c:v>0.934</c:v>
                </c:pt>
                <c:pt idx="4">
                  <c:v>1.494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0.208</c:v>
                </c:pt>
                <c:pt idx="1">
                  <c:v>0.516</c:v>
                </c:pt>
                <c:pt idx="2">
                  <c:v>1.006</c:v>
                </c:pt>
                <c:pt idx="3">
                  <c:v>1.757</c:v>
                </c:pt>
                <c:pt idx="4">
                  <c:v>2.872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낙관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0.302</c:v>
                </c:pt>
                <c:pt idx="1">
                  <c:v>0.779</c:v>
                </c:pt>
                <c:pt idx="2">
                  <c:v>1.575</c:v>
                </c:pt>
                <c:pt idx="3">
                  <c:v>2.84</c:v>
                </c:pt>
                <c:pt idx="4">
                  <c:v>4.79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전력제약·효율상승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0.233</c:v>
                </c:pt>
                <c:pt idx="1">
                  <c:v>0.556</c:v>
                </c:pt>
                <c:pt idx="2">
                  <c:v>1.039</c:v>
                </c:pt>
                <c:pt idx="3">
                  <c:v>1.732</c:v>
                </c:pt>
                <c:pt idx="4">
                  <c:v>2.693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계약</c:v>
                </c:pt>
                <c:pt idx="1">
                  <c:v>가동</c:v>
                </c:pt>
                <c:pt idx="2">
                  <c:v>AI IT load</c:v>
                </c:pt>
                <c:pt idx="3">
                  <c:v>추론</c:v>
                </c:pt>
                <c:pt idx="4">
                  <c:v>학습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54.8</c:v>
                </c:pt>
                <c:pt idx="1">
                  <c:v>42.1</c:v>
                </c:pt>
                <c:pt idx="2">
                  <c:v>30.32</c:v>
                </c:pt>
                <c:pt idx="3">
                  <c:v>23.021</c:v>
                </c:pt>
                <c:pt idx="4">
                  <c:v>7.3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tokens/일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  <c:pt idx="5">
                  <c:v>0.259801314859008</c:v>
                </c:pt>
                <c:pt idx="6">
                  <c:v>0.167354927293824</c:v>
                </c:pt>
                <c:pt idx="7">
                  <c:v>0.125620159296096</c:v>
                </c:pt>
                <c:pt idx="8">
                  <c:v>0.104360160022272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우리 모델 annual QTokens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214.197</c:v>
                </c:pt>
                <c:pt idx="1">
                  <c:v>195.323</c:v>
                </c:pt>
                <c:pt idx="2">
                  <c:v>146.835</c:v>
                </c:pt>
                <c:pt idx="3">
                  <c:v>135.885</c:v>
                </c:pt>
                <c:pt idx="4">
                  <c:v>116.181</c:v>
                </c:pt>
                <c:pt idx="5">
                  <c:v>94.827</c:v>
                </c:pt>
                <c:pt idx="6">
                  <c:v>61.085</c:v>
                </c:pt>
                <c:pt idx="7">
                  <c:v>45.851</c:v>
                </c:pt>
                <c:pt idx="8">
                  <c:v>38.091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reference annual QTokens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68.9</c:v>
                </c:pt>
                <c:pt idx="1">
                  <c:v>56.678</c:v>
                </c:pt>
                <c:pt idx="2">
                  <c:v>149.856</c:v>
                </c:pt>
                <c:pt idx="3">
                  <c:v>50.263</c:v>
                </c:pt>
                <c:pt idx="4">
                  <c:v>33.247</c:v>
                </c:pt>
                <c:pt idx="5">
                  <c:v>11.103</c:v>
                </c:pt>
                <c:pt idx="6">
                  <c:v>13.793</c:v>
                </c:pt>
                <c:pt idx="7">
                  <c:v>14.113</c:v>
                </c:pt>
                <c:pt idx="8">
                  <c:v>84.878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0.317</c:v>
                </c:pt>
                <c:pt idx="1">
                  <c:v>0.587</c:v>
                </c:pt>
                <c:pt idx="2">
                  <c:v>0.863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0.289</c:v>
                </c:pt>
                <c:pt idx="1">
                  <c:v>0.535</c:v>
                </c:pt>
                <c:pt idx="2">
                  <c:v>0.787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Strict-SLO / long-context agentic</c:v>
                </c:pt>
                <c:pt idx="1">
                  <c:v>Base serving mix</c:v>
                </c:pt>
                <c:pt idx="2">
                  <c:v>Batchable / optimized serving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0.172</c:v>
                </c:pt>
                <c:pt idx="1">
                  <c:v>0.318</c:v>
                </c:pt>
                <c:pt idx="2">
                  <c:v>0.468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0.421</c:v>
                </c:pt>
                <c:pt idx="1">
                  <c:v>0.587</c:v>
                </c:pt>
                <c:pt idx="2">
                  <c:v>0.723</c:v>
                </c:pt>
                <c:pt idx="3">
                  <c:v>0.423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0.384</c:v>
                </c:pt>
                <c:pt idx="1">
                  <c:v>0.535</c:v>
                </c:pt>
                <c:pt idx="2">
                  <c:v>0.659</c:v>
                </c:pt>
                <c:pt idx="3">
                  <c:v>0.386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Strict-SLO real-time</c:v>
                </c:pt>
                <c:pt idx="1">
                  <c:v>Base mixed serving</c:v>
                </c:pt>
                <c:pt idx="2">
                  <c:v>Batchable optimized</c:v>
                </c:pt>
                <c:pt idx="3">
                  <c:v>Agentic long-context stress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0.289</c:v>
                </c:pt>
                <c:pt idx="1">
                  <c:v>0.402</c:v>
                </c:pt>
                <c:pt idx="2">
                  <c:v>0.496</c:v>
                </c:pt>
                <c:pt idx="3">
                  <c:v>0.29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0.479</c:v>
                </c:pt>
                <c:pt idx="1">
                  <c:v>0.559</c:v>
                </c:pt>
                <c:pt idx="2">
                  <c:v>0.609</c:v>
                </c:pt>
                <c:pt idx="3">
                  <c:v>0.579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0.659</c:v>
                </c:pt>
                <c:pt idx="1">
                  <c:v>0.759</c:v>
                </c:pt>
                <c:pt idx="2">
                  <c:v>0.839</c:v>
                </c:pt>
                <c:pt idx="3">
                  <c:v>0.799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</a:defRPr>
            </a:pPr>
            <a:r>
              <a:t>임원 보고용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6766560" cy="205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400" b="1">
                <a:solidFill>
                  <a:srgbClr val="122037"/>
                </a:solidFill>
              </a:defRPr>
            </a:pPr>
            <a:r>
              <a:t>상용 LLM 업체별</a:t>
            </a:r>
            <a:br/>
            <a:r>
              <a:t>전력·GPU·토큰 Capacity</a:t>
            </a:r>
            <a:br/>
            <a:r>
              <a:t>2026–2030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246120"/>
            <a:ext cx="6400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모델 보유 업체 기준으로 OpenAI, Anthropic, Google, Meta, Microsoft, xAI, DeepSeek, Alibaba, Tencent의 추론 capacity를 추정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35240" y="941832"/>
            <a:ext cx="3611880" cy="9601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토큰/일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2.87Q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9개 상용 LLM owner 합산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2121408"/>
            <a:ext cx="3611880" cy="9601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추론 GW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23.0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AI IT load 중 추론 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3300984"/>
            <a:ext cx="3611880" cy="9601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 추론 비중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56% → 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2026은 fact가 아닌 시나리오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897880"/>
            <a:ext cx="6858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핵심: 공개 fact는 capacity/model 규모를 제한하고, active GW·추론 비중·tokens/MW는 명시적 시나리오로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임원 요약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기준 시나리오는 2026년 0.19Q/day에서 2030년 2.55Q/day로 확대되지만, 신뢰도는 전력 가동과 serving 효율에 좌우됩니다.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5778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OpenAI·Google·Meta가 2030년 기준 토큰 capacity의 상위권을 형성한다.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2026년 추론 60%+는 공식 fact가 아니므로 기준은 56%, 낙관만 61%로 제한했다.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2030년 기준 추론 비중 76%는 상용 serving 확대를 반영하되, 학습 GW를 계속 남긴다.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MoE 공개 모델 DeepSeek/Qwen은 파라미터 근거가 강하지만, active capacity 투명성은 낮다.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234440"/>
          <a:ext cx="51663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19088" y="4892040"/>
            <a:ext cx="493776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2030 기준 업체 순위, quadrillion tokens/day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계산 로직은 전력 funnel과 serving 효율의 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계약 전력은 token capacity가 아니며, 가동 전력과 AI IT load를 거쳐 추론 GW로 내려옵니다.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828800" cy="14173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1. 계약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계약/계획 GW</a:t>
            </a:r>
            <a:br/>
            <a:r>
              <a:t>source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946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417320"/>
            <a:ext cx="1828800" cy="141732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2. 가동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operational deploy</a:t>
            </a:r>
            <a:br/>
            <a: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974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417320"/>
            <a:ext cx="1828800" cy="14173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3. AI IT load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PUE·AI workload</a:t>
            </a:r>
            <a:br/>
            <a:r>
              <a:t>차감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002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417320"/>
            <a:ext cx="1828800" cy="14173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4. 추론 GW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학습/추론</a:t>
            </a:r>
            <a:br/>
            <a:r>
              <a:t>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030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46920" y="1417320"/>
            <a:ext cx="1828800" cy="1417320"/>
          </a:xfrm>
          <a:prstGeom prst="rect">
            <a:avLst/>
          </a:prstGeom>
          <a:solidFill>
            <a:srgbClr val="F0FB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5. 토큰/일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tokens/sec/MW ×</a:t>
            </a:r>
            <a:br/>
            <a:r>
              <a:t>utilization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100584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122037"/>
                </a:solidFill>
              </a:defRPr>
            </a:pPr>
            <a:r>
              <a:t>추론 토큰/일 = 추론 GW × 1,000 × tokens/sec/MW × utilization × 86,400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100584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Excel/JSON 표시값 기준 재계산도 일치하도록 rounding 후 토큰 산식을 적용했다.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Closed model parameter는 단일 숫자가 아니라 band만 사용하며, MoE는 total/active parameter를 분리한다.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시나리오별 토큰 capacity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낙관/기준/보수 시나리오는 전력 가동 속도, 추론 비중, MoE·serving 효율을 동시에 움직입니다.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85800" y="1143000"/>
          <a:ext cx="74523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458200" y="1097280"/>
            <a:ext cx="2880360" cy="80467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보수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1.49Q/일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66%</a:t>
            </a:r>
          </a:p>
        </p:txBody>
      </p:sp>
      <p:sp>
        <p:nvSpPr>
          <p:cNvPr id="6" name="Rectangle 5"/>
          <p:cNvSpPr/>
          <p:nvPr/>
        </p:nvSpPr>
        <p:spPr>
          <a:xfrm>
            <a:off x="8458200" y="2194560"/>
            <a:ext cx="2880360" cy="80467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2.87Q/일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76%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58200" y="3291839"/>
            <a:ext cx="2880360" cy="80467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낙관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4.79Q/일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84%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4389120"/>
            <a:ext cx="2880360" cy="80467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전력제약·효율상승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2.69Q/일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전력 전환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capacity는 계약 전력이 아니라 실제 추론 GW에서 나온다.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234440"/>
          <a:ext cx="69494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0" y="1234440"/>
            <a:ext cx="3063240" cy="91440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계약 → 가동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77%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operational deployment ratio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2423160"/>
            <a:ext cx="3063240" cy="91440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AI IT → 추론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기준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611880"/>
            <a:ext cx="3063240" cy="91440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학습 잔존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7.3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0으로 가정하지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모델 보유 업체별 토큰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호스팅 capacity는 모델 소유권이 명확한 경우 model owner 기준으로 귀속한다.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097280"/>
          <a:ext cx="109728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15000"/>
            <a:ext cx="10607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Microsoft/OpenAI 중복 처리: OpenAI 모델 output은 OpenAI model-owner로 귀속하고, Microsoft row는 Microsoft-owned/serving burden 가정을 반영한다.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Fact anchor는 모델을 조여주지만 telemetry를 대체하지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공개 fact는 모델 규모와 capacity 상한을 제한하고, active GW와 utilization은 여전히 추정치다.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OpenAI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Oracle 4.5GW + Stargate 10GW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capacity 상한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143000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Google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Ironwood 9,216 chips / 42.5 exaflops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tokens/MW 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58568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DeepSeek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671B total / 37B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258568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Alibaba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Qwen3 235B / 22B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374136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xAI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Colossus 100k Hopper GPU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cluster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374136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Microsoft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Phi-4 14B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owned model anchor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89704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Tencent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Hunyuan 100B+ / 2T+ tokens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model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489704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Meta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Llama 4 109B/400B, 17B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 model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상세 출처는 Excel 01_sources 및 02a_fact_anchors에 수록 | 생성일 2026-05-18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Benchmark sanity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첨부 엑셀의 effective active params와 GPU count 방식을 별도 reference layer로 통합했다.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4523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75320" y="132588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Main forecast는 tokens/sec/MW 방식.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Benchmark layer는 GPU 수와 effective active params로 sanity check.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Closed model benchmark는 proxy이므로 결론이 아니라 guardrail.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큰 괴리는 confidence downgrade 신호.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Energy sanity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A08 Cycle 1: Joule/IBM/2026 serving 논문은 Base 숫자 변경보다 energy/query 검증 레이어를 요구한다.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04088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909560" y="1280160"/>
            <a:ext cx="347472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Base tokens/MW는 아직 유지.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energy/query와 joules/token으로 sanity check 추가.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agentic long-context는 energy/token을 악화시킬 수 있음.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optimized serving은 개선 가능하지만 company fact가 아님.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Sources: Joule inference energy, IBM P/D disaggregation, SemiAnalysis InferenceX | 생성일 2026-05-18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Utilization은 GPU 점유율이 아니라 SLO 제약 평균값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A09 Cycle 1: TTFT/TPOT, prefill-decode allocation, batchability, placement가 realized utilization을 제한한다.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31520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0" y="1234440"/>
            <a:ext cx="324612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Strict-SLO는 reserve 때문에 평균 output 하락.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Batchable workload는 utilization과 tokens/MW 동시 개선 가능.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Agentic long-context는 throughput과 placement를 압박.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Base band는 유지하고 sensitivity로 분리.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Sources: IBM P/D disaggregation, SLO-aware P/D allocation, Prefill-as-a-Service | 생성일 2026-05-18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추론 비중 fact-check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이 모델은 2026년 60%+ 추론 GW를 fact로 취급하지 않는다.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234440"/>
          <a:ext cx="65836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1325880"/>
            <a:ext cx="36118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2026: 56%, 60% 미만.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낙관 2026: 61%, upside scenario에서만 허용.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2030: 76%, 상용 serving 확대 반영.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모든 case에서 학습 capacity는 계속 유의미하게 남김.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모델 보유 업체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Core row는 데이터센터 host가 아니라 상용 LLM owner다.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337560" cy="429768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대형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GPT / o-series / 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Anthropic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Claude Opus / Sonnet / Haiku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Google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Gemini / Gemma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42816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17136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Llama / Meta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992624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Microsoft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266944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Phi / MAI / Copilot model mix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1234440"/>
            <a:ext cx="3337560" cy="429768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challenger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xAI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Grok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234440"/>
            <a:ext cx="3337560" cy="429768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중국 model owner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DeepSeek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DeepSeek-V3 / R1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Alibaba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Qwen / Qwen3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220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Tencent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Hunyuan / Hy3 / Yuanbao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메모리 마케팅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 성장은 allocation, qualification, attach-rate 영업 motion으로 전환된다.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074920" cy="107899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HBM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OpenAI/Google/Meta/xAI ramp → LTA, HBM4 roadmap lock-in, second-source qualification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074920" cy="107899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DDR5 / MRDIMM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추론 fleet 확대 → CPU-side memory density와 bandwidth attach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5074920" cy="107899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Enterprise SSD / QLC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RAG, checkpointing, vector retrieval → TCO, endurance, retrieval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926080"/>
            <a:ext cx="5074920" cy="107899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CXL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고가동률 추론 cluster → memory expansion과 utilization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984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권장 sales motion: model owner별 account brief, 제품별 proof pack, scenario envelope에 연결된 pricing/mix 논리.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근거 신뢰도 감사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가장 강한 근거는 모델 크기와 발표 capacity이며, 가장 약한 부분은 active serving utilization이다.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0F9F6E"/>
                </a:solidFill>
              </a:defRPr>
            </a:pPr>
            <a:r>
              <a:t>높음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23444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model card / technical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23444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DeepSeek 671B/37B, Qwen3 235B/22B, Phi-4 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중간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capacity 또는 hardware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9456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OpenAI/Stargate GW, Google Ironwood, xAI Colossus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4741E"/>
                </a:solidFill>
              </a:defRPr>
            </a:pPr>
            <a:r>
              <a:t>낮음-중간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5468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Active GW와 추론/학습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5468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telemetry 또는 site-level disclosure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93838"/>
                </a:solidFill>
              </a:defRPr>
            </a:pPr>
            <a:r>
              <a:t>민감도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11480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tokens/sec/MW와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company fact가 아니라 scenario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22037"/>
                </a:solidFill>
              </a:defRPr>
            </a:pPr>
            <a:r>
              <a:t>Replacement path: site-level MW activation, model routing mix, production API traffic, 모델/context별 실측 tokens/sec/MW.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Hallucination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임원 보고 전 숫자와 문구가 fact/proxy/scenario를 혼동하지 않는지 확인합니다.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749808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출처 존재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URL/title/date 직접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43000"/>
            <a:ext cx="5166360" cy="749808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숫자 직접 인용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4.5GW, 671B/37B 등 원문 매칭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94560"/>
            <a:ext cx="5166360" cy="749808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Fact/Estimate 분리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active GW·utilization은 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194560"/>
            <a:ext cx="5166360" cy="749808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Closed model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precise parameter 금지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46120"/>
            <a:ext cx="5166360" cy="749808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Host attribution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AWS/Oracle/Google host와 model owner 분리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3246120"/>
            <a:ext cx="5166360" cy="749808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Benchmark proxy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closed model 결론이 아니라 sanity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97679"/>
            <a:ext cx="5166360" cy="749808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단위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daily vs annual token 혼동 금지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4297679"/>
            <a:ext cx="5166360" cy="749808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Outlier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benchmark_vs_model ±50% 초과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22037"/>
                </a:solidFill>
              </a:defRPr>
            </a:pPr>
            <a:r>
              <a:t>전체 체크리스트는 Excel `11_hallucination_checklist`에 수록되어 있으며, source screenshot/quote pack으로 최종 sign-off해야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부록: 계산 검증 컨트롤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전체 감사 가능한 모델은 workbook에 수록되어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00_formula_assumptions: 모든 계산식과 해석 방식.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02a_fact_anchors: 확인된 공개 numeric anchor, confidence, replacement path.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08a/08b/08c/08d: 시나리오 정의, 업체-연도별 forecast, aggregate summary, benchmark reference.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11_hallucination_checklist: fact/proxy/scenario 혼동 방지용 검토표.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Validation: active power는 contracted power 이하, 학습+추론=100%, 표시값으로 token/day 재계산 일치.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