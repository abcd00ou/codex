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토큰/일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낙관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전력제약·효율상승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0.233</c:v>
                </c:pt>
                <c:pt idx="1">
                  <c:v>0.556</c:v>
                </c:pt>
                <c:pt idx="2">
                  <c:v>1.039</c:v>
                </c:pt>
                <c:pt idx="3">
                  <c:v>1.732</c:v>
                </c:pt>
                <c:pt idx="4">
                  <c:v>2.693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계약</c:v>
                </c:pt>
                <c:pt idx="1">
                  <c:v>가동</c:v>
                </c:pt>
                <c:pt idx="2">
                  <c:v>AI IT load</c:v>
                </c:pt>
                <c:pt idx="3">
                  <c:v>추론</c:v>
                </c:pt>
                <c:pt idx="4">
                  <c:v>학습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54.8</c:v>
                </c:pt>
                <c:pt idx="1">
                  <c:v>42.1</c:v>
                </c:pt>
                <c:pt idx="2">
                  <c:v>30.32</c:v>
                </c:pt>
                <c:pt idx="3">
                  <c:v>23.021</c:v>
                </c:pt>
                <c:pt idx="4">
                  <c:v>7.3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tokens/일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우리 모델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214.197</c:v>
                </c:pt>
                <c:pt idx="1">
                  <c:v>195.323</c:v>
                </c:pt>
                <c:pt idx="2">
                  <c:v>146.835</c:v>
                </c:pt>
                <c:pt idx="3">
                  <c:v>135.885</c:v>
                </c:pt>
                <c:pt idx="4">
                  <c:v>116.181</c:v>
                </c:pt>
                <c:pt idx="5">
                  <c:v>94.827</c:v>
                </c:pt>
                <c:pt idx="6">
                  <c:v>61.085</c:v>
                </c:pt>
                <c:pt idx="7">
                  <c:v>45.851</c:v>
                </c:pt>
                <c:pt idx="8">
                  <c:v>38.091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reference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68.9</c:v>
                </c:pt>
                <c:pt idx="1">
                  <c:v>56.678</c:v>
                </c:pt>
                <c:pt idx="2">
                  <c:v>149.856</c:v>
                </c:pt>
                <c:pt idx="3">
                  <c:v>50.263</c:v>
                </c:pt>
                <c:pt idx="4">
                  <c:v>33.247</c:v>
                </c:pt>
                <c:pt idx="5">
                  <c:v>11.103</c:v>
                </c:pt>
                <c:pt idx="6">
                  <c:v>13.793</c:v>
                </c:pt>
                <c:pt idx="7">
                  <c:v>14.113</c:v>
                </c:pt>
                <c:pt idx="8">
                  <c:v>84.878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0.317</c:v>
                </c:pt>
                <c:pt idx="1">
                  <c:v>0.587</c:v>
                </c:pt>
                <c:pt idx="2">
                  <c:v>0.863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0.289</c:v>
                </c:pt>
                <c:pt idx="1">
                  <c:v>0.535</c:v>
                </c:pt>
                <c:pt idx="2">
                  <c:v>0.787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0.172</c:v>
                </c:pt>
                <c:pt idx="1">
                  <c:v>0.318</c:v>
                </c:pt>
                <c:pt idx="2">
                  <c:v>0.468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0.421</c:v>
                </c:pt>
                <c:pt idx="1">
                  <c:v>0.587</c:v>
                </c:pt>
                <c:pt idx="2">
                  <c:v>0.723</c:v>
                </c:pt>
                <c:pt idx="3">
                  <c:v>0.423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0.384</c:v>
                </c:pt>
                <c:pt idx="1">
                  <c:v>0.535</c:v>
                </c:pt>
                <c:pt idx="2">
                  <c:v>0.659</c:v>
                </c:pt>
                <c:pt idx="3">
                  <c:v>0.386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0.289</c:v>
                </c:pt>
                <c:pt idx="1">
                  <c:v>0.402</c:v>
                </c:pt>
                <c:pt idx="2">
                  <c:v>0.496</c:v>
                </c:pt>
                <c:pt idx="3">
                  <c:v>0.29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0.479</c:v>
                </c:pt>
                <c:pt idx="1">
                  <c:v>0.559</c:v>
                </c:pt>
                <c:pt idx="2">
                  <c:v>0.609</c:v>
                </c:pt>
                <c:pt idx="3">
                  <c:v>0.579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0.659</c:v>
                </c:pt>
                <c:pt idx="1">
                  <c:v>0.759</c:v>
                </c:pt>
                <c:pt idx="2">
                  <c:v>0.839</c:v>
                </c:pt>
                <c:pt idx="3">
                  <c:v>0.799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임원 보고용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모델 보유 업체 기준으로 OpenAI, Anthropic, Google, Meta, Microsoft, xAI, DeepSeek, Alibaba, Tencent의 추론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토큰/일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9개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추론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23.0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추론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 추론 비중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GW·추론 비중·tokens/MW는 명시적 시나리오로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임원 요약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기준 시나리오는 2026년 0.19Q/day에서 2030년 2.55Q/day로 확대되지만, 신뢰도는 전력 가동과 serving 효율에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2030년 기준 토큰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2026년 추론 60%+는 공식 fact가 아니므로 기준은 56%, 낙관만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2030년 기준 추론 비중 76%는 상용 serving 확대를 반영하되, 학습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파라미터 근거가 강하지만, active capacity 투명성은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기준 업체 순위,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효율의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가동 전력과 AI IT load를 거쳐 추론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계약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가동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추론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학습/추론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토큰/일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추론 토큰/일 = 추론 GW × 1,000 × tokens/sec/MW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토큰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토큰 capacity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낙관/기준/보수 시나리오는 전력 가동 속도, 추론 비중, MoE·serving 효율을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보수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1.49Q/일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낙관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4.79Q/일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전력제약·효율상승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2.69Q/일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전력 전환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capacity는 계약 전력이 아니라 실제 추론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계약 → 가동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추론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기준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학습 잔존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0으로 가정하지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모델 보유 업체별 토큰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호스팅 capacity는 모델 소유권이 명확한 경우 model owner 기준으로 귀속한다.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중복 처리: OpenAI 모델 output은 OpenAI model-owner로 귀속하고, Microsoft row는 Microsoft-owned/serving burden 가정을 반영한다.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anchor는 모델을 조여주지만 telemetry를 대체하지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공개 fact는 모델 규모와 capacity 상한을 제한하고, active GW와 utilization은 여전히 추정치다.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Oracle 4.5GW + Stargate 10GW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상한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4 109B/400B,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상세 출처는 Excel 01_sources 및 02a_fact_anchors에 수록 | 생성일 2026-05-18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Benchmark sanity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첨부 엑셀의 effective active params와 GPU count 방식을 별도 reference layer로 통합했다.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452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75320" y="132588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Main forecast는 tokens/sec/MW 방식.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Benchmark layer는 GPU 수와 effective active params로 sanity check.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Closed model benchmark는 proxy이므로 결론이 아니라 guardrail.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큰 괴리는 confidence downgrade 신호.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Energy sanity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A08 Cycle 1: Joule/IBM/2026 serving 논문은 Base 숫자 변경보다 energy/query 검증 레이어를 요구한다.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0408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09560" y="1280160"/>
            <a:ext cx="347472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tokens/MW는 아직 유지.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energy/query와 joules/token으로 sanity check 추가.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energy/token을 악화시킬 수 있음.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optimized serving은 개선 가능하지만 company fact가 아님.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Joule inference energy, IBM P/D disaggregation, SemiAnalysis InferenceX | 생성일 2026-05-18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Utilization은 GPU 점유율이 아니라 SLO 제약 평균값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A09 Cycle 1: TTFT/TPOT, prefill-decode allocation, batchability, placement가 realized utilization을 제한한다.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31520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0" y="1234440"/>
            <a:ext cx="32461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Strict-SLO는 reserve 때문에 평균 output 하락.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Batchable workload는 utilization과 tokens/MW 동시 개선 가능.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throughput과 placement를 압박.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band는 유지하고 sensitivity로 분리.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IBM P/D disaggregation, SLO-aware P/D allocation, Prefill-as-a-Service | 생성일 2026-05-18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추론 비중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이 모델은 2026년 60%+ 추론 GW를 fact로 취급하지 않는다.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2026: 56%, 60% 미만.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낙관 2026: 61%, upside scenario에서만 허용.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2030: 76%, 상용 serving 확대 반영.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모든 case에서 학습 capacity는 계속 유의미하게 남김.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모델 보유 업체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row는 데이터센터 host가 아니라 상용 LLM owner다.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대형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Anthropic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Claude Opus / Sonnet / Haiku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992624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266944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challenger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중국 model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메모리 마케팅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 성장은 allocation, qualification, attach-rate 영업 motion으로 전환된다.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추론 fleet 확대 → CPU-side memory density와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고가동률 추론 cluster → memory expansion과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권장 sales motion: model owner별 account brief, 제품별 proof pack, scenario envelope에 연결된 pricing/mix 논리.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근거 신뢰도 감사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가장 강한 근거는 모델 크기와 발표 capacity이며, 가장 약한 부분은 active serving utilization이다.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높음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model card /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capacity 또는 hardware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낮음-중간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GW와 추론/학습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telemetry 또는 site-level disclosure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민감도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tokens/sec/MW와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company fact가 아니라 scenario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모델/context별 실측 tokens/sec/MW.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InferenceX는 benchmark DB로 별도 수집한다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대시보드 DOM이 아니라 GitHub release dump와 app schema를 기준으로 A08/A09 sensitivity를 갱신한다.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16636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최신 dump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db-dump/2026-05-11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inferencex-dump-2026-05-11.zip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59" y="1234440"/>
            <a:ext cx="516636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Benchmark rows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72091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profile 298 / eval 1048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516636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Evidence class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Proxy / Benchmark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company production telemetry로 직접 사용 금지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59" y="2743200"/>
            <a:ext cx="5166360" cy="9601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Workbook sheets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12d / 12e / 12f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benchmark, metric profile, accuracy evals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6132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22037"/>
                </a:solidFill>
              </a:defRPr>
            </a:pPr>
            <a:r>
              <a:t>Inference Performance → tokens/MW, latency | Accuracy Evals → precision quality guardrail | Historical Trends → software improvement CAGR | TCO/GPU Specs → cost/token and hardware sanity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59552"/>
            <a:ext cx="105613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검증 digest: 3f59aa2b4db7a0449a7bb030... / 원천 dump는 git ignore, 정규화 CSV만 산출물화.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Hallucination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임원 보고 전 숫자와 문구가 fact/proxy/scenario를 혼동하지 않는지 확인합니다.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출처 존재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URL/title/date 직접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4300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숫자 직접 인용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4.5GW, 671B/37B 등 원문 매칭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Fact/Estimate 분리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active GW·utilization은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94560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Closed model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precise parameter 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4612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Host attribution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AWS/Oracle/Google host와 model owner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24612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Benchmark proxy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closed model 결론이 아니라 sanity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97679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단위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daily vs annual token 혼동 금지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297679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Outlier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benchmark_vs_model ±50% 초과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22037"/>
                </a:solidFill>
              </a:defRPr>
            </a:pPr>
            <a:r>
              <a:t>전체 체크리스트는 Excel `11_hallucination_checklist`에 수록되어 있으며, source screenshot/quote pack으로 최종 sign-off해야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부록: 계산 검증 컨트롤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전체 감사 가능한 모델은 workbook에 수록되어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모든 계산식과 해석 방식.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확인된 공개 numeric anchor, confidence,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08a/08b/08c/08d: 시나리오 정의, 업체-연도별 forecast, aggregate summary, benchmark reference.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11_hallucination_checklist: fact/proxy/scenario 혼동 방지용 검토표.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power는 contracted power 이하, 학습+추론=100%, 표시값으로 token/day 재계산 일치.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