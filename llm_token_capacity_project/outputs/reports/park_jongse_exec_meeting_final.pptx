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db325f35094c37" /><Relationship Type="http://schemas.openxmlformats.org/officeDocument/2006/relationships/extended-properties" Target="/docProps/app.xml" Id="Rbd87f1820ea34f86" /><Relationship Type="http://schemas.openxmlformats.org/officeDocument/2006/relationships/officeDocument" Target="/ppt/presentation.xml" Id="Rf94822c3e6be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330654d2147a2"/>
  </p:sldMasterIdLst>
  <p:notesMasterIdLst>
    <p:notesMasterId xmlns:r="http://schemas.openxmlformats.org/officeDocument/2006/relationships" r:id="R1be2fd418f984844"/>
  </p:notesMasterIdLst>
  <p:sldIdLst>
    <p:sldId xmlns:r="http://schemas.openxmlformats.org/officeDocument/2006/relationships" id="256" r:id="R2e66522f4a3e4b05"/>
    <p:sldId xmlns:r="http://schemas.openxmlformats.org/officeDocument/2006/relationships" id="257" r:id="R29530cba9f9d4bfc"/>
    <p:sldId xmlns:r="http://schemas.openxmlformats.org/officeDocument/2006/relationships" id="258" r:id="Rb22efb18a4c54673"/>
    <p:sldId xmlns:r="http://schemas.openxmlformats.org/officeDocument/2006/relationships" id="259" r:id="Ra63da93aa1f54dfc"/>
    <p:sldId xmlns:r="http://schemas.openxmlformats.org/officeDocument/2006/relationships" id="260" r:id="R7304fe99a6824413"/>
    <p:sldId xmlns:r="http://schemas.openxmlformats.org/officeDocument/2006/relationships" id="261" r:id="R79223a65b72e4120"/>
    <p:sldId xmlns:r="http://schemas.openxmlformats.org/officeDocument/2006/relationships" id="262" r:id="R5c6869c8af634633"/>
    <p:sldId xmlns:r="http://schemas.openxmlformats.org/officeDocument/2006/relationships" id="263" r:id="Rdfa672ddca4d43b4"/>
    <p:sldId xmlns:r="http://schemas.openxmlformats.org/officeDocument/2006/relationships" id="264" r:id="Rca0cf8a97a2b4466"/>
    <p:sldId xmlns:r="http://schemas.openxmlformats.org/officeDocument/2006/relationships" id="265" r:id="Rb6f6b0fb2b384c7b"/>
    <p:sldId xmlns:r="http://schemas.openxmlformats.org/officeDocument/2006/relationships" id="266" r:id="R0601479b19064c80"/>
    <p:sldId xmlns:r="http://schemas.openxmlformats.org/officeDocument/2006/relationships" id="267" r:id="Rb8554500b44747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ee5267c1a4be9" /><Relationship Type="http://schemas.openxmlformats.org/officeDocument/2006/relationships/slideMaster" Target="/ppt/slideMasters/slideMaster1.xml" Id="Rfb0330654d2147a2" /><Relationship Type="http://schemas.openxmlformats.org/officeDocument/2006/relationships/notesMaster" Target="/ppt/notesMasters/notesMaster1.xml" Id="R1be2fd418f984844" /><Relationship Type="http://schemas.openxmlformats.org/officeDocument/2006/relationships/presProps" Target="/ppt/presProps.xml" Id="R5105c8584c4f4bfd" /><Relationship Type="http://schemas.openxmlformats.org/officeDocument/2006/relationships/tableStyles" Target="/ppt/tableStyles.xml" Id="Rcacfa226578341a4" /><Relationship Type="http://schemas.openxmlformats.org/officeDocument/2006/relationships/slide" Target="/ppt/slides/slide1.xml" Id="R2e66522f4a3e4b05" /><Relationship Type="http://schemas.openxmlformats.org/officeDocument/2006/relationships/slide" Target="/ppt/slides/slide2.xml" Id="R29530cba9f9d4bfc" /><Relationship Type="http://schemas.openxmlformats.org/officeDocument/2006/relationships/slide" Target="/ppt/slides/slide3.xml" Id="Rb22efb18a4c54673" /><Relationship Type="http://schemas.openxmlformats.org/officeDocument/2006/relationships/slide" Target="/ppt/slides/slide4.xml" Id="Ra63da93aa1f54dfc" /><Relationship Type="http://schemas.openxmlformats.org/officeDocument/2006/relationships/slide" Target="/ppt/slides/slide5.xml" Id="R7304fe99a6824413" /><Relationship Type="http://schemas.openxmlformats.org/officeDocument/2006/relationships/slide" Target="/ppt/slides/slide6.xml" Id="R79223a65b72e4120" /><Relationship Type="http://schemas.openxmlformats.org/officeDocument/2006/relationships/slide" Target="/ppt/slides/slide7.xml" Id="R5c6869c8af634633" /><Relationship Type="http://schemas.openxmlformats.org/officeDocument/2006/relationships/slide" Target="/ppt/slides/slide8.xml" Id="Rdfa672ddca4d43b4" /><Relationship Type="http://schemas.openxmlformats.org/officeDocument/2006/relationships/slide" Target="/ppt/slides/slide9.xml" Id="Rca0cf8a97a2b4466" /><Relationship Type="http://schemas.openxmlformats.org/officeDocument/2006/relationships/slide" Target="/ppt/slides/slide10.xml" Id="Rb6f6b0fb2b384c7b" /><Relationship Type="http://schemas.openxmlformats.org/officeDocument/2006/relationships/slide" Target="/ppt/slides/slide11.xml" Id="R0601479b19064c80" /><Relationship Type="http://schemas.openxmlformats.org/officeDocument/2006/relationships/slide" Target="/ppt/slides/slide12.xml" Id="Rb8554500b447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f4c7088678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37c6dc26c74716" /><Relationship Type="http://schemas.openxmlformats.org/officeDocument/2006/relationships/notesMaster" Target="/ppt/notesMasters/notesMaster1.xml" Id="Rba1d3f243186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e64445c81492b" /><Relationship Type="http://schemas.openxmlformats.org/officeDocument/2006/relationships/notesMaster" Target="/ppt/notesMasters/notesMaster1.xml" Id="R650095802e0c46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877b58b5184fac" /><Relationship Type="http://schemas.openxmlformats.org/officeDocument/2006/relationships/notesMaster" Target="/ppt/notesMasters/notesMaster1.xml" Id="Rc50d91aacc7745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f1141145eb4afd" /><Relationship Type="http://schemas.openxmlformats.org/officeDocument/2006/relationships/notesMaster" Target="/ppt/notesMasters/notesMaster1.xml" Id="Ra8b9339a62004f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bbd35d7b504190" /><Relationship Type="http://schemas.openxmlformats.org/officeDocument/2006/relationships/notesMaster" Target="/ppt/notesMasters/notesMaster1.xml" Id="Rdd616e82e9e447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515165c7a346ed" /><Relationship Type="http://schemas.openxmlformats.org/officeDocument/2006/relationships/notesMaster" Target="/ppt/notesMasters/notesMaster1.xml" Id="Ra9d0253f6cde45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193dc277264c4d" /><Relationship Type="http://schemas.openxmlformats.org/officeDocument/2006/relationships/notesMaster" Target="/ppt/notesMasters/notesMaster1.xml" Id="R048cdc575a0f4a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9a46967fab4697" /><Relationship Type="http://schemas.openxmlformats.org/officeDocument/2006/relationships/notesMaster" Target="/ppt/notesMasters/notesMaster1.xml" Id="R217817602bc045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0ed3ca640f44ad" /><Relationship Type="http://schemas.openxmlformats.org/officeDocument/2006/relationships/notesMaster" Target="/ppt/notesMasters/notesMaster1.xml" Id="Rbd199b1f76e447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f1db9fbdc94b52" /><Relationship Type="http://schemas.openxmlformats.org/officeDocument/2006/relationships/notesMaster" Target="/ppt/notesMasters/notesMaster1.xml" Id="Ra0b57d5d24154c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20a941a4c249af" /><Relationship Type="http://schemas.openxmlformats.org/officeDocument/2006/relationships/notesMaster" Target="/ppt/notesMasters/notesMaster1.xml" Id="Rb929626782ff41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77c6fe8ce7492b" /><Relationship Type="http://schemas.openxmlformats.org/officeDocument/2006/relationships/notesMaster" Target="/ppt/notesMasters/notesMaster1.xml" Id="Rba8a2e3317c240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91a5285b6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c4a6fa2f8404c" /><Relationship Type="http://schemas.openxmlformats.org/officeDocument/2006/relationships/slideLayout" Target="/ppt/slideLayouts/slideLayout1.xml" Id="Rc3fff5c10176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ff5c10176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71c5e33f440db" /><Relationship Type="http://schemas.openxmlformats.org/officeDocument/2006/relationships/notesSlide" Target="/ppt/notesSlides/notesSlide1.xml" Id="Rb3f7ccbfe00e4b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30c98e9d64ea7" /><Relationship Type="http://schemas.openxmlformats.org/officeDocument/2006/relationships/notesSlide" Target="/ppt/notesSlides/notesSlide2.xml" Id="R9c253654d34546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6f63e58fc4983" /><Relationship Type="http://schemas.openxmlformats.org/officeDocument/2006/relationships/notesSlide" Target="/ppt/notesSlides/notesSlide3.xml" Id="R556ec4a446fc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82f08e914a6b" /><Relationship Type="http://schemas.openxmlformats.org/officeDocument/2006/relationships/notesSlide" Target="/ppt/notesSlides/notesSlide4.xml" Id="Ra4f6efb5e9bd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932ae9515410c" /><Relationship Type="http://schemas.openxmlformats.org/officeDocument/2006/relationships/notesSlide" Target="/ppt/notesSlides/notesSlide5.xml" Id="R0ccd6569387e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be7c007e84898" /><Relationship Type="http://schemas.openxmlformats.org/officeDocument/2006/relationships/notesSlide" Target="/ppt/notesSlides/notesSlide6.xml" Id="R5ac827f10446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d72f84d154fa8" /><Relationship Type="http://schemas.openxmlformats.org/officeDocument/2006/relationships/notesSlide" Target="/ppt/notesSlides/notesSlide7.xml" Id="R032ce405746f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59d40ee574e34" /><Relationship Type="http://schemas.openxmlformats.org/officeDocument/2006/relationships/notesSlide" Target="/ppt/notesSlides/notesSlide8.xml" Id="R94e320348fab48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0a7c2d9fb4ac2" /><Relationship Type="http://schemas.openxmlformats.org/officeDocument/2006/relationships/notesSlide" Target="/ppt/notesSlides/notesSlide9.xml" Id="R61969a7c1bc143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f2b57c6fb4f6c" /><Relationship Type="http://schemas.openxmlformats.org/officeDocument/2006/relationships/notesSlide" Target="/ppt/notesSlides/notesSlide10.xml" Id="Reb8fdffad07f4f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23a63fab04c05" /><Relationship Type="http://schemas.openxmlformats.org/officeDocument/2006/relationships/notesSlide" Target="/ppt/notesSlides/notesSlide11.xml" Id="R6bb9c8cbacc64e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fed3587114f65" /><Relationship Type="http://schemas.openxmlformats.org/officeDocument/2006/relationships/notesSlide" Target="/ppt/notesSlides/notesSlide12.xml" Id="R06c918e8dddf45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C5EE0-6781-4919-803D-FE8E3DD8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9525">
            <a:solidFill>
              <a:srgbClr val="12141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E306D-096D-4D30-AB21-D1B5E65B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EXECUTIVE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A0755-FE85-4B8B-8FC4-FE97AE38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21417"/>
                </a:solidFill>
              </a:defRPr>
            </a:pPr>
            <a:r>
              <a:rPr sz="3900" b="1">
                <a:solidFill>
                  <a:srgbClr val="121417"/>
                </a:solidFill>
              </a:rPr>
              <a:t>박종세 교수 미팅 최종본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81869-8167-47F9-B8BC-EDAF338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6F"/>
                </a:solidFill>
              </a:defRPr>
            </a:pPr>
            <a:r>
              <a:rPr sz="1875" b="0">
                <a:solidFill>
                  <a:srgbClr val="59616F"/>
                </a:solidFill>
              </a:rPr>
              <a:t>전력 기반 LLM token capacity 모델을 어떻게 방어 가능한 보고 체계로 만들 것인가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7514F-C785-4387-90FC-C73C3BC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77F25-FDE4-4576-8782-6E8C227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F"/>
                </a:solidFill>
              </a:defRPr>
            </a:pPr>
            <a:r>
              <a:rPr sz="1200" b="1">
                <a:solidFill>
                  <a:srgbClr val="59616F"/>
                </a:solidFill>
              </a:rPr>
              <a:t>핵심 메시지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8DBAA-7988-44E0-8D61-B671ED1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</a:defRPr>
            </a:pPr>
            <a:r>
              <a:rPr sz="1575" b="1">
                <a:solidFill>
                  <a:srgbClr val="121417"/>
                </a:solidFill>
              </a:rPr>
              <a:t>공개 benchmark는 쓸 수 있다. 단, production telemetry처럼 말하면 안 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E5C06-E3CE-4438-8772-827E901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626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16F"/>
                </a:solidFill>
              </a:defRPr>
            </a:pPr>
            <a:r>
              <a:rPr sz="1200" b="0">
                <a:solidFill>
                  <a:srgbClr val="59616F"/>
                </a:solidFill>
              </a:rPr>
              <a:t>2026-07-23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41C8D-9FC1-4637-9864-75E2285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E1611-7E2F-463E-B7AB-BF79897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7260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0CAEE-6879-4362-978E-7375DE2E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ONE PAGE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7C82F-AD68-416C-912B-7E88979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결론은 산식이 아니라 기준 관리가 신뢰도를 만든다는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A5979-5476-4751-97D2-33A92255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02C4E-B815-4894-AC10-1CABB45A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AD4E2-B951-435F-A605-A6F9B42F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모델 방향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9D82-F5E9-40BF-BB96-5592B62A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B8A5A"/>
                </a:solidFill>
              </a:defRPr>
            </a:pPr>
            <a:r>
              <a:rPr sz="1950" b="1">
                <a:solidFill>
                  <a:srgbClr val="1B8A5A"/>
                </a:solidFill>
              </a:rPr>
              <a:t>타당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CC90-9091-4BCE-93CD-B5AEFD4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전력 envelope -&gt; token capacity 역산은 유효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9CAA6-14D4-4FF0-9301-BCA7A4C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D4B1E-8C18-49C4-A66A-AD145738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숫자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A5E24-266A-420C-A62E-D2DDE54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6E00"/>
                </a:solidFill>
              </a:defRPr>
            </a:pPr>
            <a:r>
              <a:rPr sz="1950" b="1">
                <a:solidFill>
                  <a:srgbClr val="B86E00"/>
                </a:solidFill>
              </a:rPr>
              <a:t>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03544-BEF4-47FA-94EB-F95DC95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회사별 실제 생산량으로 단정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82DDB-B0F2-4B99-92E2-BCBA81D5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98D78-E6FF-4F28-8E03-5E34D44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개선 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9B48D-0894-4B8C-A6D6-FA67398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95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Benchmark 조건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D0681-A6D4-469A-9DAF-85B40FCE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ISL/OSL, concurrency, latency, stack 추적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1DD38-C31C-4EB6-B39C-71D71532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78467-BB23-407B-827E-90492B4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1417"/>
                </a:solidFill>
              </a:defRPr>
            </a:pPr>
            <a:r>
              <a:rPr sz="1575" b="0">
                <a:solidFill>
                  <a:srgbClr val="121417"/>
                </a:solidFill>
              </a:rPr>
              <a:t>InferenceX는 public benchmark/proxy layer로 유지한다.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20DB5-477F-4817-AED1-3419B71A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5F29C-428D-479E-A282-9D1A6D3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1417"/>
                </a:solidFill>
              </a:defRPr>
            </a:pPr>
            <a:r>
              <a:rPr sz="1575" b="0">
                <a:solidFill>
                  <a:srgbClr val="121417"/>
                </a:solidFill>
              </a:rPr>
              <a:t>Generated output token과 input/prefill pressure를 분리한다.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08351-58B4-4438-AB53-B82279D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26E1D-9C28-4766-BA0B-6F4EEF10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1417"/>
                </a:solidFill>
              </a:defRPr>
            </a:pPr>
            <a:r>
              <a:rPr sz="1575" b="0">
                <a:solidFill>
                  <a:srgbClr val="121417"/>
                </a:solidFill>
              </a:rPr>
              <a:t>Short, long, agentic workload를 나눠 TPS/MW를 계산한다.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D9883-9A53-4E69-892F-446CE579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BE68C-CBC4-44EF-8A4C-A341D67D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967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1417"/>
                </a:solidFill>
              </a:defRPr>
            </a:pPr>
            <a:r>
              <a:rPr sz="1575" b="0">
                <a:solidFill>
                  <a:srgbClr val="121417"/>
                </a:solidFill>
              </a:rPr>
              <a:t>LLMServingSim은 production-like 보정과 병목 검증에 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3EE84-6B6D-48EC-B4C1-A431BC3A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EE34C-D984-4D4D-BBE2-E50FF19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7850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DC5B0-80EE-4E26-8C59-095A86F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MEETING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2E501-0280-4954-980F-18DFCA1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교수 미팅의 역할은 모델 검증보다 모델의 사용 범위를 정하는 데 있었다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6095F-8C82-4DA3-9BDF-2D95ADEC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5086B-BBC5-451F-B7FD-F0DA03A5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528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77078-3929-4CD7-A7CA-1637D5DD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71918-77D1-4A0E-9252-D5F649A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B7382-3622-43C7-9932-BD4292B7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23622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공개 benchmark와 전력 capacity로 상용 LLM token supply를 추정할 수 있는가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D5061-B317-4803-BA42-C899CAAF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528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7DCB0-AB50-4EB8-97EB-4CD261D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802CE-0456-4952-B47E-6B4333A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교수 답변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A67D-F590-4924-B403-C35C510C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23622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방향은 맞지만 closed model, serving stack, batching, cache 정책이 불투명하다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35470-2643-4E94-88EF-DBDF28F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33528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6D8EC-0257-44A9-8FF4-5DFF0273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2C6E5-FB98-46A1-A62D-38717F02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F6D45-6F21-414B-B0F1-7C2CD1CB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3622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정확한 생산량 예측이 아니라 조건 명시형 scenario estimate로 표현해야 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5929F-2B04-46E5-9FA3-BB90C8A4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</a:defRPr>
            </a:pPr>
            <a:r>
              <a:rPr sz="1575" b="1">
                <a:solidFill>
                  <a:srgbClr val="121417"/>
                </a:solidFill>
              </a:rPr>
              <a:t>의미: 모델의 강점은 숫자 하나가 아니라, 공개 근거와 불확실성을 분리해 계속 갱신 가능한 구조에 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54F94E-D842-4C61-A95F-8D62039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89B21-45D3-433D-AF10-F6DF9F35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4884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6720E-D986-4A3F-ADE1-11759CB2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TECHNICAL FINDING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F79E0-FB8C-446A-87C2-501214B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FLOPS만으로는 token capacity를 설명하기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7DEB1-7C41-46CD-B518-FB89FAA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C51DD-0A3E-4B1A-AC1E-6428767C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95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4CB38-59D8-48C5-A35E-C78D30B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2C18C-2FD2-4897-8F6D-E8F4C115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62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교수 미팅에서 확인한 의미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5207B-8563-495C-AB3A-C99DFC8D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모델 반영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72C15-46E1-472B-9A2E-ACDD2F6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1A88F-8ACA-4395-89C3-DF78FA36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FLOPS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79D2E-F6D4-494A-9D96-AC5DEE16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상한선에 가까운 이론 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F4B6E-9375-47E1-BD74-8FACFC50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보조 sanity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0EC97-B231-4BB4-B247-32C250CC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BA170-F4CA-44A5-9C2F-D17442E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Decode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8335-099D-4BFE-A24D-6FBBF294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memory bandwidth와 KV cache가 병목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546C3-2548-463B-9D73-17F7D186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output TPS/MW 중심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A4C89-80B9-48DC-9A90-195DE98E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CF204-2B84-44C2-A21E-06A3749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Prefill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92732-209A-4504-A7D9-E86151F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긴 input과 cache 재사용에 민감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C3828-050D-4019-B3DC-07C3245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input pressure 진단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00C31-0D99-462D-A42F-96E9165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26409-AAD5-4C0F-B689-B8D02375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MoE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9081D-F0C2-4EBD-B5F7-089EB475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total parameter보다 active parameter가 중요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2A1CE-6E56-4E65-AD68-420109F8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dense/MoE 분리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63C5B-E840-426A-B106-C8C8BE0E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결론: headline은 output token capacity로 두되, prefill/KV/cache는 병목 진단 지표로 따로 남겨야 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8B9DD-6D0F-48D7-A778-374994A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1A220-944C-4A3B-A954-D2EBE38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62436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C96D4-01F3-4C26-B29F-F5419553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BENCHMARK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34B7-E887-4B37-878D-81EB650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InferenceX는 믿을 수 있는 출발점이지만, 조건이 맞을 때만 비교 가능하다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425FE-4695-4EEC-B32F-2C786C2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EB8CD-5E7A-4879-B988-CBD9609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CC13A-17C6-4F54-B08B-B00F795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520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좋은 점: model, GPU, framework, precision, ISL/OSL, concurrency가 row 단위로 남는다.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F998C-712F-411E-AC4A-4980E6D5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F093E-2AE4-4523-A090-29292542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20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한계: 실제 traffic mix, cache warmness, multi-tenant scheduling, failure/retry는 다르다.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5BF9-015B-4171-9B78-C7AD639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9495E-A7AB-4AA9-957F-E4782B4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520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사용 방식: production telemetry가 아니라 public output-token TPS/MW anchor로 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AA60-5D36-4F35-A64D-B8A7F4D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93B23-79C5-4332-BE05-CE5ABD6C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520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필수 caveat: benchmark/proxy only, not company production telemetry.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16745-5046-491A-B9D9-A9B25CF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D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1561A-E252-4029-A7CC-0F5AAB5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비교할 때 반드시 맞출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307C2-AB3C-4FF9-9AE9-01A60B1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D397E-AFF1-4D65-9899-14BE53C7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417"/>
                </a:solidFill>
              </a:defRPr>
            </a:pPr>
            <a:r>
              <a:rPr sz="1350" b="0">
                <a:solidFill>
                  <a:srgbClr val="121417"/>
                </a:solidFill>
              </a:rPr>
              <a:t>GPU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C99BD-5B54-4447-95CA-1E447B04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A9C2A-D424-4DCD-A6FA-F7CAA6A7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417"/>
                </a:solidFill>
              </a:defRPr>
            </a:pPr>
            <a:r>
              <a:rPr sz="1350" b="0">
                <a:solidFill>
                  <a:srgbClr val="121417"/>
                </a:solidFill>
              </a:rPr>
              <a:t>ISL / OSL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69B49-9EEC-46D3-AAE0-B7DE9198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49317-9111-4346-A4AA-224227B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385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417"/>
                </a:solidFill>
              </a:defRPr>
            </a:pPr>
            <a:r>
              <a:rPr sz="1350" b="0">
                <a:solidFill>
                  <a:srgbClr val="121417"/>
                </a:solidFill>
              </a:rPr>
              <a:t>Concurrency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F99BE-004D-4343-956F-CBCA57F5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38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FB6DB-0E39-4D77-97D1-533BCC9F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417"/>
                </a:solidFill>
              </a:defRPr>
            </a:pPr>
            <a:r>
              <a:rPr sz="1350" b="0">
                <a:solidFill>
                  <a:srgbClr val="121417"/>
                </a:solidFill>
              </a:rPr>
              <a:t>Framework / precision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06F24-8E84-4CD8-9E72-45D5030E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BF09F-B36A-469E-92A9-3FE3C7DF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86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417"/>
                </a:solidFill>
              </a:defRPr>
            </a:pPr>
            <a:r>
              <a:rPr sz="1350" b="0">
                <a:solidFill>
                  <a:srgbClr val="121417"/>
                </a:solidFill>
              </a:rPr>
              <a:t>TTFT / TPOT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6B8C6-4C2B-48B8-A8B2-2983EC7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194D0-2A66-4FD3-8EF3-3B5CC368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7643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5CAE6-8543-4F29-84C1-59FCC383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WORKLOAD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3FD24-4028-4529-A8A2-389B2BC6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Short, long, agentic을 분리한 것은 맞는 방향이다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239AC-74E7-4C2D-9851-E0188EA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83508-D94C-4484-826C-78B3A1E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95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F11E4-1FF7-4B72-91CB-8EF7EFE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Workload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DF831-9896-4ED4-BE54-4A78E9E2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1457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대표 의미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9BB75-1A23-4B8C-A3F0-2DC8574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1457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TPS/MW anchor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40A90-D647-4E7F-9632-24A3DE2B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4D99B-7634-422A-9CB1-9D6DF3E6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Short 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2361F-42B4-4F73-B918-E170A70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짧은 대화/API 응답, latency 민감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16491-5FDF-45EF-9FD6-ACFABE9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ISL/OSL 1024/1024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17F15-D94A-49FC-A010-1B839A3D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AFE1E-C682-4DE2-B00A-D6A3499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Long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20816-4757-4F36-9920-DE76BA4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57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RAG, research, 긴 문맥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7FA2B-2D9A-4123-8001-F6F8BD0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ISL/OSL 8192/1024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C3DDD-68C8-4DD5-BEC3-9C553A0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BD2C0-9123-470E-805D-933A9F23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Agentic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84D74-982E-410E-BF24-6D729ED5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tool use, coding, multi-call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EDE77-A6EA-4112-9B5C-B01FF17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long-context x agentic ratio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E5462-6B06-4693-ADEB-FDFB60EA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</a:defRPr>
            </a:pPr>
            <a:r>
              <a:rPr sz="1575" b="1">
                <a:solidFill>
                  <a:srgbClr val="121417"/>
                </a:solidFill>
              </a:rPr>
              <a:t>임원 보고에서는 workload mix를 input assumption으로 열어두고, 업체별 제품 표면에 따라 조정 가능하게 두는 편이 안전하다.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984E6-E400-4EB5-9016-EC2547F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B34DD-86C5-4A75-94B0-A09D237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4290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B96DF-4C91-4E59-A282-A0ECB6D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MODEL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A479A-DDE1-41D4-9B5E-1489520A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전력 기반 token capacity 산식은 유지하되 TPS/MW 선택 계층을 강화한다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A5523-32F4-46A1-9A4D-E9037BE5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B9018-B870-4112-ABB6-BAEF8EA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417"/>
                </a:solidFill>
              </a:defRPr>
            </a:pPr>
            <a:r>
              <a:rPr sz="1800" b="1">
                <a:solidFill>
                  <a:srgbClr val="121417"/>
                </a:solidFill>
              </a:rPr>
              <a:t>generated output tokens/day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01592-37BF-4D0F-B402-6D743FA3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= inference GW x 1,000 x serving output TPS/MW x 86,400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642D2-3D02-412E-BC68-30CE36F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009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AD9A3-9E32-404E-892B-BD12F3CA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</a:defRPr>
            </a:pPr>
            <a:r>
              <a:rPr sz="1575" b="1">
                <a:solidFill>
                  <a:srgbClr val="121417"/>
                </a:solidFill>
              </a:rPr>
              <a:t>serving output TPS/MW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9EF41-FC25-4A86-B237-3BA5BFC5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1417"/>
                </a:solidFill>
              </a:defRPr>
            </a:pPr>
            <a:r>
              <a:rPr sz="1575" b="0">
                <a:solidFill>
                  <a:srgbClr val="121417"/>
                </a:solidFill>
              </a:rPr>
              <a:t>= GPU mix x workload mix x benchmark-selected TPS/MW x commercial workload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43F97-003B-4159-852F-1ACA913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변경 방향: 단일 benchmark 숫자보다, 조건을 만족하는 row selection table을 관리한다.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DA371-FC33-4D62-95C6-46D858C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67733-3C38-449E-AE45-BE7277F0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303205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2A2E5-D783-425C-A36F-07493061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AGENTIC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3237-B2B6-4DAA-89F4-BC39D48B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Agentic은 출력 토큰보다 내부 호출과 긴 input이 병목을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7A297-F245-4DE4-BDA6-2320908E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8823-0730-4AE4-BBF8-87C9AA7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95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720F3-9F65-427A-B147-986ACFF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요소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89083-CFD2-4D20-856F-68640E0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capacity에 미치는 영향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A46D-7AB6-4158-9A69-99740679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1963B-6CEA-4B36-A1A7-CA1C8A0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Calls/request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9D27A-8BC6-4A91-908F-BD412B3B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같은 사용자 요청이 여러 LLM call로 증폭된다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63540-0049-483E-84EF-5127C518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CF832-DD4C-4CD5-B9D7-D42B31BB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Tool wait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9DD15-3E74-4F23-AC08-250BC43E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GPU가 항상 full-utilization 상태로 유지되지 않을 수 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99000-C13C-49FC-B616-C4223284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A8089-BC71-4814-9B8B-76939BF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Prefix/KV 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A9BF1-7033-4A2F-A6F2-C260E134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prefill 비용을 줄이지만 memory residency 조건이 필요하다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0EE60-82F8-40FB-BF5C-E4009B7F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39450-B07D-41FB-B871-CFF68BF0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Long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440E3-4B1A-4D75-9150-CDD3082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TTFT, KV memory, prefill power 압력이 커진다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3BF05-1D41-4EFF-B75C-4E30E7E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현재 결론: agentic trace는 throughput telemetry가 아니라 workload shape 근거다. 직접 100k input benchmark가 생기면 교체한다.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767E5-FC12-4EE0-9D9B-71B23336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01FC0-ABE5-4B7A-ADD6-0BC997F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4648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DBA34-2963-410B-9EB5-5749DD8A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BUSINESS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495E5-CCC2-48C3-A62C-A5D2AEAB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가장 큰 기회는 GPU를 빌려주는 곳보다 serving software layer에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0B166-2925-4C98-9FEE-52840D63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F85DC-E61D-4723-97BD-8CCEB41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75F64-E986-4322-9561-DF21D93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BA3D5-4A62-44B5-8B1B-3B551160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고객군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C86AE-2469-4ACD-AE05-7048BD35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28900"/>
            <a:ext cx="2324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hyperscaler보다 작지만 수천 명 엔지니어를 가진 대형 IT 기업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EAA1C-DCAC-4C62-95E8-6094846A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A7B06-5C05-45A2-B7CB-01A9206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3D506-6009-4F8A-B302-39A611F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Pain 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D7199-75B8-46D4-B86D-196DC4B5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2324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frontier API 비용 증가와 agentic workload 확대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1F4C5-F1B2-4C06-BF53-3523544A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0C3DF-F0B4-452F-B2AB-77F6FE84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63EB"/>
                </a:solidFill>
              </a:defRPr>
            </a:pPr>
            <a:r>
              <a:rPr sz="2175" b="1">
                <a:solidFill>
                  <a:srgbClr val="2563EB"/>
                </a:solidFill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3F254-BA5A-4841-9D79-0195523E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417"/>
                </a:solidFill>
              </a:defRPr>
            </a:pPr>
            <a:r>
              <a:rPr sz="1725" b="1">
                <a:solidFill>
                  <a:srgbClr val="121417"/>
                </a:solidFill>
              </a:rPr>
              <a:t>기회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C8EA3-3220-437B-A882-6E9A30B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324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F"/>
                </a:solidFill>
              </a:defRPr>
            </a:pPr>
            <a:r>
              <a:rPr sz="1350" b="0">
                <a:solidFill>
                  <a:srgbClr val="59616F"/>
                </a:solidFill>
              </a:rPr>
              <a:t>open model + GPU/TPU/NPU + optimized serving software 조합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ED14F-3B87-42CF-A3E5-9613222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</a:defRPr>
            </a:pPr>
            <a:r>
              <a:rPr sz="1575" b="1">
                <a:solidFill>
                  <a:srgbClr val="121417"/>
                </a:solidFill>
              </a:rPr>
              <a:t>교수님 관점에서도 hardware별로 vLLM/SGLang류 serving layer를 효율적으로 붙이는 역량이 차별화 포인트다.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A15FA-048F-4A8D-A3B8-30D571B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90D1F-08EA-4AE2-8425-6A461B5D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92923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44FC9-C51F-4F41-B171-33CFB2B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RISK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55C21-3E88-4D04-B541-10EF7139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보고서 표현은 숫자의 정확도보다 불확실성의 위치를 보여줘야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25DE3-393A-4E15-8313-2D15EBC6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C8150-DAD5-44E1-9ECB-587DD55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95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3E673-622F-4DB1-9511-63C906C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193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위험한 표현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C343-56F0-454D-AE20-20FD7B8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219325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권장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3DDC-56EE-42BA-BED4-610F7FC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E10D6-372F-4257-830C-363B230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회사별 정확한 token 생산량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70749-B33D-4AB7-BC07-10347F2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전력과 benchmark 기반 scenario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8DF7-51CF-444D-8EFA-B6EB5261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E526F-5E52-43CE-9879-D09E6E9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InferenceX가 production 성능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85E85-FA58-46EC-B13E-DB97B7E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861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public benchmark/proxy anchor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4F408-B790-4303-A1FE-576462CC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EA4B4-8BFE-442C-A3CB-C844DAAE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미래 GPU point estimate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0B12C-C810-4B24-ABAC-A54A818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low/base/high envelope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419A4-856F-475D-BDD5-AE027614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E12B7-46E7-4EE7-85E5-22957AB9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</a:defRPr>
            </a:pPr>
            <a:r>
              <a:rPr sz="1050" b="1">
                <a:solidFill>
                  <a:srgbClr val="121417"/>
                </a:solidFill>
              </a:rPr>
              <a:t>총 TPS를 generated token으로 대입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6ED07-57E6-44AD-B061-98E7A872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815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16F"/>
                </a:solidFill>
              </a:defRPr>
            </a:pPr>
            <a:r>
              <a:rPr sz="1050" b="0">
                <a:solidFill>
                  <a:srgbClr val="59616F"/>
                </a:solidFill>
              </a:rPr>
              <a:t>output TPS와 input pressure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33F7E-8E7D-4C56-96C5-D2165E5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F975C-5F65-4935-B2F9-8E8EBCA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5998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21692-D018-4D8A-86E9-3FE8095D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NEXT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5A01D-0011-4CE0-A04B-988194C9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다음 단계는 더 큰 모델이 아니라 더 좋은 row selection governance다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30F2C-EB49-432D-B2C3-BDC9A8C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5349A-C83A-4C4F-A55E-E3C3E91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F1F1D-F5CF-4380-AF82-02EABF7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InferenceX row selection sheet를 기준 테이블로 관리한다.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244BA-F90B-4A3B-9C35-027D5D3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70A54-2DCF-4FA1-A6FA-728F6BB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Interactivity target을 10/30/50/70/100 tok/s/user로 나눠 GPU별 가능한 구성을 비교한다.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5091B-B37F-4344-9039-6FA70FA3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C5990-97E4-4693-BDB3-0DB667A6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Agentic은 call depth, cache, TTFT/TPOT, input/output 분리 지표를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92C6C-83A2-4693-A83D-35507CDD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1ACFF-B48B-442E-B55F-75526C0D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LLMServingSim은 parallelism, batching, cache pressure, offload scenario sweep에 연결한다.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C7073-9E8B-4C2B-ADF7-8134BFE5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DFABA-57F2-4ACB-B0D5-884CBAF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1417"/>
                </a:solidFill>
              </a:defRPr>
            </a:pPr>
            <a:r>
              <a:rPr sz="1500" b="0">
                <a:solidFill>
                  <a:srgbClr val="121417"/>
                </a:solidFill>
              </a:rPr>
              <a:t>임원 보고 숫자는 Base/Bear/Bull envelope와 confidence flag를 함께 노출한다.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F87B7-E7AD-4169-9F6E-20AEAB45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86792-173F-472E-98A1-28C2EE07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60644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78C1D-9A5D-4479-8015-40BAA36B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CLOSING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6572D-4724-4990-8D37-EC9B5805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4375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</a:defRPr>
            </a:pPr>
            <a:r>
              <a:rPr sz="2550" b="1">
                <a:solidFill>
                  <a:srgbClr val="121417"/>
                </a:solidFill>
              </a:rPr>
              <a:t>이 프로젝트의 신뢰도는 계속 바뀌는 숫자가 아니라 유지되는 구조에서 나온다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EB634-3881-4FD2-98BE-02ED45B2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D042F-4DFB-4E74-959E-19AFDB65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0363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B"/>
          </a:solidFill>
          <a:ln xmlns:a="http://schemas.openxmlformats.org/drawingml/2006/main" w="9525">
            <a:solidFill>
              <a:srgbClr val="1720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E3687-9CB3-4A91-B890-154D1C13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9563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공개 benchmark, 전력 capacity envelope, GPU generation mix, workload mix, commercial workload fit을 결합한 scenario-based generated output token capacity estimate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0844C-ABE9-4CE8-A4A9-43B99833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922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이 문장을 최종 보고서의 방어 가능한 정의로 두는 것이 가장 안전합니다.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CE0CD-0265-47A9-AFA2-F0877318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F"/>
                </a:solidFill>
              </a:defRPr>
            </a:pPr>
            <a:r>
              <a:rPr sz="900" b="0">
                <a:solidFill>
                  <a:srgbClr val="59616F"/>
                </a:solidFill>
              </a:rPr>
              <a:t>박종세 교수 미팅 최종본 | LLM serving / token capacity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19FB9-4E0A-4258-BF4C-71138BA9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16F"/>
                </a:solidFill>
              </a:defRPr>
            </a:pPr>
            <a:r>
              <a:rPr sz="1050" b="1">
                <a:solidFill>
                  <a:srgbClr val="59616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5058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2026-07-22T23:24:52.0930000Z</dcterms:created>
  <dcterms:modified xsi:type="dcterms:W3CDTF">2026-07-22T23:24:52.0930000Z</dcterms:modified>
</coreProperties>
</file>