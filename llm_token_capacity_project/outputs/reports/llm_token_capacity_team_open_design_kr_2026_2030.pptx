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0.117</c:v>
                </c:pt>
                <c:pt idx="1">
                  <c:v>0.286</c:v>
                </c:pt>
                <c:pt idx="2">
                  <c:v>0.546</c:v>
                </c:pt>
                <c:pt idx="3">
                  <c:v>0.934</c:v>
                </c:pt>
                <c:pt idx="4">
                  <c:v>1.494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0.208</c:v>
                </c:pt>
                <c:pt idx="1">
                  <c:v>0.516</c:v>
                </c:pt>
                <c:pt idx="2">
                  <c:v>1.006</c:v>
                </c:pt>
                <c:pt idx="3">
                  <c:v>1.757</c:v>
                </c:pt>
                <c:pt idx="4">
                  <c:v>2.872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0.302</c:v>
                </c:pt>
                <c:pt idx="1">
                  <c:v>0.779</c:v>
                </c:pt>
                <c:pt idx="2">
                  <c:v>1.575</c:v>
                </c:pt>
                <c:pt idx="3">
                  <c:v>2.84</c:v>
                </c:pt>
                <c:pt idx="4">
                  <c:v>4.79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 output tokens/day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Meta</c:v>
                </c:pt>
                <c:pt idx="3">
                  <c:v>Microsoft</c:v>
                </c:pt>
                <c:pt idx="4">
                  <c:v>Anthropic</c:v>
                </c:pt>
                <c:pt idx="5">
                  <c:v>Alibaba</c:v>
                </c:pt>
                <c:pt idx="6">
                  <c:v>Tencent</c:v>
                </c:pt>
                <c:pt idx="7">
                  <c:v>xAI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0.586840240711296</c:v>
                </c:pt>
                <c:pt idx="1">
                  <c:v>0.53513286253056</c:v>
                </c:pt>
                <c:pt idx="2">
                  <c:v>0.4022866197504</c:v>
                </c:pt>
                <c:pt idx="3">
                  <c:v>0.372288096107136</c:v>
                </c:pt>
                <c:pt idx="4">
                  <c:v>0.31830324515136</c:v>
                </c:pt>
                <c:pt idx="5">
                  <c:v>0.259801314859008</c:v>
                </c:pt>
                <c:pt idx="6">
                  <c:v>0.167354927293824</c:v>
                </c:pt>
                <c:pt idx="7">
                  <c:v>0.125620159296096</c:v>
                </c:pt>
                <c:pt idx="8">
                  <c:v>0.104360160022272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2030 GW split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Inference GW</c:v>
                </c:pt>
                <c:pt idx="1">
                  <c:v>Training GW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23.021</c:v>
                </c:pt>
                <c:pt idx="1">
                  <c:v>7.3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3931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1">
                <a:solidFill>
                  <a:srgbClr val="1428A0"/>
                </a:solidFill>
              </a:defRPr>
            </a:pPr>
            <a:r>
              <a:t>MEMORY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7498079" cy="1572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500" b="1">
                <a:solidFill>
                  <a:srgbClr val="141820"/>
                </a:solidFill>
              </a:defRPr>
            </a:pPr>
            <a:r>
              <a:t>2030 LLM Token Capacity</a:t>
            </a:r>
            <a:br/>
            <a: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16352"/>
            <a:ext cx="69494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50" b="0">
                <a:solidFill>
                  <a:srgbClr val="3A4252"/>
                </a:solidFill>
              </a:defRPr>
            </a:pPr>
            <a:r>
              <a:t>A model-owner view of power, accelerator capacity, inference mix, and memory revenue motions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2440" y="1152144"/>
            <a:ext cx="36576" cy="3017520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Base 2030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426464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2.87Q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002536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generated output tokens/day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578608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Inference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62072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23.0GW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438144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model-owner AI IT load 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5212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747E8E"/>
                </a:solidFill>
              </a:defRPr>
            </a:pPr>
            <a:r>
              <a:t>Samsung-style executive version | no brand assets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5980176"/>
            <a:ext cx="1783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Executive answer: token capacity is determined by active power, inference mix, and serving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The model separates power availability from the operating variables that actually turn power into commercial output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57984"/>
            <a:ext cx="2971800" cy="2743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14016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Capacity expands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07792"/>
            <a:ext cx="3063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Base case reaches 2.87Q generated output tokens/day by 2030.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2157984"/>
            <a:ext cx="2971800" cy="27432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414016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Capacity concentrates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907792"/>
            <a:ext cx="3063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The largest 2030 contributors are OpenAI, Google, Meta.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2157984"/>
            <a:ext cx="2971800" cy="27432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414016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Memory motion broadens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907792"/>
            <a:ext cx="3063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Inference growth creates HBM allocation pressure plus DDR5, SSD, and CXL attach opportunities.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709160"/>
            <a:ext cx="105156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50" b="0">
                <a:solidFill>
                  <a:srgbClr val="3A4252"/>
                </a:solidFill>
              </a:defRPr>
            </a:pPr>
            <a:r>
              <a:t>Why this matters: account planning should not start from data-center announcements alone. It should start from the model owner that controls traffic, model routing, SLO targets, and commercial token generation.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Use inference conversion speed as the leading indicator for account prioritization.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2026-2030 token capacity grows rapidly even in the Base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Bull, Base, and Bear cases are built from deployment speed, MoE optimization, inference power share, and utilization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9808" y="1755648"/>
          <a:ext cx="70866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02752" y="1783080"/>
            <a:ext cx="2971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747E8E"/>
                </a:solidFill>
              </a:defRPr>
            </a:pPr>
            <a:r>
              <a:t>How to read the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176272"/>
            <a:ext cx="31546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080">
                <a:solidFill>
                  <a:srgbClr val="3A4252"/>
                </a:solidFill>
              </a:defRPr>
            </a:pPr>
            <a:r>
              <a:t>The slope is driven by active power and inference share moving upward together.</a:t>
            </a:r>
          </a:p>
          <a:p>
            <a:pPr>
              <a:spcAft>
                <a:spcPts val="700"/>
              </a:spcAft>
              <a:defRPr sz="1080">
                <a:solidFill>
                  <a:srgbClr val="3A4252"/>
                </a:solidFill>
              </a:defRPr>
            </a:pPr>
            <a:r>
              <a:t>The gap between cases is driven by serving-stack efficiency, MoE routing, and real utilization.</a:t>
            </a:r>
          </a:p>
          <a:p>
            <a:pPr>
              <a:spcAft>
                <a:spcPts val="700"/>
              </a:spcAft>
              <a:defRPr sz="1080">
                <a:solidFill>
                  <a:srgbClr val="3A4252"/>
                </a:solidFill>
              </a:defRPr>
            </a:pPr>
            <a:r>
              <a:t>The Base line is not a demand forecast; it is a capacity envelope under the stated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4919472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28A0"/>
                </a:solidFill>
              </a:defRPr>
            </a:pPr>
            <a:r>
              <a:t>Base 2026-2030 growth: 13.8x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commercial question is not whether capacity grows, but which accounts absorb it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Memory account priority should be organized around model owners, not only cloud 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Hosting capacity and model-owner token attribution are separated so Copilot, ChatGPT, Gemini, Llama, Grok, Claude, Qwen, and DeepSeek are not mixed incorrectly.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9808" y="1755648"/>
          <a:ext cx="70408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02752" y="1773936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Largest modeled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057400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2633472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2030 generated output token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3035808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Total active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319272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42.1GW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895344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Base 2030, modeled company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434840"/>
            <a:ext cx="29718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19" b="0">
                <a:solidFill>
                  <a:srgbClr val="3A4252"/>
                </a:solidFill>
              </a:defRPr>
            </a:pPr>
            <a:r>
              <a:t>Implication: each top account needs a different proof package because model architecture, accelerator mix, memory stack, and procurement control points differ by owner.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Build the top-account brief by model owner, then map HBM, DDR5, SSD, and CXL attach 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The formula is a power funnel multiplied by serving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This slide is the control logic: every forecast movement must trace back to one of these conversion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Contracted</a:t>
            </a:r>
            <a:br/>
            <a:r>
              <a:t>GW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670048"/>
            <a:ext cx="141732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capacity ceiling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221284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Active</a:t>
            </a:r>
            <a:br/>
            <a:r>
              <a:t>GW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670048"/>
            <a:ext cx="141732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energized and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1284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AI IT</a:t>
            </a:r>
            <a:br/>
            <a:r>
              <a:t>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93792" y="2670048"/>
            <a:ext cx="141732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PUE and workload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1284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4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Inference</a:t>
            </a:r>
            <a:br/>
            <a:r>
              <a:t>GW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15784" y="2670048"/>
            <a:ext cx="141732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4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training/inference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212848"/>
            <a:ext cx="3200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1865376"/>
            <a:ext cx="14173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700" b="1">
                <a:solidFill>
                  <a:srgbClr val="141820"/>
                </a:solidFill>
              </a:defRPr>
            </a:pPr>
            <a:r>
              <a:t>Output</a:t>
            </a:r>
            <a:br/>
            <a:r>
              <a:t>token/day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2670048"/>
            <a:ext cx="1417320" cy="32004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2907792"/>
            <a:ext cx="1417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10" b="0">
                <a:solidFill>
                  <a:srgbClr val="747E8E"/>
                </a:solidFill>
              </a:defRPr>
            </a:pPr>
            <a:r>
              <a:t>tokens/MW and utilization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13632"/>
            <a:ext cx="103784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00" b="1">
                <a:solidFill>
                  <a:srgbClr val="1428A0"/>
                </a:solidFill>
              </a:defRPr>
            </a:pPr>
            <a:r>
              <a:t>output tokens/day = inference GW x 1,000 x output tokens/sec/MW x utilization x 86,400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6177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3A4252"/>
                </a:solidFill>
              </a:defRPr>
            </a:pPr>
            <a:r>
              <a:t>Contracted power is an upper bound; token capacity begins only after power is energized and assigned to AI IT load.</a:t>
            </a:r>
          </a:p>
          <a:p>
            <a:pPr>
              <a:spcAft>
                <a:spcPts val="400"/>
              </a:spcAft>
              <a:defRPr sz="1040">
                <a:solidFill>
                  <a:srgbClr val="3A4252"/>
                </a:solidFill>
              </a:defRPr>
            </a:pPr>
            <a:r>
              <a:t>Inference share is a capacity allocation variable; utilization is the operating conversion from installed serving capacity to traffic.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This structure prevents double-counting power announcements as immediate token capacity.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The inference mix shift changes both token capacity and memory product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A higher inference share increases sustained serving load and pushes the memory hierarchy beyond HBM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55648"/>
          <a:ext cx="3749039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30368" y="1755648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Inference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039112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56% to 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2615184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Base weighted share, 2026 to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3017520"/>
            <a:ext cx="5760720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Interpretation: this is a scenario assumption, not a disclosed company-level fact. The model uses it to show how serving-dominated AI fleets would translate into token capacity and memory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959352"/>
            <a:ext cx="5760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A4252"/>
                </a:solidFill>
              </a:defRPr>
            </a:pPr>
            <a:r>
              <a:t>Decode and prefill raise KV-cache and HBM bandwidth pressure.</a:t>
            </a:r>
          </a:p>
          <a:p>
            <a:pPr>
              <a:spcAft>
                <a:spcPts val="500"/>
              </a:spcAft>
              <a:defRPr sz="1050">
                <a:solidFill>
                  <a:srgbClr val="3A4252"/>
                </a:solidFill>
              </a:defRPr>
            </a:pPr>
            <a:r>
              <a:t>RAG and agentic workloads increase SSD, QLC, and memory-expansion relevance.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Inference growth is a full memory-hierarchy opportunity, not only a GPU or HBM 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The headline metric is generated output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Keeping token definitions separate is essential because benchmark throughput, billing tokens, training tokens, and user-visible output are different units.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19072"/>
          <a:ext cx="1092707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749039"/>
                <a:gridCol w="2697480"/>
                <a:gridCol w="2606040"/>
              </a:tblGrid>
              <a:tr h="740664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Model usage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Benchmark mapping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Generated output tokens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Tokens actually returned to users, APIs, or product surfaces. This is the headline capacity metric in the model.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`inference_tokens_per_day` and `output_tok_s_mw` sanity layer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Map to output throughput and joules per output token first.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Processed inference tokens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Input plus output tokens handled by the serving system. This can be much larger than output tokens for RAG and agentic workloads.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`tok_s_mw`, input throughput, output throughput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Use for load-shape and benchmark diagnostics, not as the headline.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Input / prefill tokens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Prompt, retrieved context, tool transcript, and history read before generation begins.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ISL, `input_tok_s_gpu`, `input_tok_s_mw`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Use to explain memory pressure, TTFT, and utilization effects.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Training tokens processed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Corpus tokens used in pretraining or post-training. These are not added to commercial inference output tokens.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`training_tokens_processed_per_day` sanity checks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Separate training metric; InferenceX is an inference-serving benchmark.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forecast does not add input tokens, billable tokens, and training tokens into one headline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InferenceX calibrates the serving-efficiency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The benchmark layer narrows the plausible range for tokens/MW, joules/token, latency conditions, and workload shape.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92224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Performance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75688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72,091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model x GPU x precision x ISL/OSL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92224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Metric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298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GPU, framework, and profile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792224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Accuracy evals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75688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0966C"/>
                </a:solidFill>
              </a:defRPr>
            </a:pPr>
            <a:r>
              <a:t>1,048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51760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quality trade-off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56432"/>
            <a:ext cx="1028700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50" b="0">
                <a:solidFill>
                  <a:srgbClr val="3A4252"/>
                </a:solidFill>
              </a:defRPr>
            </a:pPr>
            <a:r>
              <a:t>How it is used: InferenceX does not replace the company capacity model. It calibrates the efficiency layer after capacity has already been attributed to a model owner and assigned to inference serving.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A4252"/>
                </a:solidFill>
              </a:defRPr>
            </a:pPr>
            <a:r>
              <a:t>Use output throughput and joules/output token for the headline output-token sanity check.</a:t>
            </a:r>
          </a:p>
          <a:p>
            <a:pPr>
              <a:spcAft>
                <a:spcPts val="500"/>
              </a:spcAft>
              <a:defRPr sz="1050">
                <a:solidFill>
                  <a:srgbClr val="3A4252"/>
                </a:solidFill>
              </a:defRPr>
            </a:pPr>
            <a:r>
              <a:t>Use total token throughput, input length, output length, TTFT, and TPOT to explain production haircut and utilization.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benchmark layer makes the tokens/MW assumption operational rather than purely theoretical.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Translate token growth into product-level revenue motions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The output of the model should be account action: which customer, which product, what urgency, what proof, and what commercial motion.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19072"/>
          <a:ext cx="109270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303520"/>
                <a:gridCol w="3794760"/>
              </a:tblGrid>
              <a:tr h="740664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Revenue motion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HBM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Allocation, qualification, and HBM4 roadmap lock-in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Frontier model ramps and accelerator supply tension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DDR5 / MRDIMM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CPU-side inference attach and memory-density refresh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Inference server refresh and higher host memory requirements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Enterprise SSD / QLC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RAG, checkpointing, vector DB, and storage TCO proof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Retrieval-heavy and agentic AI workloads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Memory expansion and utilization recovery narrative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3A4252"/>
                          </a:solidFill>
                        </a:defRPr>
                      </a:pPr>
                      <a:r>
                        <a:t>Capacity-bound inference and larger context workloads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Start with the top 10 model-owner accounts and attach a product-fit, proof-pack, and pricing/mix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114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LLM TOKEN CAPACITY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141820"/>
                </a:solidFill>
              </a:defRPr>
            </a:pPr>
            <a:r>
              <a:t>Run the model as a weekly operating system, not a one-time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747E8E"/>
                </a:solidFill>
              </a:defRPr>
            </a:pPr>
            <a:r>
              <a:t>The same assumptions should update market intelligence, account briefs, and sales enablement in the same weekly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0472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00784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Mon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9072" y="1801368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00784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Source refresh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700784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IR, filings, model cards, technical reports, InferenceX benchmark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Tue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9072" y="2459736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Model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359152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active GW, inference share, accelerator mix, tokens/MW,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017520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Wed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072" y="3118103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017520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Account translation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017520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customer pain, product fit, urgency, value message, proof 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675888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Thu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9072" y="3776472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675888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Sales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675888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pipeline impact, objections, pricing/mix discussion, win/loss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34256"/>
            <a:ext cx="71323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Fri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9072" y="4434840"/>
            <a:ext cx="91440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334256"/>
            <a:ext cx="2331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41820"/>
                </a:solidFill>
              </a:defRPr>
            </a:pPr>
            <a:r>
              <a:t>Assumption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334256"/>
            <a:ext cx="5715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0">
                <a:solidFill>
                  <a:srgbClr val="3A4252"/>
                </a:solidFill>
              </a:defRPr>
            </a:pPr>
            <a:r>
              <a:t>unit checks, scenario changes, next-week open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285232"/>
            <a:ext cx="10149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747E8E"/>
                </a:solidFill>
              </a:defRPr>
            </a:pPr>
            <a:r>
              <a:t>Workbook appendix: formula assumptions, token definitions, scenario sensitivity, InferenceX raw benchmark tables, source registry, and company-year forecast rows.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Presentation for the executive story, workbook for the math, Markdown/agents for continuous assumption learning.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95097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Headline metric: generated output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2026-05-18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