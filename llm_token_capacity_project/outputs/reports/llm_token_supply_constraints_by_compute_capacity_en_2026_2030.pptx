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Google</c:v>
                </c:pt>
                <c:pt idx="6">
                  <c:v>OpenAI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0.2154517006752</c:v>
                </c:pt>
                <c:pt idx="1">
                  <c:v>0.111140957952</c:v>
                </c:pt>
                <c:pt idx="2">
                  <c:v>0.0943886774016</c:v>
                </c:pt>
                <c:pt idx="3">
                  <c:v>0.0718923135168</c:v>
                </c:pt>
                <c:pt idx="4">
                  <c:v>0.0468196402176</c:v>
                </c:pt>
                <c:pt idx="5">
                  <c:v>0.0196766000928</c:v>
                </c:pt>
                <c:pt idx="6">
                  <c:v>0.0185825173248</c:v>
                </c:pt>
                <c:pt idx="7">
                  <c:v>0.0122926510656</c:v>
                </c:pt>
                <c:pt idx="8">
                  <c:v>0.0040192552512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0.034688068992</c:v>
                </c:pt>
                <c:pt idx="1">
                  <c:v>0.06718716288</c:v>
                </c:pt>
                <c:pt idx="2">
                  <c:v>0.1083303261216</c:v>
                </c:pt>
                <c:pt idx="3">
                  <c:v>0.1580741713152</c:v>
                </c:pt>
                <c:pt idx="4">
                  <c:v>0.2154517006752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0.021667972608</c:v>
                </c:pt>
                <c:pt idx="1">
                  <c:v>0.039607226208</c:v>
                </c:pt>
                <c:pt idx="2">
                  <c:v>0.0605383206912</c:v>
                </c:pt>
                <c:pt idx="3">
                  <c:v>0.0844137324288</c:v>
                </c:pt>
                <c:pt idx="4">
                  <c:v>0.111140957952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0.0098764952832</c:v>
                </c:pt>
                <c:pt idx="1">
                  <c:v>0.0242263636992</c:v>
                </c:pt>
                <c:pt idx="2">
                  <c:v>0.042791991552</c:v>
                </c:pt>
                <c:pt idx="3">
                  <c:v>0.066048986304</c:v>
                </c:pt>
                <c:pt idx="4">
                  <c:v>0.0943886774016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0.00482484816</c:v>
                </c:pt>
                <c:pt idx="1">
                  <c:v>0.0150968161152</c:v>
                </c:pt>
                <c:pt idx="2">
                  <c:v>0.0293604801408</c:v>
                </c:pt>
                <c:pt idx="3">
                  <c:v>0.048117908736</c:v>
                </c:pt>
                <c:pt idx="4">
                  <c:v>0.0718923135168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Alibaba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0.0048673505664</c:v>
                </c:pt>
                <c:pt idx="1">
                  <c:v>0.0116748238464</c:v>
                </c:pt>
                <c:pt idx="2">
                  <c:v>0.020738180736</c:v>
                </c:pt>
                <c:pt idx="3">
                  <c:v>0.0323455693824</c:v>
                </c:pt>
                <c:pt idx="4">
                  <c:v>0.0468196402176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0.184</c:v>
                </c:pt>
                <c:pt idx="1">
                  <c:v>0.416</c:v>
                </c:pt>
                <c:pt idx="2">
                  <c:v>0.681</c:v>
                </c:pt>
                <c:pt idx="3">
                  <c:v>0.98</c:v>
                </c:pt>
                <c:pt idx="4">
                  <c:v>1.311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0.11</c:v>
                </c:pt>
                <c:pt idx="1">
                  <c:v>0.317</c:v>
                </c:pt>
                <c:pt idx="2">
                  <c:v>0.571</c:v>
                </c:pt>
                <c:pt idx="3">
                  <c:v>0.872</c:v>
                </c:pt>
                <c:pt idx="4">
                  <c:v>1.219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Alibaba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0.266</c:v>
                </c:pt>
                <c:pt idx="1">
                  <c:v>0.572</c:v>
                </c:pt>
                <c:pt idx="2">
                  <c:v>0.92</c:v>
                </c:pt>
                <c:pt idx="3">
                  <c:v>1.312</c:v>
                </c:pt>
                <c:pt idx="4">
                  <c:v>1.748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Google</c:v>
                </c:pt>
                <c:pt idx="6">
                  <c:v>OpenAI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9.0</c:v>
                </c:pt>
                <c:pt idx="1">
                  <c:v>7.0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8.0</c:v>
                </c:pt>
                <c:pt idx="6">
                  <c:v>12.0</c:v>
                </c:pt>
                <c:pt idx="7">
                  <c:v>7.0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Google</c:v>
                </c:pt>
                <c:pt idx="6">
                  <c:v>OpenAI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6.2</c:v>
                </c:pt>
                <c:pt idx="1">
                  <c:v>5.8</c:v>
                </c:pt>
                <c:pt idx="2">
                  <c:v>2.4</c:v>
                </c:pt>
                <c:pt idx="3">
                  <c:v>2.5</c:v>
                </c:pt>
                <c:pt idx="4">
                  <c:v>3.2</c:v>
                </c:pt>
                <c:pt idx="5">
                  <c:v>6.8</c:v>
                </c:pt>
                <c:pt idx="6">
                  <c:v>8.5</c:v>
                </c:pt>
                <c:pt idx="7">
                  <c:v>5.5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Google</c:v>
                </c:pt>
                <c:pt idx="6">
                  <c:v>OpenAI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3.333</c:v>
                </c:pt>
                <c:pt idx="1">
                  <c:v>3.28</c:v>
                </c:pt>
                <c:pt idx="2">
                  <c:v>1.311</c:v>
                </c:pt>
                <c:pt idx="3">
                  <c:v>1.219</c:v>
                </c:pt>
                <c:pt idx="4">
                  <c:v>1.748</c:v>
                </c:pt>
                <c:pt idx="5">
                  <c:v>3.651</c:v>
                </c:pt>
                <c:pt idx="6">
                  <c:v>4.862</c:v>
                </c:pt>
                <c:pt idx="7">
                  <c:v>2.966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Google</c:v>
                </c:pt>
                <c:pt idx="6">
                  <c:v>OpenAI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1.111</c:v>
                </c:pt>
                <c:pt idx="1">
                  <c:v>0.925</c:v>
                </c:pt>
                <c:pt idx="2">
                  <c:v>0.328</c:v>
                </c:pt>
                <c:pt idx="3">
                  <c:v>0.523</c:v>
                </c:pt>
                <c:pt idx="4">
                  <c:v>0.437</c:v>
                </c:pt>
                <c:pt idx="5">
                  <c:v>1.42</c:v>
                </c:pt>
                <c:pt idx="6">
                  <c:v>1.371</c:v>
                </c:pt>
                <c:pt idx="7">
                  <c:v>1.042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Google</c:v>
                </c:pt>
                <c:pt idx="6">
                  <c:v>OpenAI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0.748171</c:v>
                </c:pt>
                <c:pt idx="1">
                  <c:v>0.392181</c:v>
                </c:pt>
                <c:pt idx="2">
                  <c:v>0.833304</c:v>
                </c:pt>
                <c:pt idx="3">
                  <c:v>0.682598</c:v>
                </c:pt>
                <c:pt idx="4">
                  <c:v>0.310008</c:v>
                </c:pt>
                <c:pt idx="5">
                  <c:v>0.062377</c:v>
                </c:pt>
                <c:pt idx="6">
                  <c:v>0.044236</c:v>
                </c:pt>
                <c:pt idx="7">
                  <c:v>0.047969</c:v>
                </c:pt>
                <c:pt idx="8">
                  <c:v>0.071458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0.047</c:v>
                </c:pt>
                <c:pt idx="1">
                  <c:v>0.094</c:v>
                </c:pt>
                <c:pt idx="2">
                  <c:v>0.152</c:v>
                </c:pt>
                <c:pt idx="3">
                  <c:v>0.22</c:v>
                </c:pt>
                <c:pt idx="4">
                  <c:v>0.296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0.085</c:v>
                </c:pt>
                <c:pt idx="1">
                  <c:v>0.177</c:v>
                </c:pt>
                <c:pt idx="2">
                  <c:v>0.291</c:v>
                </c:pt>
                <c:pt idx="3">
                  <c:v>0.43</c:v>
                </c:pt>
                <c:pt idx="4">
                  <c:v>0.594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0.124</c:v>
                </c:pt>
                <c:pt idx="1">
                  <c:v>0.267</c:v>
                </c:pt>
                <c:pt idx="2">
                  <c:v>0.456</c:v>
                </c:pt>
                <c:pt idx="3">
                  <c:v>0.696</c:v>
                </c:pt>
                <c:pt idx="4">
                  <c:v>0.992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0.59Q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71%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0.22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5.1x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9.6x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14.9x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9.6x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4.0x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7.6x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7.7x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weights H200, B200, GB200 and purpose-built capacity into serving 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GPU-generation mix is an editable scenario input; public reference rows are then adjusted for commercial workload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S/L/A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45%/25%/30%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30%/30%/40%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40%/40%/20%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35%/40%/25%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45%/35%/20%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0.31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S/L/A is short conversation, long conversation and agentic mix; purpose-built hardware still receives no premium without matched output-token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now reflects GPU-generation mix, workload class mix and commercial workload 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7.0x,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Evidence base now separates official submissions, serving proxies,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workbook carries the source registry and number-level provenance so benchmark evidence is visible without changing the headline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1737360"/>
          <a:ext cx="1069847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246120"/>
                <a:gridCol w="5577840"/>
              </a:tblGrid>
              <a:tr h="5105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Source set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How it is used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Official benchmark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MLPerf Inference / MLPerf Power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hardware and power/performance anchor; not production telemetry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LLM serving proxy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InferenceX DB dump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model x GPU x precision x ISL/OSL output TPS/MW reference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Serving stack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vLLM / SGLang / TensorRT-LLM / FlashInfer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mechanism layer for batching, KV cache, kernel and runtime behavior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Scheduling papers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Orca / Sarathi / DistServe / Splitwise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utilization, prefill/decode and TTFT/TPOT sensitivity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Trend context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Epoch 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training scale, inference price trend, power and scaling bottlenecks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074920"/>
            <a:ext cx="101041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3A4252"/>
                </a:solidFill>
              </a:defRPr>
            </a:pPr>
            <a:r>
              <a:t>Excel tabs 07_Source_Registry, 08_Provenance_Trace, and 09_Fact_Assumption_Audit expose source IDs, formula/rule, replacement path, and evidence class for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MLPerf and InferenceX are benchmark anchors; provider-specific production telemetry remains the replacement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GPU Mix Input, Calculation, Output, Checks, Aggressive View, Source Registry, Provenance Trace, Fact Audit.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