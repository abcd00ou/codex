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 output tokens/day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0.4831356176064</c:v>
                </c:pt>
                <c:pt idx="1">
                  <c:v>0.237028502016</c:v>
                </c:pt>
                <c:pt idx="2">
                  <c:v>0.2305701679392</c:v>
                </c:pt>
                <c:pt idx="3">
                  <c:v>0.1638686135808</c:v>
                </c:pt>
                <c:pt idx="4">
                  <c:v>0.086238041472</c:v>
                </c:pt>
                <c:pt idx="5">
                  <c:v>0.0517341382272</c:v>
                </c:pt>
                <c:pt idx="6">
                  <c:v>0.0342435993984</c:v>
                </c:pt>
                <c:pt idx="7">
                  <c:v>0.0190656662976</c:v>
                </c:pt>
                <c:pt idx="8">
                  <c:v>0.0088044739776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0.074391378048</c:v>
                </c:pt>
                <c:pt idx="1">
                  <c:v>0.1465981659648</c:v>
                </c:pt>
                <c:pt idx="2">
                  <c:v>0.2392598855232</c:v>
                </c:pt>
                <c:pt idx="3">
                  <c:v>0.3522462844896</c:v>
                </c:pt>
                <c:pt idx="4">
                  <c:v>0.4831356176064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0.04372378704</c:v>
                </c:pt>
                <c:pt idx="1">
                  <c:v>0.08142095808</c:v>
                </c:pt>
                <c:pt idx="2">
                  <c:v>0.1263363277824</c:v>
                </c:pt>
                <c:pt idx="3">
                  <c:v>0.1783386388224</c:v>
                </c:pt>
                <c:pt idx="4">
                  <c:v>0.237028502016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0.022510683648</c:v>
                </c:pt>
                <c:pt idx="1">
                  <c:v>0.056436397056</c:v>
                </c:pt>
                <c:pt idx="2">
                  <c:v>0.1015419574368</c:v>
                </c:pt>
                <c:pt idx="3">
                  <c:v>0.159182259264</c:v>
                </c:pt>
                <c:pt idx="4">
                  <c:v>0.2305701679392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0.010520177184</c:v>
                </c:pt>
                <c:pt idx="1">
                  <c:v>0.0333777445632</c:v>
                </c:pt>
                <c:pt idx="2">
                  <c:v>0.0656840174976</c:v>
                </c:pt>
                <c:pt idx="3">
                  <c:v>0.1087278494976</c:v>
                </c:pt>
                <c:pt idx="4">
                  <c:v>0.1638686135808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0.0082845116928</c:v>
                </c:pt>
                <c:pt idx="1">
                  <c:v>0.0204044645376</c:v>
                </c:pt>
                <c:pt idx="2">
                  <c:v>0.037020820608</c:v>
                </c:pt>
                <c:pt idx="3">
                  <c:v>0.0587349190656</c:v>
                </c:pt>
                <c:pt idx="4">
                  <c:v>0.086238041472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Microsoft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0.71</c:v>
                </c:pt>
                <c:pt idx="1">
                  <c:v>1.247</c:v>
                </c:pt>
                <c:pt idx="2">
                  <c:v>1.863</c:v>
                </c:pt>
                <c:pt idx="3">
                  <c:v>2.559</c:v>
                </c:pt>
                <c:pt idx="4">
                  <c:v>3.333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Meta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0.673</c:v>
                </c:pt>
                <c:pt idx="1">
                  <c:v>1.21</c:v>
                </c:pt>
                <c:pt idx="2">
                  <c:v>1.824</c:v>
                </c:pt>
                <c:pt idx="3">
                  <c:v>2.514</c:v>
                </c:pt>
                <c:pt idx="4">
                  <c:v>3.28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Tencent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0.184</c:v>
                </c:pt>
                <c:pt idx="1">
                  <c:v>0.416</c:v>
                </c:pt>
                <c:pt idx="2">
                  <c:v>0.681</c:v>
                </c:pt>
                <c:pt idx="3">
                  <c:v>0.98</c:v>
                </c:pt>
                <c:pt idx="4">
                  <c:v>1.311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xAI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0.11</c:v>
                </c:pt>
                <c:pt idx="1">
                  <c:v>0.317</c:v>
                </c:pt>
                <c:pt idx="2">
                  <c:v>0.571</c:v>
                </c:pt>
                <c:pt idx="3">
                  <c:v>0.872</c:v>
                </c:pt>
                <c:pt idx="4">
                  <c:v>1.219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Alibaba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0.266</c:v>
                </c:pt>
                <c:pt idx="1">
                  <c:v>0.572</c:v>
                </c:pt>
                <c:pt idx="2">
                  <c:v>0.92</c:v>
                </c:pt>
                <c:pt idx="3">
                  <c:v>1.312</c:v>
                </c:pt>
                <c:pt idx="4">
                  <c:v>1.748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Contracted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9.0</c:v>
                </c:pt>
                <c:pt idx="1">
                  <c:v>7.0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12.0</c:v>
                </c:pt>
                <c:pt idx="6">
                  <c:v>8.0</c:v>
                </c:pt>
                <c:pt idx="7">
                  <c:v>7.0</c:v>
                </c:pt>
                <c:pt idx="8">
                  <c:v>1.8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Active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6.2</c:v>
                </c:pt>
                <c:pt idx="1">
                  <c:v>5.8</c:v>
                </c:pt>
                <c:pt idx="2">
                  <c:v>2.4</c:v>
                </c:pt>
                <c:pt idx="3">
                  <c:v>2.5</c:v>
                </c:pt>
                <c:pt idx="4">
                  <c:v>3.2</c:v>
                </c:pt>
                <c:pt idx="5">
                  <c:v>8.5</c:v>
                </c:pt>
                <c:pt idx="6">
                  <c:v>6.8</c:v>
                </c:pt>
                <c:pt idx="7">
                  <c:v>5.5</c:v>
                </c:pt>
                <c:pt idx="8">
                  <c:v>1.2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Inference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3.333</c:v>
                </c:pt>
                <c:pt idx="1">
                  <c:v>3.28</c:v>
                </c:pt>
                <c:pt idx="2">
                  <c:v>1.311</c:v>
                </c:pt>
                <c:pt idx="3">
                  <c:v>1.219</c:v>
                </c:pt>
                <c:pt idx="4">
                  <c:v>1.748</c:v>
                </c:pt>
                <c:pt idx="5">
                  <c:v>4.862</c:v>
                </c:pt>
                <c:pt idx="6">
                  <c:v>3.651</c:v>
                </c:pt>
                <c:pt idx="7">
                  <c:v>2.966</c:v>
                </c:pt>
                <c:pt idx="8">
                  <c:v>0.651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Training GW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1.111</c:v>
                </c:pt>
                <c:pt idx="1">
                  <c:v>0.925</c:v>
                </c:pt>
                <c:pt idx="2">
                  <c:v>0.328</c:v>
                </c:pt>
                <c:pt idx="3">
                  <c:v>0.523</c:v>
                </c:pt>
                <c:pt idx="4">
                  <c:v>0.437</c:v>
                </c:pt>
                <c:pt idx="5">
                  <c:v>1.371</c:v>
                </c:pt>
                <c:pt idx="6">
                  <c:v>1.42</c:v>
                </c:pt>
                <c:pt idx="7">
                  <c:v>1.042</c:v>
                </c:pt>
                <c:pt idx="8">
                  <c:v>0.143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Output tokens/sec/MW</c:v>
                </c:pt>
              </c:strCache>
            </c:strRef>
          </c:tx>
          <c:cat>
            <c:strRef>
              <c:f>Sheet1!$A$2:$A$10</c:f>
              <c:strCache>
                <c:ptCount val="9"/>
                <c:pt idx="0">
                  <c:v>Microsoft</c:v>
                </c:pt>
                <c:pt idx="1">
                  <c:v>Meta</c:v>
                </c:pt>
                <c:pt idx="2">
                  <c:v>Tencent</c:v>
                </c:pt>
                <c:pt idx="3">
                  <c:v>xAI</c:v>
                </c:pt>
                <c:pt idx="4">
                  <c:v>Alibaba</c:v>
                </c:pt>
                <c:pt idx="5">
                  <c:v>OpenAI</c:v>
                </c:pt>
                <c:pt idx="6">
                  <c:v>Google</c:v>
                </c:pt>
                <c:pt idx="7">
                  <c:v>Anthropic</c:v>
                </c:pt>
                <c:pt idx="8">
                  <c:v>DeepSeek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1.677722</c:v>
                </c:pt>
                <c:pt idx="1">
                  <c:v>0.836398</c:v>
                </c:pt>
                <c:pt idx="2">
                  <c:v>2.035573</c:v>
                </c:pt>
                <c:pt idx="3">
                  <c:v>1.555888</c:v>
                </c:pt>
                <c:pt idx="4">
                  <c:v>0.57101</c:v>
                </c:pt>
                <c:pt idx="5">
                  <c:v>0.123154</c:v>
                </c:pt>
                <c:pt idx="6">
                  <c:v>0.108556</c:v>
                </c:pt>
                <c:pt idx="7">
                  <c:v>0.074399</c:v>
                </c:pt>
                <c:pt idx="8">
                  <c:v>0.156534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numFmt formatCode="0.0" sourceLinked="0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Bear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0.105</c:v>
                </c:pt>
                <c:pt idx="1">
                  <c:v>0.213</c:v>
                </c:pt>
                <c:pt idx="2">
                  <c:v>0.341</c:v>
                </c:pt>
                <c:pt idx="3">
                  <c:v>0.488</c:v>
                </c:pt>
                <c:pt idx="4">
                  <c:v>0.653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Base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0.195</c:v>
                </c:pt>
                <c:pt idx="1">
                  <c:v>0.403</c:v>
                </c:pt>
                <c:pt idx="2">
                  <c:v>0.659</c:v>
                </c:pt>
                <c:pt idx="3">
                  <c:v>0.963</c:v>
                </c:pt>
                <c:pt idx="4">
                  <c:v>1.315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Bull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2026</c:v>
                </c:pt>
                <c:pt idx="1">
                  <c:v>2027</c:v>
                </c:pt>
                <c:pt idx="2">
                  <c:v>2028</c:v>
                </c:pt>
                <c:pt idx="3">
                  <c:v>2029</c:v>
                </c:pt>
                <c:pt idx="4">
                  <c:v>2030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0.286</c:v>
                </c:pt>
                <c:pt idx="1">
                  <c:v>0.615</c:v>
                </c:pt>
                <c:pt idx="2">
                  <c:v>1.038</c:v>
                </c:pt>
                <c:pt idx="3">
                  <c:v>1.566</c:v>
                </c:pt>
                <c:pt idx="4">
                  <c:v>2.203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sz="650">
                  <a:solidFill>
                    <a:srgbClr val="747E8E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spPr>
          <a:ln>
            <a:solidFill>
              <a:srgbClr val="E3E9F2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66928"/>
            <a:ext cx="4023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1">
                <a:solidFill>
                  <a:srgbClr val="1428A0"/>
                </a:solidFill>
              </a:defRPr>
            </a:pPr>
            <a:r>
              <a:t>COMPUTE CAPACITY STUDY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024128"/>
            <a:ext cx="7772400" cy="15727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3500" b="1">
                <a:solidFill>
                  <a:srgbClr val="141820"/>
                </a:solidFill>
              </a:defRPr>
            </a:pPr>
            <a:r>
              <a:t>Token Supply Constraints</a:t>
            </a:r>
            <a:br/>
            <a:r>
              <a:t>by LLM Provider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94944" y="2788920"/>
            <a:ext cx="722376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320" b="0">
                <a:solidFill>
                  <a:srgbClr val="3A4252"/>
                </a:solidFill>
              </a:defRPr>
            </a:pPr>
            <a:r>
              <a:t>A compute-capacity view of how contracted power, active AI load, inference allocation, and serving efficiency limit generated output token supply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8119872" y="1097280"/>
            <a:ext cx="36576" cy="3154680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94192" y="11338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Modeled provider 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94192" y="14173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1428A0"/>
                </a:solidFill>
              </a:defRPr>
            </a:pPr>
            <a:r>
              <a:t>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94192" y="1993391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commercial LLM owners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94192" y="2505456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Base 2030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94192" y="2788920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1.31Q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3364992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generated output tokens/day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5980176"/>
            <a:ext cx="61264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00" b="0">
                <a:solidFill>
                  <a:srgbClr val="747E8E"/>
                </a:solidFill>
              </a:defRPr>
            </a:pPr>
            <a:r>
              <a:t>Focus: supply constraints, not memory marketing motions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02368" y="5980176"/>
            <a:ext cx="173736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80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Executive answer: the bottleneck is active inference compute, not announced power alone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Token supply is constrained by four sequential conversion losses: deployment, AI IT allocation, inference share,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57984"/>
            <a:ext cx="2971800" cy="2743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Deployment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42.1GW active out of 54.8GW contracted in Base 2030.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312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5312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5312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Inference allocation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312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23.0GW goes to inference; 7.3GW remains training-oriented.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828800"/>
            <a:ext cx="64008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00" b="1">
                <a:solidFill>
                  <a:srgbClr val="1428A0"/>
                </a:solidFill>
              </a:defRPr>
            </a:pPr>
            <a: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56448" y="2157984"/>
            <a:ext cx="2971800" cy="27432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56448" y="2423160"/>
            <a:ext cx="3063240" cy="3200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750" b="1">
                <a:solidFill>
                  <a:srgbClr val="141820"/>
                </a:solidFill>
              </a:defRPr>
            </a:pPr>
            <a:r>
              <a:t>Concentration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56448" y="2907792"/>
            <a:ext cx="3063240" cy="1143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400" b="0">
                <a:solidFill>
                  <a:srgbClr val="3A4252"/>
                </a:solidFill>
              </a:defRPr>
            </a:pPr>
            <a:r>
              <a:t>Top 3 providers account for 72% of modeled 2030 generated-token supply.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4645152"/>
            <a:ext cx="10515600" cy="4572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30" b="0">
                <a:solidFill>
                  <a:srgbClr val="3A4252"/>
                </a:solidFill>
              </a:defRPr>
            </a:pPr>
            <a:r>
              <a:t>What changed from the prior deck: this version does not lead with memory revenue actions. It leads with provider-level token supply constraints and only uses memory implications as downstream context.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Read every provider through the same funnel: contracted GW to active GW to inference GW to output tokens.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constraint model traces where compute capacity is lost before it becomes tokens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same formula is applied to every provider so differences come from assumptions, capacity attribution, and serving efficiency.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Contracted</a:t>
            </a:r>
            <a:br/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Announced or inferred capacity envelope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9572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5351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Active</a:t>
            </a:r>
            <a:br/>
            <a:r>
              <a:t>power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5351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5351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Energized sites and deployed accelerators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9379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AI IT</a:t>
            </a:r>
            <a:br/>
            <a:r>
              <a:t>load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9379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PUE and AI workload allocation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7628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3407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Inference</a:t>
            </a:r>
            <a:br/>
            <a:r>
              <a:t>GW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34072" y="2670048"/>
            <a:ext cx="1554480" cy="3200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3407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Power assigned to commercial serving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221992"/>
            <a:ext cx="2286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50" b="1">
                <a:solidFill>
                  <a:srgbClr val="747E8E"/>
                </a:solidFill>
              </a:defRPr>
            </a:pPr>
            <a: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901952"/>
            <a:ext cx="1554480" cy="6400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650" b="1">
                <a:solidFill>
                  <a:srgbClr val="141820"/>
                </a:solidFill>
              </a:defRPr>
            </a:pPr>
            <a:r>
              <a:t>Token</a:t>
            </a:r>
            <a:br/>
            <a:r>
              <a:t>supply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2670048"/>
            <a:ext cx="1554480" cy="32004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74352" y="2889504"/>
            <a:ext cx="1554480" cy="42062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800" b="0">
                <a:solidFill>
                  <a:srgbClr val="747E8E"/>
                </a:solidFill>
              </a:defRPr>
            </a:pPr>
            <a:r>
              <a:t>Selected output tokens/sec/MW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3886200"/>
            <a:ext cx="10515600" cy="411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defRPr sz="1500" b="1">
                <a:solidFill>
                  <a:srgbClr val="1428A0"/>
                </a:solidFill>
              </a:defRPr>
            </a:pPr>
            <a:r>
              <a:t>generated output tokens/day = inference GW x 1,000 x fleet-weighted serving tokens/sec/MW x 86,400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78992" y="4617720"/>
            <a:ext cx="9966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Deployment gap captures power that is contracted or planned but not yet producing AI IT load.</a:t>
            </a:r>
          </a:p>
          <a:p>
            <a:pPr>
              <a:spcAft>
                <a:spcPts val="400"/>
              </a:spcAft>
              <a:defRPr sz="1040">
                <a:solidFill>
                  <a:srgbClr val="3A4252"/>
                </a:solidFill>
              </a:defRPr>
            </a:pPr>
            <a:r>
              <a:t>Serving efficiency captures model architecture, precision, batching, SLO targets, and production overhead.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is visible only after separating capacity ownership from operating conversion factors.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2030 token supply is concentrated in providers with both scale and high inference conversion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chart ranks generated output token supply, while the side metrics show the compute base behind the output.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55648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26679" y="1755648"/>
            <a:ext cx="333756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2030 provider snapshot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26679" y="2084831"/>
          <a:ext cx="335584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713232"/>
                <a:gridCol w="749808"/>
                <a:gridCol w="749808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0.48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5.8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10" b="0">
                          <a:solidFill>
                            <a:srgbClr val="3A4252"/>
                          </a:solidFill>
                        </a:defRPr>
                      </a:pPr>
                      <a:r>
                        <a:t>3.2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726679" y="4498848"/>
            <a:ext cx="278892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60" b="1">
                <a:solidFill>
                  <a:srgbClr val="747E8E"/>
                </a:solidFill>
              </a:defRPr>
            </a:pPr>
            <a:r>
              <a:t>Top 3 share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782312"/>
            <a:ext cx="2788920" cy="56692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2700" b="1">
                <a:solidFill>
                  <a:srgbClr val="00A3E0"/>
                </a:solidFill>
              </a:defRPr>
            </a:pPr>
            <a:r>
              <a:t>72%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6679" y="5358383"/>
            <a:ext cx="278892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840" b="0">
                <a:solidFill>
                  <a:srgbClr val="747E8E"/>
                </a:solidFill>
              </a:defRPr>
            </a:pPr>
            <a:r>
              <a:t>of modeled 2030 supply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supply leadership is a compute-conversion outcome, not just a data-center footprint outcome.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token supply trajectories show when each company begins to separate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line chart shows the top 2030 providers; the table keeps every modeled provider visible across 2026, 2028, and 2030.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token supply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30/26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6.5x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5.4x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10.2x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15.6x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10.4x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3.1x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2.6x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4.0x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14.0x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constraint story is dynamic: the relevant question is when token supply separates, not only who leads in 2030.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Inference GW trajectories explain the token supply trajectories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core model changes token supply through operational inference GW and a workload-adjusted serving reference derived from InferenceX.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46520" cy="37307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All-provider inference GW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084831"/>
          <a:ext cx="3657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5568"/>
                <a:gridCol w="640080"/>
                <a:gridCol w="640080"/>
                <a:gridCol w="640080"/>
                <a:gridCol w="621792"/>
              </a:tblGrid>
              <a:tr h="324612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2026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2028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2030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2.1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1.5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74%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24612"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3A4252"/>
                          </a:solidFill>
                        </a:defRPr>
                      </a:pPr>
                      <a:r>
                        <a:t>82%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Token growth should be decomposed into more inference GW versus better token output per MW.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first constraint is the gap between contracted capacity and active capacity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most important near-term bottleneck because non-energized or non-deployed power cannot serve tokens.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Deployment gap table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36392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85800"/>
                <a:gridCol w="685800"/>
                <a:gridCol w="621792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Contr.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Active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9.0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6.2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12.0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8.5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041648"/>
            <a:ext cx="3154680" cy="7315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00" b="0">
                <a:solidFill>
                  <a:srgbClr val="3A4252"/>
                </a:solidFill>
              </a:defRPr>
            </a:pPr>
            <a:r>
              <a:t>How to read this: the gap between contracted and active GW is supply that exists in plans but not yet in token-serving reality.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Deployment speed is the first gating variable in the 2026-2030 token supply ramp.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second constraint is how much AI load is assigned to inference instead of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A provider can own large compute capacity but still have limited commercial token supply if more AI load remains training-oriented.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99516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001000" y="1783080"/>
            <a:ext cx="306324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Inference allocation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001000" y="2148840"/>
          <a:ext cx="3118104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658368"/>
                <a:gridCol w="658368"/>
                <a:gridCol w="658368"/>
              </a:tblGrid>
              <a:tr h="34290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Train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1.1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78%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0.5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8001000" y="4526280"/>
            <a:ext cx="3154680" cy="4937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50" b="0">
                <a:solidFill>
                  <a:srgbClr val="3A4252"/>
                </a:solidFill>
              </a:defRPr>
            </a:pPr>
            <a:r>
              <a:t>This split is a scenario variable and should be updated as providers disclose product traffic and training cadence.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Inference share is the bridge between compute capacity and commercial token supply.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third input weights H200, B200, GB200 and purpose-built capacity into serving throughput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GPU-generation mix is an editable scenario input; public reference rows are then adjusted for commercial workload fit.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58368" y="1737360"/>
          <a:ext cx="6400800" cy="3749039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479792" y="1755648"/>
            <a:ext cx="36118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60" b="1">
                <a:solidFill>
                  <a:srgbClr val="747E8E"/>
                </a:solidFill>
              </a:defRPr>
            </a:pPr>
            <a:r>
              <a:t>Commercial serving reference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479792" y="2103120"/>
          <a:ext cx="370332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20"/>
                <a:gridCol w="914400"/>
                <a:gridCol w="914400"/>
                <a:gridCol w="914400"/>
              </a:tblGrid>
              <a:tr h="3581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S/L/A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Fit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M tok/s/MW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30%/30%/40%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0.07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40%/40%/20%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60%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45%/25%/30%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50%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35%/40%/25%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85%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58140"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45%/35%/20%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90%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90" b="0">
                          <a:solidFill>
                            <a:srgbClr val="3A4252"/>
                          </a:solidFill>
                        </a:defRPr>
                      </a:pPr>
                      <a:r>
                        <a:t>0.57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79792" y="4553712"/>
            <a:ext cx="3703320" cy="5486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40" b="0">
                <a:solidFill>
                  <a:srgbClr val="3A4252"/>
                </a:solidFill>
              </a:defRPr>
            </a:pPr>
            <a:r>
              <a:t>S/L/A is short conversation, long conversation and agentic mix; purpose-built hardware still receives no premium without matched output-token evidence.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Base TPS/MW now reflects GPU-generation mix, workload class mix and commercial workload fit.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Provider constraint map: each company has a different limiting factor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score is a directional operating index using deployment gap, inference share, and selected TPS/MW versus the peer set.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" y="1691640"/>
          <a:ext cx="1001268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143000"/>
                <a:gridCol w="1097280"/>
                <a:gridCol w="1417320"/>
                <a:gridCol w="1234440"/>
                <a:gridCol w="370332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Supply 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Deploy gap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Constraint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What to validate next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0.02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33%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Deployment gap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site energization, rack deployment, accelerator delivery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4.9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29%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Serving efficiency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model routing, precision, batching, TTFT/TPOT target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0.03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15%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Microsoft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0.48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31%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xAI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0.16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1.2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allocation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training cadence, launch schedule, commercial serving ramp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Tencent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Alibaba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0.09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1.7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20%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0.24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3.3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17%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Scale absorption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40" b="0">
                          <a:solidFill>
                            <a:srgbClr val="3A4252"/>
                          </a:solidFill>
                        </a:defRPr>
                      </a:pPr>
                      <a:r>
                        <a:t>demand absorption and product surface expansion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next research cycle should target the limiting factor for each provider, not collect generic capacity headlines.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Scenario stress shows how sensitive token supply is to compute conversion assumptions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Bull and Bear cases move operational deployment, inference allocation and the explicit commercial-workload fit to the public reference.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749808" y="1737360"/>
          <a:ext cx="66294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818120" y="1783080"/>
            <a:ext cx="320040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80" b="1">
                <a:solidFill>
                  <a:srgbClr val="747E8E"/>
                </a:solidFill>
              </a:defRPr>
            </a:pPr>
            <a:r>
              <a:t>2030 scenario output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818120" y="2121408"/>
          <a:ext cx="320040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31520"/>
                <a:gridCol w="777240"/>
                <a:gridCol w="914400"/>
              </a:tblGrid>
              <a:tr h="38862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Case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Q/day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Act. GW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Inf. share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Bear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0.65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34.5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66%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Base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1.31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42.1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76%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Bull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2.20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49.7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3A4252"/>
                          </a:solidFill>
                        </a:defRPr>
                      </a:pPr>
                      <a:r>
                        <a:t>84%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18120" y="3977639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1">
                <a:solidFill>
                  <a:srgbClr val="747E8E"/>
                </a:solidFill>
              </a:defRPr>
            </a:pPr>
            <a:r>
              <a:t>Scenario levers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4315968"/>
            <a:ext cx="3017520" cy="8046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Operational deployment speed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Commercial workload fit to public TPS/MW reference</a:t>
            </a:r>
          </a:p>
          <a:p>
            <a:pPr>
              <a:spcAft>
                <a:spcPts val="300"/>
              </a:spcAft>
              <a:defRPr sz="969">
                <a:solidFill>
                  <a:srgbClr val="3A4252"/>
                </a:solidFill>
              </a:defRPr>
            </a:pPr>
            <a:r>
              <a:t>Inference share of AI IT load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5257800"/>
            <a:ext cx="2926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28A0"/>
                </a:solidFill>
              </a:defRPr>
            </a:pPr>
            <a:r>
              <a:t>Base growth: 6.8x, 2026-2030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The same provider can move from constrained to advantaged if deployment and serving conversion improve together.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Evidence base now separates official submissions, serving proxies, and provenance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The workbook carries the source registry and number-level provenance so benchmark evidence is visible without changing the headline formula.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8" y="1737360"/>
          <a:ext cx="10698479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3246120"/>
                <a:gridCol w="5577840"/>
              </a:tblGrid>
              <a:tr h="510540"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Layer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Source set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How it is used</a:t>
                      </a:r>
                    </a:p>
                  </a:txBody>
                  <a:tcPr marL="50292" marR="50292" marT="32004" marB="32004">
                    <a:solidFill>
                      <a:srgbClr val="1428A0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Official benchmark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MLPerf Inference / MLPerf Power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hardware and power/performance anchor; not production telemetry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LLM serving proxy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InferenceX DB dump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model x GPU x precision x ISL/OSL output TPS/MW reference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Serving stack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vLLM / SGLang / TensorRT-LLM / FlashInfer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mechanism layer for batching, KV cache, kernel and runtime behavior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Scheduling papers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Orca / Sarathi / DistServe / Splitwise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utilization, prefill/decode and TTFT/TPOT sensitivity</a:t>
                      </a:r>
                    </a:p>
                  </a:txBody>
                  <a:tcPr marL="50292" marR="50292" marT="32004" marB="32004">
                    <a:solidFill>
                      <a:srgbClr val="F7F9FC"/>
                    </a:solidFill>
                  </a:tcPr>
                </a:tc>
              </a:tr>
              <a:tr h="510540"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Trend context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Epoch AI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3A4252"/>
                          </a:solidFill>
                        </a:defRPr>
                      </a:pPr>
                      <a:r>
                        <a:t>training scale, inference price trend, power and scaling bottlenecks</a:t>
                      </a:r>
                    </a:p>
                  </a:txBody>
                  <a:tcPr marL="50292" marR="50292" marT="32004" marB="3200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41248" y="5074920"/>
            <a:ext cx="1010412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3A4252"/>
                </a:solidFill>
              </a:defRPr>
            </a:pPr>
            <a:r>
              <a:t>Excel tabs 07_Source_Registry, 08_Provenance_Trace, and 09_Fact_Assumption_Audit expose source IDs, formula/rule, replacement path, and evidence class for review.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MLPerf and InferenceX are benchmark anchors; provider-specific production telemetry remains the replacement path.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329184"/>
            <a:ext cx="4297680" cy="20116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50" b="1">
                <a:solidFill>
                  <a:srgbClr val="1428A0"/>
                </a:solidFill>
              </a:defRPr>
            </a:pPr>
            <a:r>
              <a:t>TOKEN SUPPLY CONSTRAINTS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83564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950" b="1">
                <a:solidFill>
                  <a:srgbClr val="141820"/>
                </a:solidFill>
              </a:defRPr>
            </a:pPr>
            <a:r>
              <a:t>The operating agenda is to verify the bottleneck, then update the provider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76656" y="1133856"/>
            <a:ext cx="10424160" cy="31089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900" b="0">
                <a:solidFill>
                  <a:srgbClr val="747E8E"/>
                </a:solidFill>
              </a:defRPr>
            </a:pPr>
            <a:r>
              <a:t>This is the checklist that keeps the simulation tied to facts as new capacity, model, and benchmark data arrives.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499616"/>
            <a:ext cx="10881360" cy="9144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700784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Power</a:t>
            </a:r>
          </a:p>
        </p:txBody>
      </p:sp>
      <p:sp>
        <p:nvSpPr>
          <p:cNvPr id="8" name="Rectangle 7"/>
          <p:cNvSpPr/>
          <p:nvPr/>
        </p:nvSpPr>
        <p:spPr>
          <a:xfrm>
            <a:off x="2267712" y="1801368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18688" y="1700784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contracted sites are energized, and when do accelerators enter production service?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59152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Allocation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67712" y="2459736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18688" y="2359152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share of AI IT load is serving commercial inference versus training or experimentation?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017520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Architecture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67712" y="3118103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18688" y="3017520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model family, active parameter band, context length, and routing policy dominate traffic?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3675888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Efficiency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67712" y="3776472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18688" y="3675888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What output tokens/sec/MW is realistic after SLO, precision, batching, and production haircut?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" y="4334256"/>
            <a:ext cx="12344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200" b="1">
                <a:solidFill>
                  <a:srgbClr val="1428A0"/>
                </a:solidFill>
              </a:defRPr>
            </a:pPr>
            <a:r>
              <a:t>Demand absorption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67712" y="4434840"/>
            <a:ext cx="731520" cy="18288"/>
          </a:xfrm>
          <a:prstGeom prst="rect">
            <a:avLst/>
          </a:prstGeom>
          <a:solidFill>
            <a:srgbClr val="E3E9F2"/>
          </a:solidFill>
          <a:ln>
            <a:solidFill>
              <a:srgbClr val="E3E9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18688" y="4334256"/>
            <a:ext cx="7909560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40" b="0">
                <a:solidFill>
                  <a:srgbClr val="3A4252"/>
                </a:solidFill>
              </a:defRPr>
            </a:pPr>
            <a:r>
              <a:t>Which product surfaces can absorb the incremental token supply without idle capacity?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" y="5285232"/>
            <a:ext cx="10149840" cy="3840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050" b="0">
                <a:solidFill>
                  <a:srgbClr val="747E8E"/>
                </a:solidFill>
              </a:defRPr>
            </a:pPr>
            <a:r>
              <a:t>Workbook tabs: Logic, Benchmark Input, Inputs, GPU Mix Input, Calculation, Output, Checks, Aggressive View, Source Registry, Provenance Trace, Fact Audit. Derived output cells use Excel formulas.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5870448"/>
            <a:ext cx="1143000" cy="36576"/>
          </a:xfrm>
          <a:prstGeom prst="rect">
            <a:avLst/>
          </a:prstGeom>
          <a:solidFill>
            <a:srgbClr val="1428A0"/>
          </a:solidFill>
          <a:ln>
            <a:solidFill>
              <a:srgbClr val="142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947672" y="5760720"/>
            <a:ext cx="9464040" cy="34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1120" b="1">
                <a:solidFill>
                  <a:srgbClr val="141820"/>
                </a:solidFill>
              </a:defRPr>
            </a:pPr>
            <a:r>
              <a:t>Update only visible inputs; the workbook recalculates token supply through the same core formula.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6473952"/>
            <a:ext cx="932688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defRPr sz="720" b="0">
                <a:solidFill>
                  <a:srgbClr val="747E8E"/>
                </a:solidFill>
              </a:defRPr>
            </a:pPr>
            <a:r>
              <a:t>Commercial LLM model-owner basis | Compute capacity to generated output token supply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33888" y="6473952"/>
            <a:ext cx="1005840" cy="164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defRPr sz="720" b="0">
                <a:solidFill>
                  <a:srgbClr val="747E8E"/>
                </a:solidFill>
              </a:defRPr>
            </a:pPr>
            <a:r>
              <a:t>2026-07-23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