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0.1445198616576</c:v>
                </c:pt>
                <c:pt idx="1">
                  <c:v>0.1362573879264</c:v>
                </c:pt>
                <c:pt idx="2">
                  <c:v>0.121637595024</c:v>
                </c:pt>
                <c:pt idx="3">
                  <c:v>0.0920171650176</c:v>
                </c:pt>
                <c:pt idx="4">
                  <c:v>0.051255410688</c:v>
                </c:pt>
                <c:pt idx="5">
                  <c:v>0.0467623253952</c:v>
                </c:pt>
                <c:pt idx="6">
                  <c:v>0.039857379696</c:v>
                </c:pt>
                <c:pt idx="7">
                  <c:v>0.0230393503872</c:v>
                </c:pt>
                <c:pt idx="8">
                  <c:v>0.0030995703648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0.013592069568</c:v>
                </c:pt>
                <c:pt idx="1">
                  <c:v>0.0360240369408</c:v>
                </c:pt>
                <c:pt idx="2">
                  <c:v>0.0648691331328</c:v>
                </c:pt>
                <c:pt idx="3">
                  <c:v>0.10078753536</c:v>
                </c:pt>
                <c:pt idx="4">
                  <c:v>0.1445198616576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0.032008169952</c:v>
                </c:pt>
                <c:pt idx="1">
                  <c:v>0.053415075456</c:v>
                </c:pt>
                <c:pt idx="2">
                  <c:v>0.0780052584096</c:v>
                </c:pt>
                <c:pt idx="3">
                  <c:v>0.105659731152</c:v>
                </c:pt>
                <c:pt idx="4">
                  <c:v>0.1362573879264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0.02017941552</c:v>
                </c:pt>
                <c:pt idx="1">
                  <c:v>0.038645008848</c:v>
                </c:pt>
                <c:pt idx="2">
                  <c:v>0.0618029473824</c:v>
                </c:pt>
                <c:pt idx="3">
                  <c:v>0.0896342936256</c:v>
                </c:pt>
                <c:pt idx="4">
                  <c:v>0.121637595024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0.0107266071744</c:v>
                </c:pt>
                <c:pt idx="1">
                  <c:v>0.0260620835904</c:v>
                </c:pt>
                <c:pt idx="2">
                  <c:v>0.0447821436672</c:v>
                </c:pt>
                <c:pt idx="3">
                  <c:v>0.066821594112</c:v>
                </c:pt>
                <c:pt idx="4">
                  <c:v>0.0920171650176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0.0105596478144</c:v>
                </c:pt>
                <c:pt idx="1">
                  <c:v>0.018960831648</c:v>
                </c:pt>
                <c:pt idx="2">
                  <c:v>0.0285507597312</c:v>
                </c:pt>
                <c:pt idx="3">
                  <c:v>0.0393145031808</c:v>
                </c:pt>
                <c:pt idx="4">
                  <c:v>0.051255410688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0.595</c:v>
                </c:pt>
                <c:pt idx="1">
                  <c:v>1.467</c:v>
                </c:pt>
                <c:pt idx="2">
                  <c:v>2.468</c:v>
                </c:pt>
                <c:pt idx="3">
                  <c:v>3.6</c:v>
                </c:pt>
                <c:pt idx="4">
                  <c:v>4.862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0.902</c:v>
                </c:pt>
                <c:pt idx="1">
                  <c:v>1.48</c:v>
                </c:pt>
                <c:pt idx="2">
                  <c:v>2.131</c:v>
                </c:pt>
                <c:pt idx="3">
                  <c:v>2.855</c:v>
                </c:pt>
                <c:pt idx="4">
                  <c:v>3.651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0.71</c:v>
                </c:pt>
                <c:pt idx="1">
                  <c:v>1.247</c:v>
                </c:pt>
                <c:pt idx="2">
                  <c:v>1.863</c:v>
                </c:pt>
                <c:pt idx="3">
                  <c:v>2.559</c:v>
                </c:pt>
                <c:pt idx="4">
                  <c:v>3.333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0.379</c:v>
                </c:pt>
                <c:pt idx="1">
                  <c:v>0.891</c:v>
                </c:pt>
                <c:pt idx="2">
                  <c:v>1.492</c:v>
                </c:pt>
                <c:pt idx="3">
                  <c:v>2.184</c:v>
                </c:pt>
                <c:pt idx="4">
                  <c:v>2.966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0.673</c:v>
                </c:pt>
                <c:pt idx="1">
                  <c:v>1.21</c:v>
                </c:pt>
                <c:pt idx="2">
                  <c:v>1.824</c:v>
                </c:pt>
                <c:pt idx="3">
                  <c:v>2.514</c:v>
                </c:pt>
                <c:pt idx="4">
                  <c:v>3.28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Contracted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7.0</c:v>
                </c:pt>
                <c:pt idx="4">
                  <c:v>7.0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8.5</c:v>
                </c:pt>
                <c:pt idx="1">
                  <c:v>6.8</c:v>
                </c:pt>
                <c:pt idx="2">
                  <c:v>6.2</c:v>
                </c:pt>
                <c:pt idx="3">
                  <c:v>5.5</c:v>
                </c:pt>
                <c:pt idx="4">
                  <c:v>5.8</c:v>
                </c:pt>
                <c:pt idx="5">
                  <c:v>2.4</c:v>
                </c:pt>
                <c:pt idx="6">
                  <c:v>2.5</c:v>
                </c:pt>
                <c:pt idx="7">
                  <c:v>3.2</c:v>
                </c:pt>
                <c:pt idx="8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4.862</c:v>
                </c:pt>
                <c:pt idx="1">
                  <c:v>3.651</c:v>
                </c:pt>
                <c:pt idx="2">
                  <c:v>3.333</c:v>
                </c:pt>
                <c:pt idx="3">
                  <c:v>2.966</c:v>
                </c:pt>
                <c:pt idx="4">
                  <c:v>3.28</c:v>
                </c:pt>
                <c:pt idx="5">
                  <c:v>1.311</c:v>
                </c:pt>
                <c:pt idx="6">
                  <c:v>1.219</c:v>
                </c:pt>
                <c:pt idx="7">
                  <c:v>1.748</c:v>
                </c:pt>
                <c:pt idx="8">
                  <c:v>0.651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Training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1.371</c:v>
                </c:pt>
                <c:pt idx="1">
                  <c:v>1.42</c:v>
                </c:pt>
                <c:pt idx="2">
                  <c:v>1.111</c:v>
                </c:pt>
                <c:pt idx="3">
                  <c:v>1.042</c:v>
                </c:pt>
                <c:pt idx="4">
                  <c:v>0.925</c:v>
                </c:pt>
                <c:pt idx="5">
                  <c:v>0.328</c:v>
                </c:pt>
                <c:pt idx="6">
                  <c:v>0.523</c:v>
                </c:pt>
                <c:pt idx="7">
                  <c:v>0.437</c:v>
                </c:pt>
                <c:pt idx="8">
                  <c:v>0.143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tokens/sec/MW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0.344032</c:v>
                </c:pt>
                <c:pt idx="1">
                  <c:v>0.431951</c:v>
                </c:pt>
                <c:pt idx="2">
                  <c:v>0.422395</c:v>
                </c:pt>
                <c:pt idx="3">
                  <c:v>0.359074</c:v>
                </c:pt>
                <c:pt idx="4">
                  <c:v>0.180864</c:v>
                </c:pt>
                <c:pt idx="5">
                  <c:v>0.412838</c:v>
                </c:pt>
                <c:pt idx="6">
                  <c:v>0.378435</c:v>
                </c:pt>
                <c:pt idx="7">
                  <c:v>0.152551</c:v>
                </c:pt>
                <c:pt idx="8">
                  <c:v>0.055107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.0" sourceLinked="0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0.051</c:v>
                </c:pt>
                <c:pt idx="1">
                  <c:v>0.101</c:v>
                </c:pt>
                <c:pt idx="2">
                  <c:v>0.161</c:v>
                </c:pt>
                <c:pt idx="3">
                  <c:v>0.23</c:v>
                </c:pt>
                <c:pt idx="4">
                  <c:v>0.308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0.098</c:v>
                </c:pt>
                <c:pt idx="1">
                  <c:v>0.201</c:v>
                </c:pt>
                <c:pt idx="2">
                  <c:v>0.328</c:v>
                </c:pt>
                <c:pt idx="3">
                  <c:v>0.481</c:v>
                </c:pt>
                <c:pt idx="4">
                  <c:v>0.658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0.148</c:v>
                </c:pt>
                <c:pt idx="1">
                  <c:v>0.316</c:v>
                </c:pt>
                <c:pt idx="2">
                  <c:v>0.535</c:v>
                </c:pt>
                <c:pt idx="3">
                  <c:v>0.81</c:v>
                </c:pt>
                <c:pt idx="4">
                  <c:v>1.145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4023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COMPUTE CAPACITY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777240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Token Supply Constraints</a:t>
            </a:r>
            <a:br/>
            <a:r>
              <a:t>by LLM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788920"/>
            <a:ext cx="722376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20" b="0">
                <a:solidFill>
                  <a:srgbClr val="3A4252"/>
                </a:solidFill>
              </a:defRPr>
            </a:pPr>
            <a:r>
              <a:t>A compute-capacity view of how contracted power, active AI load, inference allocation, and serving efficiency limit generated output token supply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19872" y="1097280"/>
            <a:ext cx="36576" cy="315468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338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Modeled provider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173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993391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commercial LLM owners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5054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7889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0.66Q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336499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61264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Focus: supply constraints, not memory marketing motions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980176"/>
            <a:ext cx="1737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Executive answer: the bottleneck is active inference compute, not announced power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Token supply is constrained by four sequential conversion losses: deployment, AI IT allocation, inference share,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42.1GW active out of 54.8GW contracted in Base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Inference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23.0GW goes to inference; 7.3GW remains training-oriented.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Concentration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Top 3 providers account for 61% of modeled 2030 generated-token supply.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45152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30" b="0">
                <a:solidFill>
                  <a:srgbClr val="3A4252"/>
                </a:solidFill>
              </a:defRPr>
            </a:pPr>
            <a:r>
              <a:t>What changed from the prior deck: this version does not lead with memory revenue actions. It leads with provider-level token supply constraints and only uses memory implications as downstream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Read every provider through the same funnel: contracted GW to active GW to inference GW to output tokens.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constraint model traces where compute capacity is lost before it becomes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same formula is applied to every provider so differences come from assumptions, capacity attribution,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Announced or inferred capacity envelope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power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Energized sites and deployed accelerators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PUE and AI workload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3407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407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Power assigned to commercial serving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Token</a:t>
            </a:r>
            <a:br/>
            <a:r>
              <a:t>supply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2670048"/>
            <a:ext cx="155448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Selected output tokens/sec/MW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88620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generated 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Deployment gap captures power that is contracted or planned but not yet producing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Serving efficiency captures model architecture, precision, batching, SLO targets, and production overhead.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is visible only after separating capacity ownership from operating conversion factors.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2030 token supply is concentrated in providers with both scale and high inference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chart ranks generated output token supply, while the side metrics show the compute base behind the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55648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1755648"/>
            <a:ext cx="3337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2030 provider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26679" y="2084831"/>
          <a:ext cx="3355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713232"/>
                <a:gridCol w="749808"/>
                <a:gridCol w="74980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44988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Top 3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7823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61%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5358383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of modeled 2030 supply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supply leadership is a compute-conversion outcome, not just a data-center footprint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token supply trajectories show when each company begins to separate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line chart shows the top 2030 providers; the table keeps every modeled provider visible across 2026, 2028, and 2030.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token supply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30/26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10.6x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4.3x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6.0x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8.6x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9.3x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14.4x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8.6x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10.9x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story is dynamic: the relevant question is when token supply separates, not only who leads in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Inference GW trajectories explain the token supply 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core model changes token supply through operational inference GW and a workload-adjusted serving reference derived from InferenceX.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inference GW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growth should be decomposed into more inference GW versus better token output per MW.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first constraint is the gap between contracted capacity and active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most important near-term bottleneck because non-energized or non-deployed power cannot serve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Deployment gap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3639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85800"/>
                <a:gridCol w="685800"/>
                <a:gridCol w="621792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Contr.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041648"/>
            <a:ext cx="3154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0">
                <a:solidFill>
                  <a:srgbClr val="3A4252"/>
                </a:solidFill>
              </a:defRPr>
            </a:pPr>
            <a:r>
              <a:t>How to read this: the gap between contracted and active GW is supply that exists in plans but not yet in token-serving reality.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Deployment speed is the first gating variable in the 2026-2030 token supply ramp.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second constraint is how much AI load is assigned to inference instead of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provider can own large compute capacity but still have limited commercial token supply if more AI load remains training-oriented.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Inference allocation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1810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58368"/>
                <a:gridCol w="658368"/>
                <a:gridCol w="658368"/>
              </a:tblGrid>
              <a:tr h="34290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526280"/>
            <a:ext cx="315468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3A4252"/>
                </a:solidFill>
              </a:defRPr>
            </a:pPr>
            <a:r>
              <a:t>This split is a scenario variable and should be updated as providers disclose product traffic and training cadence.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share is the bridge between compute capacity and commercial token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third input weights H200, B200, GB200 and purpose-built capacity into serving throughput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GPU-generation mix is an editable scenario input; public reference rows are then adjusted for commercial workload 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0080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Commercial serving reference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103120"/>
          <a:ext cx="37033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914400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H/B/GB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Fit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M tok/s/MW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10%/35%/55%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10%/35%/55%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6%/19%/30%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10%/35%/55%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0.34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2%/5%/8%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0.36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79792" y="4553712"/>
            <a:ext cx="37033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40" b="0">
                <a:solidFill>
                  <a:srgbClr val="3A4252"/>
                </a:solidFill>
              </a:defRPr>
            </a:pPr>
            <a:r>
              <a:t>Purpose-built mix remains visible, but no hardware premium is added without a comparable output-token benchmark.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Base TPS/MW reflects an editable GPU-generation mix and workload fit; public benchmark values define the reference layer.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constraint map: each company has a different limiting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score is a directional operating index using deployment gap, inference share, and selected TPS/MW versus the peer set.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91640"/>
          <a:ext cx="100126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097280"/>
                <a:gridCol w="1417320"/>
                <a:gridCol w="1234440"/>
                <a:gridCol w="370332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Supply 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Deploy 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What to validate next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Deployment gap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site energization, rack deployment, accelerator delivery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next research cycle should target the limiting factor for each provider, not collect generic capacity headlines.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Scenario stress shows how sensitive token supply is to compute conversion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Bull and Bear cases move operational deployment, inference allocation and the explicit commercial-workload fit to the public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37360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783080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2030 scenario output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18120" y="2121408"/>
          <a:ext cx="3200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31520"/>
                <a:gridCol w="777240"/>
                <a:gridCol w="91440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Bear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0.31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66%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0.66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Bull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1.15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49.7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18120" y="3977639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1">
                <a:solidFill>
                  <a:srgbClr val="747E8E"/>
                </a:solidFill>
              </a:defRPr>
            </a:pPr>
            <a:r>
              <a:t>Scenario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0175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Operational deployment speed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Commercial workload fit to public TPS/MW reference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Inference share of AI IT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257800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28A0"/>
                </a:solidFill>
              </a:defRPr>
            </a:pPr>
            <a:r>
              <a:t>Base growth: 6.7x, 2026-2030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same provider can move from constrained to advantaged if deployment and serving conversion improve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Evidence base now separates official submissions, serving proxies, and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workbook carries the source registry and number-level provenance so benchmark evidence is visible without changing the headline formula.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8" y="1737360"/>
          <a:ext cx="10698479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246120"/>
                <a:gridCol w="5577840"/>
              </a:tblGrid>
              <a:tr h="5105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Source set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How it is used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Official benchmark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MLPerf Inference / MLPerf Power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hardware and power/performance anchor; not production telemetry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LLM serving proxy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InferenceX DB dump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model x GPU x precision x ISL/OSL output TPS/MW reference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Serving stack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vLLM / SGLang / TensorRT-LLM / FlashInfer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mechanism layer for batching, KV cache, kernel and runtime behavior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Scheduling papers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Orca / Sarathi / DistServe / Splitwise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utilization, prefill/decode and TTFT/TPOT sensitivity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Trend context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Epoch 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training scale, inference price trend, power and scaling bottlenecks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5074920"/>
            <a:ext cx="1010412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3A4252"/>
                </a:solidFill>
              </a:defRPr>
            </a:pPr>
            <a:r>
              <a:t>Excel tabs 07_Source_Registry, 08_Provenance_Trace, and 09_Fact_Assumption_Audit expose source IDs, formula/rule, replacement path, and evidence class for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MLPerf and InferenceX are benchmark anchors; provider-specific production telemetry remains the replacement path.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operating agenda is to verify the bottleneck, then update the provider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checklist that keeps the simulation tied to facts as new capacity, model, and benchmark data arrives.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7712" y="1801368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18688" y="1700784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contracted sites are energized, and when do accelerators enter production service?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Allocation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2459736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2359152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share of AI IT load is serving commercial inference versus training or experimentation?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017520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7712" y="3118103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3017520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model family, active parameter band, context length, and routing policy dominate traffic?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675888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3776472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18688" y="3675888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output tokens/sec/MW is realistic after SLO, precision, batching, and production haircut?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34256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Demand absorption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4434840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4334256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product surfaces can absorb the incremental token supply without idle capacity?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tabs: Logic, Benchmark Input, Inputs, GPU Mix Input, Calculation, Output, Checks, Aggressive View, Source Registry, Provenance Trace, Fact Audit. Derived output cells use Excel formulas.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Update only visible inputs; the workbook recalculates token supply through the same core formula.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