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 output tokens/day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OpenAI</c:v>
                </c:pt>
                <c:pt idx="1">
                  <c:v>Google</c:v>
                </c:pt>
                <c:pt idx="2">
                  <c:v>Microsoft</c:v>
                </c:pt>
                <c:pt idx="3">
                  <c:v>Anthropic</c:v>
                </c:pt>
                <c:pt idx="4">
                  <c:v>Meta</c:v>
                </c:pt>
                <c:pt idx="5">
                  <c:v>Tencent</c:v>
                </c:pt>
                <c:pt idx="6">
                  <c:v>xAI</c:v>
                </c:pt>
                <c:pt idx="7">
                  <c:v>Alibaba</c:v>
                </c:pt>
                <c:pt idx="8">
                  <c:v>DeepSeek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0.1445198616576</c:v>
                </c:pt>
                <c:pt idx="1">
                  <c:v>0.1362573879264</c:v>
                </c:pt>
                <c:pt idx="2">
                  <c:v>0.121637595024</c:v>
                </c:pt>
                <c:pt idx="3">
                  <c:v>0.0920171650176</c:v>
                </c:pt>
                <c:pt idx="4">
                  <c:v>0.051255410688</c:v>
                </c:pt>
                <c:pt idx="5">
                  <c:v>0.0467623253952</c:v>
                </c:pt>
                <c:pt idx="6">
                  <c:v>0.039857379696</c:v>
                </c:pt>
                <c:pt idx="7">
                  <c:v>0.0230393503872</c:v>
                </c:pt>
                <c:pt idx="8">
                  <c:v>0.0030995703648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650">
                  <a:solidFill>
                    <a:srgbClr val="747E8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OpenAI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0.013592069568</c:v>
                </c:pt>
                <c:pt idx="1">
                  <c:v>0.0360240369408</c:v>
                </c:pt>
                <c:pt idx="2">
                  <c:v>0.0648691331328</c:v>
                </c:pt>
                <c:pt idx="3">
                  <c:v>0.10078753536</c:v>
                </c:pt>
                <c:pt idx="4">
                  <c:v>0.1445198616576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Google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0.032008169952</c:v>
                </c:pt>
                <c:pt idx="1">
                  <c:v>0.053415075456</c:v>
                </c:pt>
                <c:pt idx="2">
                  <c:v>0.0780052584096</c:v>
                </c:pt>
                <c:pt idx="3">
                  <c:v>0.105659731152</c:v>
                </c:pt>
                <c:pt idx="4">
                  <c:v>0.1362573879264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Microsoft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0.02017941552</c:v>
                </c:pt>
                <c:pt idx="1">
                  <c:v>0.038645008848</c:v>
                </c:pt>
                <c:pt idx="2">
                  <c:v>0.0618029473824</c:v>
                </c:pt>
                <c:pt idx="3">
                  <c:v>0.0896342936256</c:v>
                </c:pt>
                <c:pt idx="4">
                  <c:v>0.121637595024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Anthropic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0.0107266071744</c:v>
                </c:pt>
                <c:pt idx="1">
                  <c:v>0.0260620835904</c:v>
                </c:pt>
                <c:pt idx="2">
                  <c:v>0.0447821436672</c:v>
                </c:pt>
                <c:pt idx="3">
                  <c:v>0.066821594112</c:v>
                </c:pt>
                <c:pt idx="4">
                  <c:v>0.0920171650176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Meta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0.0105596478144</c:v>
                </c:pt>
                <c:pt idx="1">
                  <c:v>0.018960831648</c:v>
                </c:pt>
                <c:pt idx="2">
                  <c:v>0.0285507597312</c:v>
                </c:pt>
                <c:pt idx="3">
                  <c:v>0.0393145031808</c:v>
                </c:pt>
                <c:pt idx="4">
                  <c:v>0.051255410688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OpenAI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0.595</c:v>
                </c:pt>
                <c:pt idx="1">
                  <c:v>1.467</c:v>
                </c:pt>
                <c:pt idx="2">
                  <c:v>2.468</c:v>
                </c:pt>
                <c:pt idx="3">
                  <c:v>3.6</c:v>
                </c:pt>
                <c:pt idx="4">
                  <c:v>4.862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Google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0.902</c:v>
                </c:pt>
                <c:pt idx="1">
                  <c:v>1.48</c:v>
                </c:pt>
                <c:pt idx="2">
                  <c:v>2.131</c:v>
                </c:pt>
                <c:pt idx="3">
                  <c:v>2.855</c:v>
                </c:pt>
                <c:pt idx="4">
                  <c:v>3.651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Microsoft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0.71</c:v>
                </c:pt>
                <c:pt idx="1">
                  <c:v>1.247</c:v>
                </c:pt>
                <c:pt idx="2">
                  <c:v>1.863</c:v>
                </c:pt>
                <c:pt idx="3">
                  <c:v>2.559</c:v>
                </c:pt>
                <c:pt idx="4">
                  <c:v>3.333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Anthropic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0.379</c:v>
                </c:pt>
                <c:pt idx="1">
                  <c:v>0.891</c:v>
                </c:pt>
                <c:pt idx="2">
                  <c:v>1.492</c:v>
                </c:pt>
                <c:pt idx="3">
                  <c:v>2.184</c:v>
                </c:pt>
                <c:pt idx="4">
                  <c:v>2.966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Meta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0.673</c:v>
                </c:pt>
                <c:pt idx="1">
                  <c:v>1.21</c:v>
                </c:pt>
                <c:pt idx="2">
                  <c:v>1.824</c:v>
                </c:pt>
                <c:pt idx="3">
                  <c:v>2.514</c:v>
                </c:pt>
                <c:pt idx="4">
                  <c:v>3.28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Contracted GW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OpenAI</c:v>
                </c:pt>
                <c:pt idx="1">
                  <c:v>Google</c:v>
                </c:pt>
                <c:pt idx="2">
                  <c:v>Microsoft</c:v>
                </c:pt>
                <c:pt idx="3">
                  <c:v>Anthropic</c:v>
                </c:pt>
                <c:pt idx="4">
                  <c:v>Meta</c:v>
                </c:pt>
                <c:pt idx="5">
                  <c:v>Tencent</c:v>
                </c:pt>
                <c:pt idx="6">
                  <c:v>xAI</c:v>
                </c:pt>
                <c:pt idx="7">
                  <c:v>Alibaba</c:v>
                </c:pt>
                <c:pt idx="8">
                  <c:v>DeepSeek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7.0</c:v>
                </c:pt>
                <c:pt idx="4">
                  <c:v>7.0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 GW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OpenAI</c:v>
                </c:pt>
                <c:pt idx="1">
                  <c:v>Google</c:v>
                </c:pt>
                <c:pt idx="2">
                  <c:v>Microsoft</c:v>
                </c:pt>
                <c:pt idx="3">
                  <c:v>Anthropic</c:v>
                </c:pt>
                <c:pt idx="4">
                  <c:v>Meta</c:v>
                </c:pt>
                <c:pt idx="5">
                  <c:v>Tencent</c:v>
                </c:pt>
                <c:pt idx="6">
                  <c:v>xAI</c:v>
                </c:pt>
                <c:pt idx="7">
                  <c:v>Alibaba</c:v>
                </c:pt>
                <c:pt idx="8">
                  <c:v>DeepSeek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8.5</c:v>
                </c:pt>
                <c:pt idx="1">
                  <c:v>6.8</c:v>
                </c:pt>
                <c:pt idx="2">
                  <c:v>6.2</c:v>
                </c:pt>
                <c:pt idx="3">
                  <c:v>5.5</c:v>
                </c:pt>
                <c:pt idx="4">
                  <c:v>5.8</c:v>
                </c:pt>
                <c:pt idx="5">
                  <c:v>2.4</c:v>
                </c:pt>
                <c:pt idx="6">
                  <c:v>2.5</c:v>
                </c:pt>
                <c:pt idx="7">
                  <c:v>3.2</c:v>
                </c:pt>
                <c:pt idx="8">
                  <c:v>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650">
                  <a:solidFill>
                    <a:srgbClr val="747E8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Inference GW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OpenAI</c:v>
                </c:pt>
                <c:pt idx="1">
                  <c:v>Google</c:v>
                </c:pt>
                <c:pt idx="2">
                  <c:v>Microsoft</c:v>
                </c:pt>
                <c:pt idx="3">
                  <c:v>Anthropic</c:v>
                </c:pt>
                <c:pt idx="4">
                  <c:v>Meta</c:v>
                </c:pt>
                <c:pt idx="5">
                  <c:v>Tencent</c:v>
                </c:pt>
                <c:pt idx="6">
                  <c:v>xAI</c:v>
                </c:pt>
                <c:pt idx="7">
                  <c:v>Alibaba</c:v>
                </c:pt>
                <c:pt idx="8">
                  <c:v>DeepSeek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4.862</c:v>
                </c:pt>
                <c:pt idx="1">
                  <c:v>3.651</c:v>
                </c:pt>
                <c:pt idx="2">
                  <c:v>3.333</c:v>
                </c:pt>
                <c:pt idx="3">
                  <c:v>2.966</c:v>
                </c:pt>
                <c:pt idx="4">
                  <c:v>3.28</c:v>
                </c:pt>
                <c:pt idx="5">
                  <c:v>1.311</c:v>
                </c:pt>
                <c:pt idx="6">
                  <c:v>1.219</c:v>
                </c:pt>
                <c:pt idx="7">
                  <c:v>1.748</c:v>
                </c:pt>
                <c:pt idx="8">
                  <c:v>0.651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Training GW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OpenAI</c:v>
                </c:pt>
                <c:pt idx="1">
                  <c:v>Google</c:v>
                </c:pt>
                <c:pt idx="2">
                  <c:v>Microsoft</c:v>
                </c:pt>
                <c:pt idx="3">
                  <c:v>Anthropic</c:v>
                </c:pt>
                <c:pt idx="4">
                  <c:v>Meta</c:v>
                </c:pt>
                <c:pt idx="5">
                  <c:v>Tencent</c:v>
                </c:pt>
                <c:pt idx="6">
                  <c:v>xAI</c:v>
                </c:pt>
                <c:pt idx="7">
                  <c:v>Alibaba</c:v>
                </c:pt>
                <c:pt idx="8">
                  <c:v>DeepSeek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1.371</c:v>
                </c:pt>
                <c:pt idx="1">
                  <c:v>1.42</c:v>
                </c:pt>
                <c:pt idx="2">
                  <c:v>1.111</c:v>
                </c:pt>
                <c:pt idx="3">
                  <c:v>1.042</c:v>
                </c:pt>
                <c:pt idx="4">
                  <c:v>0.925</c:v>
                </c:pt>
                <c:pt idx="5">
                  <c:v>0.328</c:v>
                </c:pt>
                <c:pt idx="6">
                  <c:v>0.523</c:v>
                </c:pt>
                <c:pt idx="7">
                  <c:v>0.437</c:v>
                </c:pt>
                <c:pt idx="8">
                  <c:v>0.143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650">
                  <a:solidFill>
                    <a:srgbClr val="747E8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Output tokens/sec/MW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OpenAI</c:v>
                </c:pt>
                <c:pt idx="1">
                  <c:v>Google</c:v>
                </c:pt>
                <c:pt idx="2">
                  <c:v>Microsoft</c:v>
                </c:pt>
                <c:pt idx="3">
                  <c:v>Anthropic</c:v>
                </c:pt>
                <c:pt idx="4">
                  <c:v>Meta</c:v>
                </c:pt>
                <c:pt idx="5">
                  <c:v>Tencent</c:v>
                </c:pt>
                <c:pt idx="6">
                  <c:v>xAI</c:v>
                </c:pt>
                <c:pt idx="7">
                  <c:v>Alibaba</c:v>
                </c:pt>
                <c:pt idx="8">
                  <c:v>DeepSeek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0.344032</c:v>
                </c:pt>
                <c:pt idx="1">
                  <c:v>0.431951</c:v>
                </c:pt>
                <c:pt idx="2">
                  <c:v>0.422395</c:v>
                </c:pt>
                <c:pt idx="3">
                  <c:v>0.359074</c:v>
                </c:pt>
                <c:pt idx="4">
                  <c:v>0.180864</c:v>
                </c:pt>
                <c:pt idx="5">
                  <c:v>0.412838</c:v>
                </c:pt>
                <c:pt idx="6">
                  <c:v>0.378435</c:v>
                </c:pt>
                <c:pt idx="7">
                  <c:v>0.152551</c:v>
                </c:pt>
                <c:pt idx="8">
                  <c:v>0.055107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650">
                  <a:solidFill>
                    <a:srgbClr val="747E8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0.0" sourceLinked="0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0.051</c:v>
                </c:pt>
                <c:pt idx="1">
                  <c:v>0.101</c:v>
                </c:pt>
                <c:pt idx="2">
                  <c:v>0.161</c:v>
                </c:pt>
                <c:pt idx="3">
                  <c:v>0.23</c:v>
                </c:pt>
                <c:pt idx="4">
                  <c:v>0.308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0.098</c:v>
                </c:pt>
                <c:pt idx="1">
                  <c:v>0.201</c:v>
                </c:pt>
                <c:pt idx="2">
                  <c:v>0.328</c:v>
                </c:pt>
                <c:pt idx="3">
                  <c:v>0.481</c:v>
                </c:pt>
                <c:pt idx="4">
                  <c:v>0.658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0.148</c:v>
                </c:pt>
                <c:pt idx="1">
                  <c:v>0.316</c:v>
                </c:pt>
                <c:pt idx="2">
                  <c:v>0.535</c:v>
                </c:pt>
                <c:pt idx="3">
                  <c:v>0.81</c:v>
                </c:pt>
                <c:pt idx="4">
                  <c:v>1.145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sz="650">
                  <a:solidFill>
                    <a:srgbClr val="747E8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40233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1">
                <a:solidFill>
                  <a:srgbClr val="1428A0"/>
                </a:solidFill>
              </a:defRPr>
            </a:pPr>
            <a:r>
              <a:t>COMPUTE CAPACITY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7772400" cy="1572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500" b="1">
                <a:solidFill>
                  <a:srgbClr val="141820"/>
                </a:solidFill>
              </a:defRPr>
            </a:pPr>
            <a:r>
              <a:t>Token Supply Constraints</a:t>
            </a:r>
            <a:br/>
            <a:r>
              <a:t>by LLM Provider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788920"/>
            <a:ext cx="722376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20" b="0">
                <a:solidFill>
                  <a:srgbClr val="3A4252"/>
                </a:solidFill>
              </a:defRPr>
            </a:pPr>
            <a:r>
              <a:t>A compute-capacity view of how contracted power, active AI load, inference allocation, and serving efficiency limit generated output token supply</a:t>
            </a:r>
          </a:p>
        </p:txBody>
      </p:sp>
      <p:sp>
        <p:nvSpPr>
          <p:cNvPr id="6" name="Rectangle 5"/>
          <p:cNvSpPr/>
          <p:nvPr/>
        </p:nvSpPr>
        <p:spPr>
          <a:xfrm>
            <a:off x="8119872" y="1097280"/>
            <a:ext cx="36576" cy="3154680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94192" y="1133856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Modeled provider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417320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1428A0"/>
                </a:solidFill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1993391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commercial LLM owners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505456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Base 2030 supply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788920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00A3E0"/>
                </a:solidFill>
              </a:defRPr>
            </a:pPr>
            <a:r>
              <a:t>0.66Q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3364992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generated output tokens/day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980176"/>
            <a:ext cx="6126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747E8E"/>
                </a:solidFill>
              </a:defRPr>
            </a:pPr>
            <a:r>
              <a:t>Focus: supply constraints, not memory marketing motions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02368" y="5980176"/>
            <a:ext cx="17373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0">
                <a:solidFill>
                  <a:srgbClr val="747E8E"/>
                </a:solidFill>
              </a:defRPr>
            </a:pPr>
            <a:r>
              <a:t>2026-05-27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Executive answer: the bottleneck is active inference compute, not announced power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Token supply is constrained by four sequential conversion losses: deployment, AI IT allocation, inference share, and serving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640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1428A0"/>
                </a:solidFill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57984"/>
            <a:ext cx="2971800" cy="2743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423160"/>
            <a:ext cx="3063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50" b="1">
                <a:solidFill>
                  <a:srgbClr val="141820"/>
                </a:solidFill>
              </a:defRPr>
            </a:pPr>
            <a: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07792"/>
            <a:ext cx="306324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3A4252"/>
                </a:solidFill>
              </a:defRPr>
            </a:pPr>
            <a:r>
              <a:t>42.1GW active out of 54.8GW contracted in Base 2030.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828800"/>
            <a:ext cx="640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1428A0"/>
                </a:solidFill>
              </a:defRPr>
            </a:pPr>
            <a: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8" y="2157984"/>
            <a:ext cx="2971800" cy="27432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423160"/>
            <a:ext cx="3063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50" b="1">
                <a:solidFill>
                  <a:srgbClr val="141820"/>
                </a:solidFill>
              </a:defRPr>
            </a:pPr>
            <a:r>
              <a:t>Inference 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907792"/>
            <a:ext cx="306324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3A4252"/>
                </a:solidFill>
              </a:defRPr>
            </a:pPr>
            <a:r>
              <a:t>23.0GW goes to inference; 7.3GW remains training-oriented.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828800"/>
            <a:ext cx="640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1428A0"/>
                </a:solidFill>
              </a:defRPr>
            </a:pPr>
            <a: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6448" y="2157984"/>
            <a:ext cx="2971800" cy="27432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2423160"/>
            <a:ext cx="3063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50" b="1">
                <a:solidFill>
                  <a:srgbClr val="141820"/>
                </a:solidFill>
              </a:defRPr>
            </a:pPr>
            <a:r>
              <a:t>Concentration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907792"/>
            <a:ext cx="306324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3A4252"/>
                </a:solidFill>
              </a:defRPr>
            </a:pPr>
            <a:r>
              <a:t>Top 3 providers account for 61% of modeled 2030 generated-token supply.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645152"/>
            <a:ext cx="10515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30" b="0">
                <a:solidFill>
                  <a:srgbClr val="3A4252"/>
                </a:solidFill>
              </a:defRPr>
            </a:pPr>
            <a:r>
              <a:t>What changed from the prior deck: this version does not lead with memory revenue actions. It leads with provider-level token supply constraints and only uses memory implications as downstream context.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Read every provider through the same funnel: contracted GW to active GW to inference GW to output tokens.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The constraint model traces where compute capacity is lost before it becomes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The same formula is applied to every provider so differences come from assumptions, capacity attribution, and serving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01952"/>
            <a:ext cx="15544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50" b="1">
                <a:solidFill>
                  <a:srgbClr val="141820"/>
                </a:solidFill>
              </a:defRPr>
            </a:pPr>
            <a:r>
              <a:t>Contracted</a:t>
            </a:r>
            <a:br/>
            <a:r>
              <a:t>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670048"/>
            <a:ext cx="155448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889504"/>
            <a:ext cx="155448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b="0">
                <a:solidFill>
                  <a:srgbClr val="747E8E"/>
                </a:solidFill>
              </a:defRPr>
            </a:pPr>
            <a:r>
              <a:t>Announced or inferred capacity envelope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221992"/>
            <a:ext cx="228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5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1901952"/>
            <a:ext cx="15544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50" b="1">
                <a:solidFill>
                  <a:srgbClr val="141820"/>
                </a:solidFill>
              </a:defRPr>
            </a:pPr>
            <a:r>
              <a:t>Active</a:t>
            </a:r>
            <a:br/>
            <a:r>
              <a:t>power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53512" y="2670048"/>
            <a:ext cx="155448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2889504"/>
            <a:ext cx="155448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b="0">
                <a:solidFill>
                  <a:srgbClr val="747E8E"/>
                </a:solidFill>
              </a:defRPr>
            </a:pPr>
            <a:r>
              <a:t>Energized sites and deployed accelerators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21992"/>
            <a:ext cx="228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5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901952"/>
            <a:ext cx="15544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50" b="1">
                <a:solidFill>
                  <a:srgbClr val="141820"/>
                </a:solidFill>
              </a:defRPr>
            </a:pPr>
            <a:r>
              <a:t>AI IT</a:t>
            </a:r>
            <a:br/>
            <a:r>
              <a:t>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93792" y="2670048"/>
            <a:ext cx="155448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92" y="2889504"/>
            <a:ext cx="155448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b="0">
                <a:solidFill>
                  <a:srgbClr val="747E8E"/>
                </a:solidFill>
              </a:defRPr>
            </a:pPr>
            <a:r>
              <a:t>PUE and AI workload 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221992"/>
            <a:ext cx="228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5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1901952"/>
            <a:ext cx="15544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50" b="1">
                <a:solidFill>
                  <a:srgbClr val="141820"/>
                </a:solidFill>
              </a:defRPr>
            </a:pPr>
            <a:r>
              <a:t>Inference</a:t>
            </a:r>
            <a:br/>
            <a:r>
              <a:t>GW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34072" y="2670048"/>
            <a:ext cx="155448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34072" y="2889504"/>
            <a:ext cx="155448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b="0">
                <a:solidFill>
                  <a:srgbClr val="747E8E"/>
                </a:solidFill>
              </a:defRPr>
            </a:pPr>
            <a:r>
              <a:t>Power assigned to commercial serving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221992"/>
            <a:ext cx="228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5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1901952"/>
            <a:ext cx="15544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50" b="1">
                <a:solidFill>
                  <a:srgbClr val="141820"/>
                </a:solidFill>
              </a:defRPr>
            </a:pPr>
            <a:r>
              <a:t>Token</a:t>
            </a:r>
            <a:br/>
            <a:r>
              <a:t>supply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74352" y="2670048"/>
            <a:ext cx="1554480" cy="32004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2889504"/>
            <a:ext cx="155448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b="0">
                <a:solidFill>
                  <a:srgbClr val="747E8E"/>
                </a:solidFill>
              </a:defRPr>
            </a:pPr>
            <a:r>
              <a:t>Selected output tokens/sec/MW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886200"/>
            <a:ext cx="10515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00" b="1">
                <a:solidFill>
                  <a:srgbClr val="1428A0"/>
                </a:solidFill>
              </a:defRPr>
            </a:pPr>
            <a:r>
              <a:t>generated output tokens/day = inference GW x 1,000 x fleet-weighted serving tokens/sec/MW x 86,400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61772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40">
                <a:solidFill>
                  <a:srgbClr val="3A4252"/>
                </a:solidFill>
              </a:defRPr>
            </a:pPr>
            <a:r>
              <a:t>Deployment gap captures power that is contracted or planned but not yet producing AI IT load.</a:t>
            </a:r>
          </a:p>
          <a:p>
            <a:pPr>
              <a:spcAft>
                <a:spcPts val="400"/>
              </a:spcAft>
              <a:defRPr sz="1040">
                <a:solidFill>
                  <a:srgbClr val="3A4252"/>
                </a:solidFill>
              </a:defRPr>
            </a:pPr>
            <a:r>
              <a:t>Serving efficiency captures model architecture, precision, batching, SLO targets, and production overhead.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The constraint is visible only after separating capacity ownership from operating conversion factors.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2030 token supply is concentrated in providers with both scale and high inference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The chart ranks generated output token supply, while the side metrics show the compute base behind the output.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755648"/>
          <a:ext cx="6629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26679" y="1755648"/>
            <a:ext cx="3337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60" b="1">
                <a:solidFill>
                  <a:srgbClr val="747E8E"/>
                </a:solidFill>
              </a:defRPr>
            </a:pPr>
            <a:r>
              <a:t>2030 provider snapshot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26679" y="2084831"/>
          <a:ext cx="335584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713232"/>
                <a:gridCol w="749808"/>
                <a:gridCol w="749808"/>
              </a:tblGrid>
              <a:tr h="35814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Q/day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Inf. GW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Act. GW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4.9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8.5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3.7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6.8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Microsoft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6.2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5.5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5.8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26679" y="4498848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Top 3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782312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00A3E0"/>
                </a:solidFill>
              </a:defRPr>
            </a:pPr>
            <a:r>
              <a:t>61%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5358383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of modeled 2030 supply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Token supply leadership is a compute-conversion outcome, not just a data-center footprint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Provider token supply trajectories show when each company begins to separate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The line chart shows the top 2030 providers; the table keeps every modeled provider visible across 2026, 2028, and 2030.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737360"/>
          <a:ext cx="6446520" cy="37307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79792" y="1755648"/>
            <a:ext cx="3611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60" b="1">
                <a:solidFill>
                  <a:srgbClr val="747E8E"/>
                </a:solidFill>
              </a:defRPr>
            </a:pPr>
            <a:r>
              <a:t>All-provider token supply table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79792" y="2084831"/>
          <a:ext cx="36576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640080"/>
                <a:gridCol w="640080"/>
                <a:gridCol w="640080"/>
                <a:gridCol w="621792"/>
              </a:tblGrid>
              <a:tr h="324612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30/26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10.6x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0.03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4.3x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Microsoft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6.0x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0.04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8.6x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4.9x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Tencent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0.02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9.3x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xAI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0.04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14.4x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Alibaba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0.02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8.6x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10.9x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The constraint story is dynamic: the relevant question is when token supply separates, not only who leads in 2030.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Inference GW trajectories explain the token supply trajectories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The core model changes token supply through operational inference GW and a workload-adjusted serving reference derived from InferenceX.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737360"/>
          <a:ext cx="6446520" cy="37307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79792" y="1755648"/>
            <a:ext cx="3611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60" b="1">
                <a:solidFill>
                  <a:srgbClr val="747E8E"/>
                </a:solidFill>
              </a:defRPr>
            </a:pPr>
            <a:r>
              <a:t>All-provider inference GW table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79792" y="2084831"/>
          <a:ext cx="36576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640080"/>
                <a:gridCol w="640080"/>
                <a:gridCol w="640080"/>
                <a:gridCol w="621792"/>
              </a:tblGrid>
              <a:tr h="324612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0.6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4.9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2.1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3.7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Microsoft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1.9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0.4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Tencent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xAI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0.1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0.6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Alibaba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0.3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0.1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Token growth should be decomposed into more inference GW versus better token output per MW.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The first constraint is the gap between contracted capacity and active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This is the most important near-term bottleneck because non-energized or non-deployed power cannot serve tokens.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737360"/>
          <a:ext cx="69951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01000" y="1783080"/>
            <a:ext cx="3063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1">
                <a:solidFill>
                  <a:srgbClr val="747E8E"/>
                </a:solidFill>
              </a:defRPr>
            </a:pPr>
            <a:r>
              <a:t>Deployment gap table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01000" y="2148840"/>
          <a:ext cx="31363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685800"/>
                <a:gridCol w="685800"/>
                <a:gridCol w="621792"/>
              </a:tblGrid>
              <a:tr h="38862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Contr.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Microsoft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9.0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6.2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12.0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8.5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01000" y="4041648"/>
            <a:ext cx="3154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0">
                <a:solidFill>
                  <a:srgbClr val="3A4252"/>
                </a:solidFill>
              </a:defRPr>
            </a:pPr>
            <a:r>
              <a:t>How to read this: the gap between contracted and active GW is supply that exists in plans but not yet in token-serving reality.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Deployment speed is the first gating variable in the 2026-2030 token supply ramp.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The second constraint is how much AI load is assigned to inference instead of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A provider can own large compute capacity but still have limited commercial token supply if more AI load remains training-oriented.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737360"/>
          <a:ext cx="69951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01000" y="1783080"/>
            <a:ext cx="3063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1">
                <a:solidFill>
                  <a:srgbClr val="747E8E"/>
                </a:solidFill>
              </a:defRPr>
            </a:pPr>
            <a:r>
              <a:t>Inference allocation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01000" y="2148840"/>
          <a:ext cx="3118104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658368"/>
                <a:gridCol w="658368"/>
                <a:gridCol w="658368"/>
              </a:tblGrid>
              <a:tr h="34290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Inf.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Train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4.9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3.7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Microsoft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1.1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01000" y="4526280"/>
            <a:ext cx="315468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3A4252"/>
                </a:solidFill>
              </a:defRPr>
            </a:pPr>
            <a:r>
              <a:t>This split is a scenario variable and should be updated as providers disclose product traffic and training cadence.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Inference share is the bridge between compute capacity and commercial token supply.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The third input weights H200, B200, GB200 and purpose-built capacity into serving throughput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GPU-generation mix is an editable scenario input; public reference rows are then adjusted for commercial workload 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737360"/>
          <a:ext cx="640080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79792" y="1755648"/>
            <a:ext cx="3611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60" b="1">
                <a:solidFill>
                  <a:srgbClr val="747E8E"/>
                </a:solidFill>
              </a:defRPr>
            </a:pPr>
            <a:r>
              <a:t>Commercial serving reference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79792" y="2103120"/>
          <a:ext cx="37033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14400"/>
                <a:gridCol w="914400"/>
                <a:gridCol w="914400"/>
              </a:tblGrid>
              <a:tr h="35814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H/B/GB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Fit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M tok/s/MW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10%/35%/55%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Alibaba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10%/35%/55%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6%/19%/30%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0.18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10%/35%/55%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0.34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2%/5%/8%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0.36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79792" y="4553712"/>
            <a:ext cx="3703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40" b="0">
                <a:solidFill>
                  <a:srgbClr val="3A4252"/>
                </a:solidFill>
              </a:defRPr>
            </a:pPr>
            <a:r>
              <a:t>Purpose-built mix remains visible, but no hardware premium is added without a comparable output-token benchmark.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Base TPS/MW reflects an editable GPU-generation mix and workload fit; public benchmark values define the reference layer.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Provider constraint map: each company has a different limiting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The score is a directional operating index using deployment gap, inference share, and selected TPS/MW versus the peer 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691640"/>
          <a:ext cx="100126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143000"/>
                <a:gridCol w="1097280"/>
                <a:gridCol w="1417320"/>
                <a:gridCol w="1234440"/>
                <a:gridCol w="3703320"/>
              </a:tblGrid>
              <a:tr h="38862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Supply Q/day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Inf. GW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Deploy gap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Constraint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What to validate next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Deployment gap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site energization, rack deployment, accelerator delivery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Alibaba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0.02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Serving efficiency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model routing, precision, batching, TTFT/TPOT target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Serving efficiency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model routing, precision, batching, TTFT/TPOT target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Microsoft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allocation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cadence, launch schedule, commercial serving ramp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4.9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Serving efficiency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model routing, precision, batching, TTFT/TPOT target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allocation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cadence, launch schedule, commercial serving ramp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xAI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0.04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allocation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cadence, launch schedule, commercial serving ramp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Tencent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Scale absorption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demand absorption and product surface expansion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3.7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allocation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cadence, launch schedule, commercial serving ramp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The next research cycle should target the limiting factor for each provider, not collect generic capacity headlines.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Scenario stress shows how sensitive token supply is to compute conversion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Bull and Bear cases move operational deployment, inference allocation and the explicit commercial-workload fit to the public reference.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49808" y="1737360"/>
          <a:ext cx="6629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18120" y="1783080"/>
            <a:ext cx="3200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1">
                <a:solidFill>
                  <a:srgbClr val="747E8E"/>
                </a:solidFill>
              </a:defRPr>
            </a:pPr>
            <a:r>
              <a:t>2030 scenario output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818120" y="2121408"/>
          <a:ext cx="3200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731520"/>
                <a:gridCol w="777240"/>
                <a:gridCol w="914400"/>
              </a:tblGrid>
              <a:tr h="38862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Q/day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Act. GW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Inf. share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Bear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34.5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0.66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42.1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Bull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1.15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49.7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18120" y="3977639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1">
                <a:solidFill>
                  <a:srgbClr val="747E8E"/>
                </a:solidFill>
              </a:defRPr>
            </a:pPr>
            <a:r>
              <a:t>Scenario levers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315968"/>
            <a:ext cx="30175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969">
                <a:solidFill>
                  <a:srgbClr val="3A4252"/>
                </a:solidFill>
              </a:defRPr>
            </a:pPr>
            <a:r>
              <a:t>Operational deployment speed</a:t>
            </a:r>
          </a:p>
          <a:p>
            <a:pPr>
              <a:spcAft>
                <a:spcPts val="300"/>
              </a:spcAft>
              <a:defRPr sz="969">
                <a:solidFill>
                  <a:srgbClr val="3A4252"/>
                </a:solidFill>
              </a:defRPr>
            </a:pPr>
            <a:r>
              <a:t>Commercial workload fit to public TPS/MW reference</a:t>
            </a:r>
          </a:p>
          <a:p>
            <a:pPr>
              <a:spcAft>
                <a:spcPts val="300"/>
              </a:spcAft>
              <a:defRPr sz="969">
                <a:solidFill>
                  <a:srgbClr val="3A4252"/>
                </a:solidFill>
              </a:defRPr>
            </a:pPr>
            <a:r>
              <a:t>Inference share of AI IT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257800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28A0"/>
                </a:solidFill>
              </a:defRPr>
            </a:pPr>
            <a:r>
              <a:t>Base growth: 6.7x, 2026-2030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The same provider can move from constrained to advantaged if deployment and serving conversion improve together.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The operating agenda is to verify the bottleneck, then update the provider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This is the checklist that keeps the simulation tied to facts as new capacity, model, and benchmark data arrives.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00784"/>
            <a:ext cx="1234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67712" y="1801368"/>
            <a:ext cx="73152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18688" y="1700784"/>
            <a:ext cx="7909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40" b="0">
                <a:solidFill>
                  <a:srgbClr val="3A4252"/>
                </a:solidFill>
              </a:defRPr>
            </a:pPr>
            <a:r>
              <a:t>Which contracted sites are energized, and when do accelerators enter production service?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59152"/>
            <a:ext cx="1234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Allocation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2459736"/>
            <a:ext cx="73152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2359152"/>
            <a:ext cx="7909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40" b="0">
                <a:solidFill>
                  <a:srgbClr val="3A4252"/>
                </a:solidFill>
              </a:defRPr>
            </a:pPr>
            <a:r>
              <a:t>What share of AI IT load is serving commercial inference versus training or experimentation?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17520"/>
            <a:ext cx="1234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67712" y="3118103"/>
            <a:ext cx="73152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3017520"/>
            <a:ext cx="7909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40" b="0">
                <a:solidFill>
                  <a:srgbClr val="3A4252"/>
                </a:solidFill>
              </a:defRPr>
            </a:pPr>
            <a:r>
              <a:t>Which model family, active parameter band, context length, and routing policy dominate traffic?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675888"/>
            <a:ext cx="1234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Efficiency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67712" y="3776472"/>
            <a:ext cx="73152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18688" y="3675888"/>
            <a:ext cx="7909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40" b="0">
                <a:solidFill>
                  <a:srgbClr val="3A4252"/>
                </a:solidFill>
              </a:defRPr>
            </a:pPr>
            <a:r>
              <a:t>What output tokens/sec/MW is realistic after SLO, precision, batching, and production haircut?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334256"/>
            <a:ext cx="1234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Demand absorption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4434840"/>
            <a:ext cx="73152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18688" y="4334256"/>
            <a:ext cx="7909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40" b="0">
                <a:solidFill>
                  <a:srgbClr val="3A4252"/>
                </a:solidFill>
              </a:defRPr>
            </a:pPr>
            <a:r>
              <a:t>Which product surfaces can absorb the incremental token supply without idle capacity?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285232"/>
            <a:ext cx="101498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0">
                <a:solidFill>
                  <a:srgbClr val="747E8E"/>
                </a:solidFill>
              </a:defRPr>
            </a:pPr>
            <a:r>
              <a:t>Workbook tabs: Logic, Benchmark Input, Inputs, GPU Mix Input, Calculation, Output, Checks, Aggressive View. Derived output cells use Excel formulas.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Update only visible inputs; the workbook recalculates token supply through the same core formula.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