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0.2154517006752</c:v>
                </c:pt>
                <c:pt idx="1">
                  <c:v>0.111140957952</c:v>
                </c:pt>
                <c:pt idx="2">
                  <c:v>0.0943886774016</c:v>
                </c:pt>
                <c:pt idx="3">
                  <c:v>0.0718923135168</c:v>
                </c:pt>
                <c:pt idx="4">
                  <c:v>0.0468196402176</c:v>
                </c:pt>
                <c:pt idx="5">
                  <c:v>0.0154789899264</c:v>
                </c:pt>
                <c:pt idx="6">
                  <c:v>0.014575200912</c:v>
                </c:pt>
                <c:pt idx="7">
                  <c:v>0.0088364400768</c:v>
                </c:pt>
                <c:pt idx="8">
                  <c:v>0.0040192552512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0.034688068992</c:v>
                </c:pt>
                <c:pt idx="1">
                  <c:v>0.06718716288</c:v>
                </c:pt>
                <c:pt idx="2">
                  <c:v>0.1083303261216</c:v>
                </c:pt>
                <c:pt idx="3">
                  <c:v>0.1580741713152</c:v>
                </c:pt>
                <c:pt idx="4">
                  <c:v>0.2154517006752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0.021667972608</c:v>
                </c:pt>
                <c:pt idx="1">
                  <c:v>0.039607226208</c:v>
                </c:pt>
                <c:pt idx="2">
                  <c:v>0.0605383206912</c:v>
                </c:pt>
                <c:pt idx="3">
                  <c:v>0.0844137324288</c:v>
                </c:pt>
                <c:pt idx="4">
                  <c:v>0.111140957952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Tencent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0.0098764952832</c:v>
                </c:pt>
                <c:pt idx="1">
                  <c:v>0.0242263636992</c:v>
                </c:pt>
                <c:pt idx="2">
                  <c:v>0.042791991552</c:v>
                </c:pt>
                <c:pt idx="3">
                  <c:v>0.066048986304</c:v>
                </c:pt>
                <c:pt idx="4">
                  <c:v>0.0943886774016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0.00482484816</c:v>
                </c:pt>
                <c:pt idx="1">
                  <c:v>0.0150968161152</c:v>
                </c:pt>
                <c:pt idx="2">
                  <c:v>0.0293604801408</c:v>
                </c:pt>
                <c:pt idx="3">
                  <c:v>0.048117908736</c:v>
                </c:pt>
                <c:pt idx="4">
                  <c:v>0.0718923135168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Alibaba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0.0048673505664</c:v>
                </c:pt>
                <c:pt idx="1">
                  <c:v>0.0116748238464</c:v>
                </c:pt>
                <c:pt idx="2">
                  <c:v>0.020738180736</c:v>
                </c:pt>
                <c:pt idx="3">
                  <c:v>0.0323455693824</c:v>
                </c:pt>
                <c:pt idx="4">
                  <c:v>0.0468196402176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0.71</c:v>
                </c:pt>
                <c:pt idx="1">
                  <c:v>1.247</c:v>
                </c:pt>
                <c:pt idx="2">
                  <c:v>1.863</c:v>
                </c:pt>
                <c:pt idx="3">
                  <c:v>2.559</c:v>
                </c:pt>
                <c:pt idx="4">
                  <c:v>3.333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0.673</c:v>
                </c:pt>
                <c:pt idx="1">
                  <c:v>1.21</c:v>
                </c:pt>
                <c:pt idx="2">
                  <c:v>1.824</c:v>
                </c:pt>
                <c:pt idx="3">
                  <c:v>2.514</c:v>
                </c:pt>
                <c:pt idx="4">
                  <c:v>3.28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Tencent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0.184</c:v>
                </c:pt>
                <c:pt idx="1">
                  <c:v>0.416</c:v>
                </c:pt>
                <c:pt idx="2">
                  <c:v>0.681</c:v>
                </c:pt>
                <c:pt idx="3">
                  <c:v>0.98</c:v>
                </c:pt>
                <c:pt idx="4">
                  <c:v>1.311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0.11</c:v>
                </c:pt>
                <c:pt idx="1">
                  <c:v>0.317</c:v>
                </c:pt>
                <c:pt idx="2">
                  <c:v>0.571</c:v>
                </c:pt>
                <c:pt idx="3">
                  <c:v>0.872</c:v>
                </c:pt>
                <c:pt idx="4">
                  <c:v>1.219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Alibaba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0.266</c:v>
                </c:pt>
                <c:pt idx="1">
                  <c:v>0.572</c:v>
                </c:pt>
                <c:pt idx="2">
                  <c:v>0.92</c:v>
                </c:pt>
                <c:pt idx="3">
                  <c:v>1.312</c:v>
                </c:pt>
                <c:pt idx="4">
                  <c:v>1.748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Contracted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9.0</c:v>
                </c:pt>
                <c:pt idx="1">
                  <c:v>7.0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12.0</c:v>
                </c:pt>
                <c:pt idx="6">
                  <c:v>8.0</c:v>
                </c:pt>
                <c:pt idx="7">
                  <c:v>7.0</c:v>
                </c:pt>
                <c:pt idx="8">
                  <c:v>1.8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Active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6.2</c:v>
                </c:pt>
                <c:pt idx="1">
                  <c:v>5.8</c:v>
                </c:pt>
                <c:pt idx="2">
                  <c:v>2.4</c:v>
                </c:pt>
                <c:pt idx="3">
                  <c:v>2.5</c:v>
                </c:pt>
                <c:pt idx="4">
                  <c:v>3.2</c:v>
                </c:pt>
                <c:pt idx="5">
                  <c:v>8.5</c:v>
                </c:pt>
                <c:pt idx="6">
                  <c:v>6.8</c:v>
                </c:pt>
                <c:pt idx="7">
                  <c:v>5.5</c:v>
                </c:pt>
                <c:pt idx="8">
                  <c:v>1.2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Inference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3.333</c:v>
                </c:pt>
                <c:pt idx="1">
                  <c:v>3.28</c:v>
                </c:pt>
                <c:pt idx="2">
                  <c:v>1.311</c:v>
                </c:pt>
                <c:pt idx="3">
                  <c:v>1.219</c:v>
                </c:pt>
                <c:pt idx="4">
                  <c:v>1.748</c:v>
                </c:pt>
                <c:pt idx="5">
                  <c:v>4.862</c:v>
                </c:pt>
                <c:pt idx="6">
                  <c:v>3.651</c:v>
                </c:pt>
                <c:pt idx="7">
                  <c:v>2.966</c:v>
                </c:pt>
                <c:pt idx="8">
                  <c:v>0.651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Training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1.111</c:v>
                </c:pt>
                <c:pt idx="1">
                  <c:v>0.925</c:v>
                </c:pt>
                <c:pt idx="2">
                  <c:v>0.328</c:v>
                </c:pt>
                <c:pt idx="3">
                  <c:v>0.523</c:v>
                </c:pt>
                <c:pt idx="4">
                  <c:v>0.437</c:v>
                </c:pt>
                <c:pt idx="5">
                  <c:v>1.371</c:v>
                </c:pt>
                <c:pt idx="6">
                  <c:v>1.42</c:v>
                </c:pt>
                <c:pt idx="7">
                  <c:v>1.042</c:v>
                </c:pt>
                <c:pt idx="8">
                  <c:v>0.143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Output tokens/sec/MW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0.748171</c:v>
                </c:pt>
                <c:pt idx="1">
                  <c:v>0.392181</c:v>
                </c:pt>
                <c:pt idx="2">
                  <c:v>0.833304</c:v>
                </c:pt>
                <c:pt idx="3">
                  <c:v>0.682598</c:v>
                </c:pt>
                <c:pt idx="4">
                  <c:v>0.310008</c:v>
                </c:pt>
                <c:pt idx="5">
                  <c:v>0.036848</c:v>
                </c:pt>
                <c:pt idx="6">
                  <c:v>0.046205</c:v>
                </c:pt>
                <c:pt idx="7">
                  <c:v>0.034482</c:v>
                </c:pt>
                <c:pt idx="8">
                  <c:v>0.071458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numFmt formatCode="0.0" sourceLinked="0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0.046</c:v>
                </c:pt>
                <c:pt idx="1">
                  <c:v>0.092</c:v>
                </c:pt>
                <c:pt idx="2">
                  <c:v>0.149</c:v>
                </c:pt>
                <c:pt idx="3">
                  <c:v>0.216</c:v>
                </c:pt>
                <c:pt idx="4">
                  <c:v>0.291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0.083</c:v>
                </c:pt>
                <c:pt idx="1">
                  <c:v>0.172</c:v>
                </c:pt>
                <c:pt idx="2">
                  <c:v>0.285</c:v>
                </c:pt>
                <c:pt idx="3">
                  <c:v>0.421</c:v>
                </c:pt>
                <c:pt idx="4">
                  <c:v>0.583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0.12</c:v>
                </c:pt>
                <c:pt idx="1">
                  <c:v>0.259</c:v>
                </c:pt>
                <c:pt idx="2">
                  <c:v>0.444</c:v>
                </c:pt>
                <c:pt idx="3">
                  <c:v>0.68</c:v>
                </c:pt>
                <c:pt idx="4">
                  <c:v>0.971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4023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COMPUTE CAPACITY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7772400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Token Supply Constraints</a:t>
            </a:r>
            <a:br/>
            <a:r>
              <a:t>by LLM Provider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788920"/>
            <a:ext cx="722376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20" b="0">
                <a:solidFill>
                  <a:srgbClr val="3A4252"/>
                </a:solidFill>
              </a:defRPr>
            </a:pPr>
            <a:r>
              <a:t>A compute-capacity view of how contracted power, active AI load, inference allocation, and serving efficiency limit generated output token supply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119872" y="1097280"/>
            <a:ext cx="36576" cy="315468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94192" y="11338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Modeled provider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4173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94192" y="1993391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commercial LLM owners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5054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27889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0.58Q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336499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61264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Focus: supply constraints, not memory marketing motions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02368" y="5980176"/>
            <a:ext cx="1737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Executive answer: the bottleneck is active inference compute, not announced power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Token supply is constrained by four sequential conversion losses: deployment, AI IT allocation, inference share,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42.1GW active out of 54.8GW contracted in Base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Inference 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23.0GW goes to inference; 7.3GW remains training-oriented.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Concentration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Top 3 providers account for 72% of modeled 2030 generated-token supply.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645152"/>
            <a:ext cx="105156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30" b="0">
                <a:solidFill>
                  <a:srgbClr val="3A4252"/>
                </a:solidFill>
              </a:defRPr>
            </a:pPr>
            <a:r>
              <a:t>What changed from the prior deck: this version does not lead with memory revenue actions. It leads with provider-level token supply constraints and only uses memory implications as downstream context.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Read every provider through the same funnel: contracted GW to active GW to inference GW to output tokens.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constraint model traces where compute capacity is lost before it becomes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same formula is applied to every provider so differences come from assumptions, capacity attribution,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Announced or inferred capacity envelope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5351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power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5351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Energized sites and deployed accelerators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PUE and AI workload allocation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407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3407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3407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Power assigned to commercial serving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7435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Token</a:t>
            </a:r>
            <a:br/>
            <a:r>
              <a:t>supply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74352" y="2670048"/>
            <a:ext cx="155448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7435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Selected output tokens/sec/MW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886200"/>
            <a:ext cx="105156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generated output tokens/day = inference GW x 1,000 x fleet-weighted serving tokens/sec/MW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Deployment gap captures power that is contracted or planned but not yet producing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Serving efficiency captures model architecture, precision, batching, SLO targets, and production overhead.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is visible only after separating capacity ownership from operating conversion factors.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2030 token supply is concentrated in providers with both scale and high inference 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chart ranks generated output token supply, while the side metrics show the compute base behind the output.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55648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26679" y="1755648"/>
            <a:ext cx="3337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2030 provider snapshot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26679" y="2084831"/>
          <a:ext cx="335584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713232"/>
                <a:gridCol w="749808"/>
                <a:gridCol w="749808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0.22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0.11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5.8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2.4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2.5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26679" y="44988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Top 3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47823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72%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5358383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of modeled 2030 supply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supply leadership is a compute-conversion outcome, not just a data-center footprint outcome.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token supply trajectories show when each company begins to separate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line chart shows the top 2030 providers; the table keeps every modeled provider visible across 2026, 2028, and 2030.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token supply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30/26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6.2x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5.1x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9.6x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14.9x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9.6x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8.2x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4.0x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7.8x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11.2x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story is dynamic: the relevant question is when token supply separates, not only who leads in 2030.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Inference GW trajectories explain the token supply trajectories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core model changes token supply through operational inference GW and a workload-adjusted serving reference derived from InferenceX.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inference GW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72%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74%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82%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growth should be decomposed into more inference GW versus better token output per MW.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first constraint is the gap between contracted capacity and active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most important near-term bottleneck because non-energized or non-deployed power cannot serve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Deployment gap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3639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85800"/>
                <a:gridCol w="685800"/>
                <a:gridCol w="621792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Contr.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Active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9.0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12.0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8.5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041648"/>
            <a:ext cx="3154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00" b="0">
                <a:solidFill>
                  <a:srgbClr val="3A4252"/>
                </a:solidFill>
              </a:defRPr>
            </a:pPr>
            <a:r>
              <a:t>How to read this: the gap between contracted and active GW is supply that exists in plans but not yet in token-serving reality.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Deployment speed is the first gating variable in the 2026-2030 token supply ramp.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second constraint is how much AI load is assigned to inference instead of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A provider can own large compute capacity but still have limited commercial token supply if more AI load remains training-oriented.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Inference allocation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1810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58368"/>
                <a:gridCol w="658368"/>
                <a:gridCol w="658368"/>
              </a:tblGrid>
              <a:tr h="34290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Train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526280"/>
            <a:ext cx="3154680" cy="4937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3A4252"/>
                </a:solidFill>
              </a:defRPr>
            </a:pPr>
            <a:r>
              <a:t>This split is a scenario variable and should be updated as providers disclose product traffic and training cadence.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share is the bridge between compute capacity and commercial token supply.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third input weights H200, B200, GB200 and purpose-built capacity into serving throughput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GPU-generation mix is an editable scenario input; public reference rows are then adjusted for commercial workload 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0080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Commercial serving reference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103120"/>
          <a:ext cx="370332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914400"/>
                <a:gridCol w="914400"/>
                <a:gridCol w="914400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S/L/A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Fit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M tok/s/MW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30%/30%/40%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45%/25%/30%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40%/40%/20%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60%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35%/40%/25%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85%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45%/35%/20%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0.31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79792" y="4553712"/>
            <a:ext cx="37033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40" b="0">
                <a:solidFill>
                  <a:srgbClr val="3A4252"/>
                </a:solidFill>
              </a:defRPr>
            </a:pPr>
            <a:r>
              <a:t>S/L/A is short conversation, long conversation and agentic mix; purpose-built hardware still receives no premium without matched output-token evidence.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Base TPS/MW now reflects GPU-generation mix, workload class mix and commercial workload fit.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constraint map: each company has a different limiting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score is a directional operating index using deployment gap, inference share, and selected TPS/MW versus the peer set.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691640"/>
          <a:ext cx="100126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143000"/>
                <a:gridCol w="1097280"/>
                <a:gridCol w="1417320"/>
                <a:gridCol w="1234440"/>
                <a:gridCol w="370332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Supply 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Deploy 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Constraint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What to validate next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model routing, precision, batching, TTFT/TPOT target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Deployment gap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site energization, rack deployment, accelerator delivery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21%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15%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0.22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next research cycle should target the limiting factor for each provider, not collect generic capacity headlines.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Scenario stress shows how sensitive token supply is to compute conversion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Bull and Bear cases move operational deployment, inference allocation and the explicit commercial-workload fit to the public reference.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37360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818120" y="1783080"/>
            <a:ext cx="32004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2030 scenario output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818120" y="2121408"/>
          <a:ext cx="32004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731520"/>
                <a:gridCol w="777240"/>
                <a:gridCol w="91440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Case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Bear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0.29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34.5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66%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Base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0.58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42.1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76%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Bull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0.97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49.7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84%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818120" y="3977639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1">
                <a:solidFill>
                  <a:srgbClr val="747E8E"/>
                </a:solidFill>
              </a:defRPr>
            </a:pPr>
            <a:r>
              <a:t>Scenario levers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315968"/>
            <a:ext cx="301752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Operational deployment speed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Commercial workload fit to public TPS/MW reference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Inference share of AI IT 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257800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28A0"/>
                </a:solidFill>
              </a:defRPr>
            </a:pPr>
            <a:r>
              <a:t>Base growth: 7.0x, 2026-2030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same provider can move from constrained to advantaged if deployment and serving conversion improve together.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Evidence base now separates official submissions, serving proxies, and provenance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workbook carries the source registry and number-level provenance so benchmark evidence is visible without changing the headline formula.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8" y="1737360"/>
          <a:ext cx="10698479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246120"/>
                <a:gridCol w="5577840"/>
              </a:tblGrid>
              <a:tr h="5105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Source set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How it is used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Official benchmark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MLPerf Inference / MLPerf Power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hardware and power/performance anchor; not production telemetry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LLM serving proxy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InferenceX DB dump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model x GPU x precision x ISL/OSL output TPS/MW reference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Serving stack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vLLM / SGLang / TensorRT-LLM / FlashInfer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mechanism layer for batching, KV cache, kernel and runtime behavior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Scheduling papers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Orca / Sarathi / DistServe / Splitwise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utilization, prefill/decode and TTFT/TPOT sensitivity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Trend context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Epoch 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training scale, inference price trend, power and scaling bottlenecks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1248" y="5074920"/>
            <a:ext cx="1010412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3A4252"/>
                </a:solidFill>
              </a:defRPr>
            </a:pPr>
            <a:r>
              <a:t>Excel tabs 07_Source_Registry, 08_Provenance_Trace, and 09_Fact_Assumption_Audit expose source IDs, formula/rule, replacement path, and evidence class for review.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MLPerf and InferenceX are benchmark anchors; provider-specific production telemetry remains the replacement path.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operating agenda is to verify the bottleneck, then update the provider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checklist that keeps the simulation tied to facts as new capacity, model, and benchmark data arrives.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67712" y="1801368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18688" y="1700784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contracted sites are energized, and when do accelerators enter production service?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359152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Allocation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712" y="2459736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18688" y="2359152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share of AI IT load is serving commercial inference versus training or experimentation?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017520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67712" y="3118103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3017520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model family, active parameter band, context length, and routing policy dominate traffic?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675888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Efficiency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712" y="3776472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18688" y="3675888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output tokens/sec/MW is realistic after SLO, precision, batching, and production haircut?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334256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Demand absorption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4434840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18688" y="4334256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product surfaces can absorb the incremental token supply without idle capacity?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 tabs: Logic, Benchmark Input, Inputs, GPU Mix Input, Calculation, Output, Checks, Aggressive View, Source Registry, Provenance Trace, Fact Audit. Derived output cells use Excel formulas.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Update only visible inputs; the workbook recalculates token supply through the same core formula.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