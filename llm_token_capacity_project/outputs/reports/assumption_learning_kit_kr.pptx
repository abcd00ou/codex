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9966960" cy="45720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2000" b="1">
                <a:solidFill>
                  <a:srgbClr val="2563EB"/>
                </a:solidFill>
                <a:latin typeface="Apple SD Gothic Neo"/>
              </a:rPr>
              <a:t>LLM Token Capacity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332720" cy="82296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3300" b="1">
                <a:solidFill>
                  <a:srgbClr val="0F172A"/>
                </a:solidFill>
                <a:latin typeface="Apple SD Gothic Neo"/>
              </a:rPr>
              <a:t>가정을 현실적인 숫자로 만드는 학습 키트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331720"/>
            <a:ext cx="8778240" cy="50292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600" b="0">
                <a:solidFill>
                  <a:srgbClr val="475569"/>
                </a:solidFill>
                <a:latin typeface="Apple SD Gothic Neo"/>
              </a:rPr>
              <a:t>전력, GPU/ASIC, 모델 구조, serving 효율, 수요 attribution을 한 장씩 분해해서 공부합니다.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886200"/>
            <a:ext cx="3291840" cy="1051560"/>
          </a:xfrm>
          <a:prstGeom prst="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3886200"/>
            <a:ext cx="73152" cy="10515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995928"/>
            <a:ext cx="2999232" cy="25603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Apple SD Gothic Neo"/>
              </a:rPr>
              <a:t>목표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4315968"/>
            <a:ext cx="2999232" cy="576071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950" b="0">
                <a:solidFill>
                  <a:srgbClr val="334155"/>
                </a:solidFill>
                <a:latin typeface="Apple SD Gothic Neo"/>
              </a:rPr>
              <a:t>숫자를 외우는 것이 아니라, 숫자가 현실적인지 물어보는 순서를 익힌다.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3886200"/>
            <a:ext cx="3291840" cy="1051560"/>
          </a:xfrm>
          <a:prstGeom prst="rect">
            <a:avLst/>
          </a:prstGeom>
          <a:solidFill>
            <a:srgbClr val="ECFDF5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3886200"/>
            <a:ext cx="73152" cy="10515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3995928"/>
            <a:ext cx="2999232" cy="25603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Apple SD Gothic Neo"/>
              </a:rPr>
              <a:t>산출물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4315968"/>
            <a:ext cx="2999232" cy="576071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950" b="0">
                <a:solidFill>
                  <a:srgbClr val="334155"/>
                </a:solidFill>
                <a:latin typeface="Apple SD Gothic Neo"/>
              </a:rPr>
              <a:t>MD 워크북 + PPT 학습자료 + 기존 simulation과 연결되는 assumption register.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3886200"/>
            <a:ext cx="3291840" cy="1051560"/>
          </a:xfrm>
          <a:prstGeom prst="rect">
            <a:avLst/>
          </a:prstGeom>
          <a:solidFill>
            <a:srgbClr val="FFFB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79" y="3886200"/>
            <a:ext cx="73152" cy="105156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19871" y="3995928"/>
            <a:ext cx="2999232" cy="25603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Apple SD Gothic Neo"/>
              </a:rPr>
              <a:t>원칙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9871" y="4315968"/>
            <a:ext cx="2999232" cy="576071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950" b="0">
                <a:solidFill>
                  <a:srgbClr val="334155"/>
                </a:solidFill>
                <a:latin typeface="Apple SD Gothic Neo"/>
              </a:rPr>
              <a:t>Fact, Estimate, Proxy, Scenario를 절대 섞지 않는다.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0972800" cy="22860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750" b="0">
                <a:solidFill>
                  <a:srgbClr val="64748B"/>
                </a:solidFill>
                <a:latin typeface="Apple SD Gothic Neo"/>
              </a:rPr>
              <a:t>Generated 2026-05-15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41148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2300" b="1">
                <a:solidFill>
                  <a:srgbClr val="0F172A"/>
                </a:solidFill>
                <a:latin typeface="Apple SD Gothic Neo"/>
              </a:rPr>
              <a:t>한 장으로 보는 계산 지도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424160" cy="27432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050" b="0">
                <a:solidFill>
                  <a:srgbClr val="475569"/>
                </a:solidFill>
                <a:latin typeface="Apple SD Gothic Neo"/>
              </a:rPr>
              <a:t>토큰 forecast는 전력에서 바로 나오지 않고 여러 assumption gate를 통과한다.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828800"/>
            <a:ext cx="914400" cy="9144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984248"/>
            <a:ext cx="914400" cy="32004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ple SD Gothic Neo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971800"/>
            <a:ext cx="1371600" cy="27432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Apple SD Gothic Neo"/>
              </a:rPr>
              <a:t>Contracted GW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3337560"/>
            <a:ext cx="1737360" cy="45720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/>
            <a:r>
              <a:rPr sz="900" b="0">
                <a:solidFill>
                  <a:srgbClr val="475569"/>
                </a:solidFill>
                <a:latin typeface="Apple SD Gothic Neo"/>
              </a:rPr>
              <a:t>계약/계획 capacity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19" y="2075688"/>
            <a:ext cx="731520" cy="18288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/>
            <a:r>
              <a:rPr sz="2400" b="1">
                <a:solidFill>
                  <a:srgbClr val="94A3B8"/>
                </a:solidFill>
                <a:latin typeface="Apple SD Gothic Neo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79" y="1828800"/>
            <a:ext cx="914400" cy="9144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79" y="1984248"/>
            <a:ext cx="914400" cy="32004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ple SD Gothic Neo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79" y="2971800"/>
            <a:ext cx="1371600" cy="27432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Apple SD Gothic Neo"/>
              </a:rPr>
              <a:t>Active GW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599" y="3337560"/>
            <a:ext cx="1737360" cy="45720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/>
            <a:r>
              <a:rPr sz="900" b="0">
                <a:solidFill>
                  <a:srgbClr val="475569"/>
                </a:solidFill>
                <a:latin typeface="Apple SD Gothic Neo"/>
              </a:rPr>
              <a:t>실제로 energize된 운영 capacity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2075688"/>
            <a:ext cx="731520" cy="18288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/>
            <a:r>
              <a:rPr sz="2400" b="1">
                <a:solidFill>
                  <a:srgbClr val="94A3B8"/>
                </a:solidFill>
                <a:latin typeface="Apple SD Gothic Neo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57800" y="1828800"/>
            <a:ext cx="914400" cy="91440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57800" y="1984248"/>
            <a:ext cx="914400" cy="32004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ple SD Gothic Neo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971800"/>
            <a:ext cx="1371600" cy="27432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Apple SD Gothic Neo"/>
              </a:rPr>
              <a:t>AI IT load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3337560"/>
            <a:ext cx="1737360" cy="45720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/>
            <a:r>
              <a:rPr sz="900" b="0">
                <a:solidFill>
                  <a:srgbClr val="475569"/>
                </a:solidFill>
                <a:latin typeface="Apple SD Gothic Neo"/>
              </a:rPr>
              <a:t>PUE와 workload share 적용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075688"/>
            <a:ext cx="731520" cy="18288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/>
            <a:r>
              <a:rPr sz="2400" b="1">
                <a:solidFill>
                  <a:srgbClr val="94A3B8"/>
                </a:solidFill>
                <a:latin typeface="Apple SD Gothic Neo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9519" y="1828800"/>
            <a:ext cx="914400" cy="914400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19" y="1984248"/>
            <a:ext cx="914400" cy="32004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ple SD Gothic Neo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19" y="2971800"/>
            <a:ext cx="1371600" cy="27432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Apple SD Gothic Neo"/>
              </a:rPr>
              <a:t>Inference GW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39" y="3337560"/>
            <a:ext cx="1737360" cy="45720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/>
            <a:r>
              <a:rPr sz="900" b="0">
                <a:solidFill>
                  <a:srgbClr val="475569"/>
                </a:solidFill>
                <a:latin typeface="Apple SD Gothic Neo"/>
              </a:rPr>
              <a:t>training/inference split 적용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2075688"/>
            <a:ext cx="731520" cy="18288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/>
            <a:r>
              <a:rPr sz="2400" b="1">
                <a:solidFill>
                  <a:srgbClr val="94A3B8"/>
                </a:solidFill>
                <a:latin typeface="Apple SD Gothic Neo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21240" y="1828800"/>
            <a:ext cx="914400" cy="91440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21240" y="1984248"/>
            <a:ext cx="914400" cy="32004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ple SD Gothic Neo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2971800"/>
            <a:ext cx="1371600" cy="27432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Apple SD Gothic Neo"/>
              </a:rPr>
              <a:t>Tokens/day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3337560"/>
            <a:ext cx="1737360" cy="45720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/>
            <a:r>
              <a:rPr sz="900" b="0">
                <a:solidFill>
                  <a:srgbClr val="475569"/>
                </a:solidFill>
                <a:latin typeface="Apple SD Gothic Neo"/>
              </a:rPr>
              <a:t>tokens/sec/MW와 utilization 적용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" y="4709160"/>
            <a:ext cx="103327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4400" y="4709160"/>
            <a:ext cx="73152" cy="7315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78992" y="4818888"/>
            <a:ext cx="10040112" cy="25603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Apple SD Gothic Neo"/>
              </a:rPr>
              <a:t>핵심 감각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" y="5138928"/>
            <a:ext cx="10040112" cy="25603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950" b="0">
                <a:solidFill>
                  <a:srgbClr val="334155"/>
                </a:solidFill>
                <a:latin typeface="Apple SD Gothic Neo"/>
              </a:rPr>
              <a:t>각 단계는 곱셈 구조이므로 작은 가정 차이가 2030 token forecast에서는 큰 차이로 증폭된다.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73952"/>
            <a:ext cx="10972800" cy="22860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750" b="0">
                <a:solidFill>
                  <a:srgbClr val="64748B"/>
                </a:solidFill>
                <a:latin typeface="Apple SD Gothic Neo"/>
              </a:rPr>
              <a:t>Source: project source register; numbers are learning bands unless explicitly marked as official facts.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41148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2300" b="1">
                <a:solidFill>
                  <a:srgbClr val="0F172A"/>
                </a:solidFill>
                <a:latin typeface="Apple SD Gothic Neo"/>
              </a:rPr>
              <a:t>Assumption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424160" cy="27432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050" b="0">
                <a:solidFill>
                  <a:srgbClr val="475569"/>
                </a:solidFill>
                <a:latin typeface="Apple SD Gothic Neo"/>
              </a:rPr>
              <a:t>공부할 가정은 8개 모듈로 나누면 관리가 쉬워진다.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2514600" cy="1554480"/>
          </a:xfrm>
          <a:prstGeom prst="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73152" cy="15544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344168"/>
            <a:ext cx="2221992" cy="25603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Apple SD Gothic Neo"/>
              </a:rPr>
              <a:t>M1 전력 capacity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1664208"/>
            <a:ext cx="2221992" cy="107899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950" b="0">
                <a:solidFill>
                  <a:srgbClr val="334155"/>
                </a:solidFill>
                <a:latin typeface="Apple SD Gothic Neo"/>
              </a:rPr>
              <a:t>계약된 GW 중 실제로 AI IT load가 되는 비중은?</a:t>
            </a:r>
          </a:p>
        </p:txBody>
      </p:sp>
      <p:sp>
        <p:nvSpPr>
          <p:cNvPr id="8" name="Rectangle 7"/>
          <p:cNvSpPr/>
          <p:nvPr/>
        </p:nvSpPr>
        <p:spPr>
          <a:xfrm>
            <a:off x="3520439" y="1234440"/>
            <a:ext cx="2514600" cy="1554480"/>
          </a:xfrm>
          <a:prstGeom prst="rect">
            <a:avLst/>
          </a:prstGeom>
          <a:solidFill>
            <a:srgbClr val="ECFDF5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0439" y="1234440"/>
            <a:ext cx="73152" cy="155448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85031" y="1344168"/>
            <a:ext cx="2221992" cy="25603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Apple SD Gothic Neo"/>
              </a:rPr>
              <a:t>M2 PUE와 AI workload share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1" y="1664208"/>
            <a:ext cx="2221992" cy="107899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950" b="0">
                <a:solidFill>
                  <a:srgbClr val="334155"/>
                </a:solidFill>
                <a:latin typeface="Apple SD Gothic Neo"/>
              </a:rPr>
              <a:t>시설 전력에서 GPU/ASIC 서버가 실제로 먹는 전력은?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234440"/>
            <a:ext cx="2514600" cy="1554480"/>
          </a:xfrm>
          <a:prstGeom prst="rect">
            <a:avLst/>
          </a:prstGeom>
          <a:solidFill>
            <a:srgbClr val="FFFB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234440"/>
            <a:ext cx="73152" cy="155448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65392" y="1344168"/>
            <a:ext cx="2221992" cy="25603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Apple SD Gothic Neo"/>
              </a:rPr>
              <a:t>M3 Training / inference mix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1664208"/>
            <a:ext cx="2221992" cy="107899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950" b="0">
                <a:solidFill>
                  <a:srgbClr val="334155"/>
                </a:solidFill>
                <a:latin typeface="Apple SD Gothic Neo"/>
              </a:rPr>
              <a:t>전체 AI IT load 중 inference가 몇 %인가?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81159" y="1234440"/>
            <a:ext cx="2514600" cy="15544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281159" y="1234440"/>
            <a:ext cx="73152" cy="1554480"/>
          </a:xfrm>
          <a:prstGeom prst="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45751" y="1344168"/>
            <a:ext cx="2221992" cy="25603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Apple SD Gothic Neo"/>
              </a:rPr>
              <a:t>M4 모델 파라미터와 MoE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45751" y="1664208"/>
            <a:ext cx="2221992" cy="107899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950" b="0">
                <a:solidFill>
                  <a:srgbClr val="334155"/>
                </a:solidFill>
                <a:latin typeface="Apple SD Gothic Neo"/>
              </a:rPr>
              <a:t>total parameter와 token당 active parameter가 어떻게 다른가?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383280"/>
            <a:ext cx="2514600" cy="1554480"/>
          </a:xfrm>
          <a:prstGeom prst="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383280"/>
            <a:ext cx="73152" cy="15544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1" y="3493008"/>
            <a:ext cx="2221992" cy="25603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Apple SD Gothic Neo"/>
              </a:rPr>
              <a:t>M5 GPU/ASIC mix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" y="3813048"/>
            <a:ext cx="2221992" cy="107899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950" b="0">
                <a:solidFill>
                  <a:srgbClr val="334155"/>
                </a:solidFill>
                <a:latin typeface="Apple SD Gothic Neo"/>
              </a:rPr>
              <a:t>NVIDIA GPU, TPU, Trainium, 자체 ASIC이 토큰 효율에 주는 영향은?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20439" y="3383280"/>
            <a:ext cx="2514600" cy="1554480"/>
          </a:xfrm>
          <a:prstGeom prst="rect">
            <a:avLst/>
          </a:prstGeom>
          <a:solidFill>
            <a:srgbClr val="ECFDF5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20439" y="3383280"/>
            <a:ext cx="73152" cy="155448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85031" y="3493008"/>
            <a:ext cx="2221992" cy="25603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Apple SD Gothic Neo"/>
              </a:rPr>
              <a:t>M6 Tokens/sec/MW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85031" y="3813048"/>
            <a:ext cx="2221992" cy="107899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950" b="0">
                <a:solidFill>
                  <a:srgbClr val="334155"/>
                </a:solidFill>
                <a:latin typeface="Apple SD Gothic Neo"/>
              </a:rPr>
              <a:t>1MW inference load가 초당 몇 token을 만들 수 있는가?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3383280"/>
            <a:ext cx="2514600" cy="1554480"/>
          </a:xfrm>
          <a:prstGeom prst="rect">
            <a:avLst/>
          </a:prstGeom>
          <a:solidFill>
            <a:srgbClr val="FFFB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0" y="3383280"/>
            <a:ext cx="73152" cy="155448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65392" y="3493008"/>
            <a:ext cx="2221992" cy="25603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Apple SD Gothic Neo"/>
              </a:rPr>
              <a:t>M7 Utilization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65392" y="3813048"/>
            <a:ext cx="2221992" cy="107899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950" b="0">
                <a:solidFill>
                  <a:srgbClr val="334155"/>
                </a:solidFill>
                <a:latin typeface="Apple SD Gothic Neo"/>
              </a:rPr>
              <a:t>이론 capacity 중 실제 토큰으로 변환되는 비율은?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81159" y="3383280"/>
            <a:ext cx="2514600" cy="15544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281159" y="3383280"/>
            <a:ext cx="73152" cy="1554480"/>
          </a:xfrm>
          <a:prstGeom prst="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45751" y="3493008"/>
            <a:ext cx="2221992" cy="25603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Apple SD Gothic Neo"/>
              </a:rPr>
              <a:t>M8 Attribution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45751" y="3813048"/>
            <a:ext cx="2221992" cy="107899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950" b="0">
                <a:solidFill>
                  <a:srgbClr val="334155"/>
                </a:solidFill>
                <a:latin typeface="Apple SD Gothic Neo"/>
              </a:rPr>
              <a:t>누구의 전력 capacity를 누구의 token으로 귀속할 것인가?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73952"/>
            <a:ext cx="10972800" cy="22860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750" b="0">
                <a:solidFill>
                  <a:srgbClr val="64748B"/>
                </a:solidFill>
                <a:latin typeface="Apple SD Gothic Neo"/>
              </a:rPr>
              <a:t>Source: project source register; numbers are learning bands unless explicitly marked as official facts.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41148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2300" b="1">
                <a:solidFill>
                  <a:srgbClr val="0F172A"/>
                </a:solidFill>
                <a:latin typeface="Apple SD Gothic Neo"/>
              </a:rPr>
              <a:t>전력 capacity: planned와 active를 분리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424160" cy="27432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050" b="0">
                <a:solidFill>
                  <a:srgbClr val="475569"/>
                </a:solidFill>
                <a:latin typeface="Apple SD Gothic Neo"/>
              </a:rPr>
              <a:t>계약된 GW 중 실제로 AI IT load가 되는 비중은?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3657600" cy="1280160"/>
          </a:xfrm>
          <a:prstGeom prst="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73152" cy="12801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344168"/>
            <a:ext cx="3364992" cy="25603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Apple SD Gothic Neo"/>
              </a:rPr>
              <a:t>개념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664208"/>
            <a:ext cx="3364992" cy="804671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950" b="0">
                <a:solidFill>
                  <a:srgbClr val="334155"/>
                </a:solidFill>
                <a:latin typeface="Apple SD Gothic Neo"/>
              </a:rPr>
              <a:t>Contracted/planned capacity는 최대 경계값이고, active power는 인허가, 변전, 냉각, 랙 설치, GPU 수급을 통과한 운영 capacity입니다.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4617720" y="1234440"/>
            <a:ext cx="2880360" cy="128016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17720" y="1234440"/>
            <a:ext cx="73152" cy="12801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82312" y="1344168"/>
            <a:ext cx="2587752" cy="25603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Apple SD Gothic Neo"/>
              </a:rPr>
              <a:t>초기 학습 band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2312" y="1664208"/>
            <a:ext cx="2587752" cy="804671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950" b="0">
                <a:solidFill>
                  <a:srgbClr val="334155"/>
                </a:solidFill>
                <a:latin typeface="Apple SD Gothic Neo"/>
              </a:rPr>
              <a:t>2026 active/contracted: 15-45%, 2030: 45-80%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26679" y="1234440"/>
            <a:ext cx="3611880" cy="1280160"/>
          </a:xfrm>
          <a:prstGeom prst="rect">
            <a:avLst/>
          </a:prstGeom>
          <a:solidFill>
            <a:srgbClr val="FFFB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26679" y="1234440"/>
            <a:ext cx="73152" cy="128016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91271" y="1344168"/>
            <a:ext cx="3319272" cy="25603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Apple SD Gothic Neo"/>
              </a:rPr>
              <a:t>주의할 오류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91271" y="1664208"/>
            <a:ext cx="3319272" cy="804671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950" b="0">
                <a:solidFill>
                  <a:srgbClr val="334155"/>
                </a:solidFill>
                <a:latin typeface="Apple SD Gothic Neo"/>
              </a:rPr>
              <a:t>planned GW를 곧바로 inference GW로 쓰는 오류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154680"/>
            <a:ext cx="2377440" cy="27432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500" b="1">
                <a:solidFill>
                  <a:srgbClr val="0F172A"/>
                </a:solidFill>
                <a:latin typeface="Apple SD Gothic Neo"/>
              </a:rPr>
              <a:t>공부 포인트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584448"/>
            <a:ext cx="5120640" cy="173736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>
              <a:defRPr sz="1200">
                <a:solidFill>
                  <a:srgbClr val="334155"/>
                </a:solidFill>
                <a:latin typeface="Apple SD Gothic Neo"/>
              </a:defRPr>
            </a:pPr>
            <a:r>
              <a:t>발표된 GW는 대부분 상한선 또는 목표치</a:t>
            </a:r>
          </a:p>
          <a:p>
            <a:pPr>
              <a:defRPr sz="1200">
                <a:solidFill>
                  <a:srgbClr val="334155"/>
                </a:solidFill>
                <a:latin typeface="Apple SD Gothic Neo"/>
              </a:defRPr>
            </a:pPr>
            <a:r>
              <a:t>active GW는 site energization, transformer, cooling, rack, accelerator delivery의 결과</a:t>
            </a:r>
          </a:p>
          <a:p>
            <a:pPr>
              <a:defRPr sz="1200">
                <a:solidFill>
                  <a:srgbClr val="334155"/>
                </a:solidFill>
                <a:latin typeface="Apple SD Gothic Neo"/>
              </a:defRPr>
            </a:pPr>
            <a:r>
              <a:t>2030 forecast는 deployment ratio가 핵심 민감도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154680"/>
            <a:ext cx="2560320" cy="27432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500" b="1">
                <a:solidFill>
                  <a:srgbClr val="0F172A"/>
                </a:solidFill>
                <a:latin typeface="Apple SD Gothic Neo"/>
              </a:rPr>
              <a:t>직접 해볼 질문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584448"/>
            <a:ext cx="4572000" cy="173736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>
              <a:defRPr sz="1200">
                <a:solidFill>
                  <a:srgbClr val="334155"/>
                </a:solidFill>
                <a:latin typeface="Apple SD Gothic Neo"/>
              </a:defRPr>
            </a:pPr>
            <a:r>
              <a:t>이 값은 fact인가, estimate인가?</a:t>
            </a:r>
          </a:p>
          <a:p>
            <a:pPr>
              <a:defRPr sz="1200">
                <a:solidFill>
                  <a:srgbClr val="334155"/>
                </a:solidFill>
                <a:latin typeface="Apple SD Gothic Neo"/>
              </a:defRPr>
            </a:pPr>
            <a:r>
              <a:t>10% 바꾸면 forecast가 얼마나 움직이는가?</a:t>
            </a:r>
          </a:p>
          <a:p>
            <a:pPr>
              <a:defRPr sz="1200">
                <a:solidFill>
                  <a:srgbClr val="334155"/>
                </a:solidFill>
                <a:latin typeface="Apple SD Gothic Neo"/>
              </a:defRPr>
            </a:pPr>
            <a:r>
              <a:t>공식 source로 교체할 수 있는가?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10972800" cy="22860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750" b="0">
                <a:solidFill>
                  <a:srgbClr val="64748B"/>
                </a:solidFill>
                <a:latin typeface="Apple SD Gothic Neo"/>
              </a:rPr>
              <a:t>Related source ids: SRC_OPENAI_STARGATE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41148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2300" b="1">
                <a:solidFill>
                  <a:srgbClr val="0F172A"/>
                </a:solidFill>
                <a:latin typeface="Apple SD Gothic Neo"/>
              </a:rPr>
              <a:t>PUE와 AI workload share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424160" cy="27432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050" b="0">
                <a:solidFill>
                  <a:srgbClr val="475569"/>
                </a:solidFill>
                <a:latin typeface="Apple SD Gothic Neo"/>
              </a:rPr>
              <a:t>시설 전력에서 GPU/ASIC 서버가 실제로 먹는 전력은?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3657600" cy="1280160"/>
          </a:xfrm>
          <a:prstGeom prst="rect">
            <a:avLst/>
          </a:prstGeom>
          <a:solidFill>
            <a:srgbClr val="ECFDF5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73152" cy="12801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344168"/>
            <a:ext cx="3364992" cy="25603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Apple SD Gothic Neo"/>
              </a:rPr>
              <a:t>개념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664208"/>
            <a:ext cx="3364992" cy="804671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950" b="0">
                <a:solidFill>
                  <a:srgbClr val="334155"/>
                </a:solidFill>
                <a:latin typeface="Apple SD Gothic Neo"/>
              </a:rPr>
              <a:t>PUE는 facility power를 IT load로 바꾸는 계수이고, AI workload share는 IT load 중 AI cluster가 차지하는 비중입니다.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4617720" y="1234440"/>
            <a:ext cx="2880360" cy="128016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17720" y="1234440"/>
            <a:ext cx="73152" cy="12801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82312" y="1344168"/>
            <a:ext cx="2587752" cy="25603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Apple SD Gothic Neo"/>
              </a:rPr>
              <a:t>초기 학습 band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2312" y="1664208"/>
            <a:ext cx="2587752" cy="804671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950" b="0">
                <a:solidFill>
                  <a:srgbClr val="334155"/>
                </a:solidFill>
                <a:latin typeface="Apple SD Gothic Neo"/>
              </a:rPr>
              <a:t>PUE: 1.10-1.30, AI workload share: 70-95%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26679" y="1234440"/>
            <a:ext cx="3611880" cy="1280160"/>
          </a:xfrm>
          <a:prstGeom prst="rect">
            <a:avLst/>
          </a:prstGeom>
          <a:solidFill>
            <a:srgbClr val="FFFB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26679" y="1234440"/>
            <a:ext cx="73152" cy="128016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91271" y="1344168"/>
            <a:ext cx="3319272" cy="25603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Apple SD Gothic Neo"/>
              </a:rPr>
              <a:t>주의할 오류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91271" y="1664208"/>
            <a:ext cx="3319272" cy="804671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950" b="0">
                <a:solidFill>
                  <a:srgbClr val="334155"/>
                </a:solidFill>
                <a:latin typeface="Apple SD Gothic Neo"/>
              </a:rPr>
              <a:t>facility MW, IT MW, GPU board power를 같은 숫자로 취급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154680"/>
            <a:ext cx="2377440" cy="27432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500" b="1">
                <a:solidFill>
                  <a:srgbClr val="0F172A"/>
                </a:solidFill>
                <a:latin typeface="Apple SD Gothic Neo"/>
              </a:rPr>
              <a:t>공부 포인트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584448"/>
            <a:ext cx="5120640" cy="173736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>
              <a:defRPr sz="1200">
                <a:solidFill>
                  <a:srgbClr val="334155"/>
                </a:solidFill>
                <a:latin typeface="Apple SD Gothic Neo"/>
              </a:defRPr>
            </a:pPr>
            <a:r>
              <a:t>Facility power를 IT load로 바꾸려면 PUE 필요</a:t>
            </a:r>
          </a:p>
          <a:p>
            <a:pPr>
              <a:defRPr sz="1200">
                <a:solidFill>
                  <a:srgbClr val="334155"/>
                </a:solidFill>
                <a:latin typeface="Apple SD Gothic Neo"/>
              </a:defRPr>
            </a:pPr>
            <a:r>
              <a:t>IT load 전체가 GPU cluster는 아님</a:t>
            </a:r>
          </a:p>
          <a:p>
            <a:pPr>
              <a:defRPr sz="1200">
                <a:solidFill>
                  <a:srgbClr val="334155"/>
                </a:solidFill>
                <a:latin typeface="Apple SD Gothic Neo"/>
              </a:defRPr>
            </a:pPr>
            <a:r>
              <a:t>GPU board TDP와 rack/facility power는 다른 단위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154680"/>
            <a:ext cx="2560320" cy="27432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500" b="1">
                <a:solidFill>
                  <a:srgbClr val="0F172A"/>
                </a:solidFill>
                <a:latin typeface="Apple SD Gothic Neo"/>
              </a:rPr>
              <a:t>직접 해볼 질문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584448"/>
            <a:ext cx="4572000" cy="173736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>
              <a:defRPr sz="1200">
                <a:solidFill>
                  <a:srgbClr val="334155"/>
                </a:solidFill>
                <a:latin typeface="Apple SD Gothic Neo"/>
              </a:defRPr>
            </a:pPr>
            <a:r>
              <a:t>이 값은 fact인가, estimate인가?</a:t>
            </a:r>
          </a:p>
          <a:p>
            <a:pPr>
              <a:defRPr sz="1200">
                <a:solidFill>
                  <a:srgbClr val="334155"/>
                </a:solidFill>
                <a:latin typeface="Apple SD Gothic Neo"/>
              </a:defRPr>
            </a:pPr>
            <a:r>
              <a:t>10% 바꾸면 forecast가 얼마나 움직이는가?</a:t>
            </a:r>
          </a:p>
          <a:p>
            <a:pPr>
              <a:defRPr sz="1200">
                <a:solidFill>
                  <a:srgbClr val="334155"/>
                </a:solidFill>
                <a:latin typeface="Apple SD Gothic Neo"/>
              </a:defRPr>
            </a:pPr>
            <a:r>
              <a:t>공식 source로 교체할 수 있는가?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10972800" cy="22860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750" b="0">
                <a:solidFill>
                  <a:srgbClr val="64748B"/>
                </a:solidFill>
                <a:latin typeface="Apple SD Gothic Neo"/>
              </a:rPr>
              <a:t>Related source ids: SRC_GOOGLE_IRONWOOD; SRC_NVIDIA_H100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41148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2300" b="1">
                <a:solidFill>
                  <a:srgbClr val="0F172A"/>
                </a:solidFill>
                <a:latin typeface="Apple SD Gothic Neo"/>
              </a:rPr>
              <a:t>Training / inference mix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424160" cy="27432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050" b="0">
                <a:solidFill>
                  <a:srgbClr val="475569"/>
                </a:solidFill>
                <a:latin typeface="Apple SD Gothic Neo"/>
              </a:rPr>
              <a:t>전체 AI IT load 중 inference가 몇 %인가?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3657600" cy="1280160"/>
          </a:xfrm>
          <a:prstGeom prst="rect">
            <a:avLst/>
          </a:prstGeom>
          <a:solidFill>
            <a:srgbClr val="FFFB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73152" cy="128016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344168"/>
            <a:ext cx="3364992" cy="25603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Apple SD Gothic Neo"/>
              </a:rPr>
              <a:t>개념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664208"/>
            <a:ext cx="3364992" cy="804671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950" b="0">
                <a:solidFill>
                  <a:srgbClr val="334155"/>
                </a:solidFill>
                <a:latin typeface="Apple SD Gothic Neo"/>
              </a:rPr>
              <a:t>상용 서비스가 커질수록 inference 비중은 상승하지만, frontier training과 post-training capacity는 계속 남습니다.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4617720" y="1234440"/>
            <a:ext cx="2880360" cy="128016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17720" y="1234440"/>
            <a:ext cx="73152" cy="12801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82312" y="1344168"/>
            <a:ext cx="2587752" cy="25603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Apple SD Gothic Neo"/>
              </a:rPr>
              <a:t>초기 학습 band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2312" y="1664208"/>
            <a:ext cx="2587752" cy="804671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950" b="0">
                <a:solidFill>
                  <a:srgbClr val="334155"/>
                </a:solidFill>
                <a:latin typeface="Apple SD Gothic Neo"/>
              </a:rPr>
              <a:t>2026 Base: 50-60%, 2030 Base: 65-80%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26679" y="1234440"/>
            <a:ext cx="3611880" cy="1280160"/>
          </a:xfrm>
          <a:prstGeom prst="rect">
            <a:avLst/>
          </a:prstGeom>
          <a:solidFill>
            <a:srgbClr val="FFFB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26679" y="1234440"/>
            <a:ext cx="73152" cy="128016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91271" y="1344168"/>
            <a:ext cx="3319272" cy="25603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Apple SD Gothic Neo"/>
              </a:rPr>
              <a:t>주의할 오류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91271" y="1664208"/>
            <a:ext cx="3319272" cy="804671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950" b="0">
                <a:solidFill>
                  <a:srgbClr val="334155"/>
                </a:solidFill>
                <a:latin typeface="Apple SD Gothic Neo"/>
              </a:rPr>
              <a:t>2026년 60%+를 fact로 표현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154680"/>
            <a:ext cx="2377440" cy="27432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500" b="1">
                <a:solidFill>
                  <a:srgbClr val="0F172A"/>
                </a:solidFill>
                <a:latin typeface="Apple SD Gothic Neo"/>
              </a:rPr>
              <a:t>공부 포인트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584448"/>
            <a:ext cx="5120640" cy="173736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>
              <a:defRPr sz="1200">
                <a:solidFill>
                  <a:srgbClr val="334155"/>
                </a:solidFill>
                <a:latin typeface="Apple SD Gothic Neo"/>
              </a:defRPr>
            </a:pPr>
            <a:r>
              <a:t>Commercial LLM traffic이 커질수록 inference 비중 상승</a:t>
            </a:r>
          </a:p>
          <a:p>
            <a:pPr>
              <a:defRPr sz="1200">
                <a:solidFill>
                  <a:srgbClr val="334155"/>
                </a:solidFill>
                <a:latin typeface="Apple SD Gothic Neo"/>
              </a:defRPr>
            </a:pPr>
            <a:r>
              <a:t>frontier training, post-training, eval capacity는 계속 필요</a:t>
            </a:r>
          </a:p>
          <a:p>
            <a:pPr>
              <a:defRPr sz="1200">
                <a:solidFill>
                  <a:srgbClr val="334155"/>
                </a:solidFill>
                <a:latin typeface="Apple SD Gothic Neo"/>
              </a:defRPr>
            </a:pPr>
            <a:r>
              <a:t>2026년 60%+는 fact가 아니라 scenario로 취급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154680"/>
            <a:ext cx="2560320" cy="27432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500" b="1">
                <a:solidFill>
                  <a:srgbClr val="0F172A"/>
                </a:solidFill>
                <a:latin typeface="Apple SD Gothic Neo"/>
              </a:rPr>
              <a:t>직접 해볼 질문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584448"/>
            <a:ext cx="4572000" cy="173736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>
              <a:defRPr sz="1200">
                <a:solidFill>
                  <a:srgbClr val="334155"/>
                </a:solidFill>
                <a:latin typeface="Apple SD Gothic Neo"/>
              </a:defRPr>
            </a:pPr>
            <a:r>
              <a:t>이 값은 fact인가, estimate인가?</a:t>
            </a:r>
          </a:p>
          <a:p>
            <a:pPr>
              <a:defRPr sz="1200">
                <a:solidFill>
                  <a:srgbClr val="334155"/>
                </a:solidFill>
                <a:latin typeface="Apple SD Gothic Neo"/>
              </a:defRPr>
            </a:pPr>
            <a:r>
              <a:t>10% 바꾸면 forecast가 얼마나 움직이는가?</a:t>
            </a:r>
          </a:p>
          <a:p>
            <a:pPr>
              <a:defRPr sz="1200">
                <a:solidFill>
                  <a:srgbClr val="334155"/>
                </a:solidFill>
                <a:latin typeface="Apple SD Gothic Neo"/>
              </a:defRPr>
            </a:pPr>
            <a:r>
              <a:t>공식 source로 교체할 수 있는가?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10972800" cy="22860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750" b="0">
                <a:solidFill>
                  <a:srgbClr val="64748B"/>
                </a:solidFill>
                <a:latin typeface="Apple SD Gothic Neo"/>
              </a:rPr>
              <a:t>Related source ids: SRC_OPENAI_STARGATE; SRC_GOOGLE_IRONWOOD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41148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2300" b="1">
                <a:solidFill>
                  <a:srgbClr val="0F172A"/>
                </a:solidFill>
                <a:latin typeface="Apple SD Gothic Neo"/>
              </a:rPr>
              <a:t>모델 구조와 MoE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424160" cy="27432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050" b="0">
                <a:solidFill>
                  <a:srgbClr val="475569"/>
                </a:solidFill>
                <a:latin typeface="Apple SD Gothic Neo"/>
              </a:rPr>
              <a:t>total parameter와 token당 active parameter가 어떻게 다른가?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3657600" cy="128016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73152" cy="1280160"/>
          </a:xfrm>
          <a:prstGeom prst="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344168"/>
            <a:ext cx="3364992" cy="25603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Apple SD Gothic Neo"/>
              </a:rPr>
              <a:t>개념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664208"/>
            <a:ext cx="3364992" cy="804671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950" b="0">
                <a:solidFill>
                  <a:srgbClr val="334155"/>
                </a:solidFill>
                <a:latin typeface="Apple SD Gothic Neo"/>
              </a:rPr>
              <a:t>Dense 모델은 대부분의 parameter가 매 token 계산에 관여하지만, MoE는 일부 expert만 activate되어 active parameter가 훨씬 낮습니다.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4617720" y="1234440"/>
            <a:ext cx="2880360" cy="128016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17720" y="1234440"/>
            <a:ext cx="73152" cy="12801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82312" y="1344168"/>
            <a:ext cx="2587752" cy="25603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Apple SD Gothic Neo"/>
              </a:rPr>
              <a:t>초기 학습 band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2312" y="1664208"/>
            <a:ext cx="2587752" cy="804671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950" b="0">
                <a:solidFill>
                  <a:srgbClr val="334155"/>
                </a:solidFill>
                <a:latin typeface="Apple SD Gothic Neo"/>
              </a:rPr>
              <a:t>Dense: active ~= total, MoE: active/total 3-20%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26679" y="1234440"/>
            <a:ext cx="3611880" cy="1280160"/>
          </a:xfrm>
          <a:prstGeom prst="rect">
            <a:avLst/>
          </a:prstGeom>
          <a:solidFill>
            <a:srgbClr val="FFFB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26679" y="1234440"/>
            <a:ext cx="73152" cy="128016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91271" y="1344168"/>
            <a:ext cx="3319272" cy="25603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Apple SD Gothic Neo"/>
              </a:rPr>
              <a:t>주의할 오류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91271" y="1664208"/>
            <a:ext cx="3319272" cy="804671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950" b="0">
                <a:solidFill>
                  <a:srgbClr val="334155"/>
                </a:solidFill>
                <a:latin typeface="Apple SD Gothic Neo"/>
              </a:rPr>
              <a:t>MoE total parameter만 보고 inference 비용을 과대평가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154680"/>
            <a:ext cx="2377440" cy="27432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500" b="1">
                <a:solidFill>
                  <a:srgbClr val="0F172A"/>
                </a:solidFill>
                <a:latin typeface="Apple SD Gothic Neo"/>
              </a:rPr>
              <a:t>공부 포인트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584448"/>
            <a:ext cx="5120640" cy="173736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>
              <a:defRPr sz="1200">
                <a:solidFill>
                  <a:srgbClr val="334155"/>
                </a:solidFill>
                <a:latin typeface="Apple SD Gothic Neo"/>
              </a:defRPr>
            </a:pPr>
            <a:r>
              <a:t>Dense는 active ~= total에 가까움</a:t>
            </a:r>
          </a:p>
          <a:p>
            <a:pPr>
              <a:defRPr sz="1200">
                <a:solidFill>
                  <a:srgbClr val="334155"/>
                </a:solidFill>
                <a:latin typeface="Apple SD Gothic Neo"/>
              </a:defRPr>
            </a:pPr>
            <a:r>
              <a:t>MoE는 token당 일부 expert만 activate</a:t>
            </a:r>
          </a:p>
          <a:p>
            <a:pPr>
              <a:defRPr sz="1200">
                <a:solidFill>
                  <a:srgbClr val="334155"/>
                </a:solidFill>
                <a:latin typeface="Apple SD Gothic Neo"/>
              </a:defRPr>
            </a:pPr>
            <a:r>
              <a:t>DeepSeek-V3 같은 공개 MoE는 active parameter가 중요한 anchor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154680"/>
            <a:ext cx="2560320" cy="27432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500" b="1">
                <a:solidFill>
                  <a:srgbClr val="0F172A"/>
                </a:solidFill>
                <a:latin typeface="Apple SD Gothic Neo"/>
              </a:rPr>
              <a:t>직접 해볼 질문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584448"/>
            <a:ext cx="4572000" cy="173736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>
              <a:defRPr sz="1200">
                <a:solidFill>
                  <a:srgbClr val="334155"/>
                </a:solidFill>
                <a:latin typeface="Apple SD Gothic Neo"/>
              </a:defRPr>
            </a:pPr>
            <a:r>
              <a:t>이 값은 fact인가, estimate인가?</a:t>
            </a:r>
          </a:p>
          <a:p>
            <a:pPr>
              <a:defRPr sz="1200">
                <a:solidFill>
                  <a:srgbClr val="334155"/>
                </a:solidFill>
                <a:latin typeface="Apple SD Gothic Neo"/>
              </a:defRPr>
            </a:pPr>
            <a:r>
              <a:t>10% 바꾸면 forecast가 얼마나 움직이는가?</a:t>
            </a:r>
          </a:p>
          <a:p>
            <a:pPr>
              <a:defRPr sz="1200">
                <a:solidFill>
                  <a:srgbClr val="334155"/>
                </a:solidFill>
                <a:latin typeface="Apple SD Gothic Neo"/>
              </a:defRPr>
            </a:pPr>
            <a:r>
              <a:t>공식 source로 교체할 수 있는가?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10972800" cy="22860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750" b="0">
                <a:solidFill>
                  <a:srgbClr val="64748B"/>
                </a:solidFill>
                <a:latin typeface="Apple SD Gothic Neo"/>
              </a:rPr>
              <a:t>Related source ids: SRC_DEEPSEEK_V3; SRC_QWEN3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41148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2300" b="1">
                <a:solidFill>
                  <a:srgbClr val="0F172A"/>
                </a:solidFill>
                <a:latin typeface="Apple SD Gothic Neo"/>
              </a:rPr>
              <a:t>GPU/ASIC mix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424160" cy="27432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050" b="0">
                <a:solidFill>
                  <a:srgbClr val="475569"/>
                </a:solidFill>
                <a:latin typeface="Apple SD Gothic Neo"/>
              </a:rPr>
              <a:t>NVIDIA GPU, TPU, Trainium, 자체 ASIC이 토큰 효율에 주는 영향은?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3657600" cy="1280160"/>
          </a:xfrm>
          <a:prstGeom prst="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73152" cy="12801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344168"/>
            <a:ext cx="3364992" cy="25603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Apple SD Gothic Neo"/>
              </a:rPr>
              <a:t>개념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664208"/>
            <a:ext cx="3364992" cy="804671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950" b="0">
                <a:solidFill>
                  <a:srgbClr val="334155"/>
                </a:solidFill>
                <a:latin typeface="Apple SD Gothic Neo"/>
              </a:rPr>
              <a:t>동일 MW라도 hardware generation, memory bandwidth, interconnect, serving software에 따라 tokens/sec/MW가 크게 달라집니다.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4617720" y="1234440"/>
            <a:ext cx="2880360" cy="128016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17720" y="1234440"/>
            <a:ext cx="73152" cy="12801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82312" y="1344168"/>
            <a:ext cx="2587752" cy="25603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Apple SD Gothic Neo"/>
              </a:rPr>
              <a:t>초기 학습 band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2312" y="1664208"/>
            <a:ext cx="2587752" cy="804671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950" b="0">
                <a:solidFill>
                  <a:srgbClr val="334155"/>
                </a:solidFill>
                <a:latin typeface="Apple SD Gothic Neo"/>
              </a:rPr>
              <a:t>GPU-heavy: 낮은 custom efficiency, TPU/ASIC-heavy: 높은 serving efficiency 가능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26679" y="1234440"/>
            <a:ext cx="3611880" cy="1280160"/>
          </a:xfrm>
          <a:prstGeom prst="rect">
            <a:avLst/>
          </a:prstGeom>
          <a:solidFill>
            <a:srgbClr val="FFFB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26679" y="1234440"/>
            <a:ext cx="73152" cy="128016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91271" y="1344168"/>
            <a:ext cx="3319272" cy="25603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Apple SD Gothic Neo"/>
              </a:rPr>
              <a:t>주의할 오류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91271" y="1664208"/>
            <a:ext cx="3319272" cy="804671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950" b="0">
                <a:solidFill>
                  <a:srgbClr val="334155"/>
                </a:solidFill>
                <a:latin typeface="Apple SD Gothic Neo"/>
              </a:rPr>
              <a:t>GPU 수만 세고 accelerator 세대와 utilization을 무시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154680"/>
            <a:ext cx="2377440" cy="27432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500" b="1">
                <a:solidFill>
                  <a:srgbClr val="0F172A"/>
                </a:solidFill>
                <a:latin typeface="Apple SD Gothic Neo"/>
              </a:rPr>
              <a:t>공부 포인트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584448"/>
            <a:ext cx="5120640" cy="173736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>
              <a:defRPr sz="1200">
                <a:solidFill>
                  <a:srgbClr val="334155"/>
                </a:solidFill>
                <a:latin typeface="Apple SD Gothic Neo"/>
              </a:defRPr>
            </a:pPr>
            <a:r>
              <a:t>NVIDIA GPU, TPU, Trainium, custom ASIC은 tokens/MW가 다름</a:t>
            </a:r>
          </a:p>
          <a:p>
            <a:pPr>
              <a:defRPr sz="1200">
                <a:solidFill>
                  <a:srgbClr val="334155"/>
                </a:solidFill>
                <a:latin typeface="Apple SD Gothic Neo"/>
              </a:defRPr>
            </a:pPr>
            <a:r>
              <a:t>HBM 용량/대역폭과 interconnect가 serving efficiency에 영향</a:t>
            </a:r>
          </a:p>
          <a:p>
            <a:pPr>
              <a:defRPr sz="1200">
                <a:solidFill>
                  <a:srgbClr val="334155"/>
                </a:solidFill>
                <a:latin typeface="Apple SD Gothic Neo"/>
              </a:defRPr>
            </a:pPr>
            <a:r>
              <a:t>GPU count만으로 token capacity를 확정할 수 없음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154680"/>
            <a:ext cx="2560320" cy="27432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500" b="1">
                <a:solidFill>
                  <a:srgbClr val="0F172A"/>
                </a:solidFill>
                <a:latin typeface="Apple SD Gothic Neo"/>
              </a:rPr>
              <a:t>직접 해볼 질문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584448"/>
            <a:ext cx="4572000" cy="173736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>
              <a:defRPr sz="1200">
                <a:solidFill>
                  <a:srgbClr val="334155"/>
                </a:solidFill>
                <a:latin typeface="Apple SD Gothic Neo"/>
              </a:defRPr>
            </a:pPr>
            <a:r>
              <a:t>이 값은 fact인가, estimate인가?</a:t>
            </a:r>
          </a:p>
          <a:p>
            <a:pPr>
              <a:defRPr sz="1200">
                <a:solidFill>
                  <a:srgbClr val="334155"/>
                </a:solidFill>
                <a:latin typeface="Apple SD Gothic Neo"/>
              </a:defRPr>
            </a:pPr>
            <a:r>
              <a:t>10% 바꾸면 forecast가 얼마나 움직이는가?</a:t>
            </a:r>
          </a:p>
          <a:p>
            <a:pPr>
              <a:defRPr sz="1200">
                <a:solidFill>
                  <a:srgbClr val="334155"/>
                </a:solidFill>
                <a:latin typeface="Apple SD Gothic Neo"/>
              </a:defRPr>
            </a:pPr>
            <a:r>
              <a:t>공식 source로 교체할 수 있는가?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10972800" cy="22860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750" b="0">
                <a:solidFill>
                  <a:srgbClr val="64748B"/>
                </a:solidFill>
                <a:latin typeface="Apple SD Gothic Neo"/>
              </a:rPr>
              <a:t>Related source ids: SRC_GOOGLE_IRONWOOD; SRC_NVIDIA_H100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41148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2300" b="1">
                <a:solidFill>
                  <a:srgbClr val="0F172A"/>
                </a:solidFill>
                <a:latin typeface="Apple SD Gothic Neo"/>
              </a:rPr>
              <a:t>Tokens/sec/MW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424160" cy="27432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050" b="0">
                <a:solidFill>
                  <a:srgbClr val="475569"/>
                </a:solidFill>
                <a:latin typeface="Apple SD Gothic Neo"/>
              </a:rPr>
              <a:t>1MW inference load가 초당 몇 token을 만들 수 있는가?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3657600" cy="1280160"/>
          </a:xfrm>
          <a:prstGeom prst="rect">
            <a:avLst/>
          </a:prstGeom>
          <a:solidFill>
            <a:srgbClr val="ECFDF5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73152" cy="12801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344168"/>
            <a:ext cx="3364992" cy="25603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Apple SD Gothic Neo"/>
              </a:rPr>
              <a:t>개념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664208"/>
            <a:ext cx="3364992" cy="804671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950" b="0">
                <a:solidFill>
                  <a:srgbClr val="334155"/>
                </a:solidFill>
                <a:latin typeface="Apple SD Gothic Neo"/>
              </a:rPr>
              <a:t>tokens/sec/MW는 모델 크기, active parameter, batch size, context length, KV cache, quantization, speculative decoding의 합성 결과입니다.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4617720" y="1234440"/>
            <a:ext cx="2880360" cy="128016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17720" y="1234440"/>
            <a:ext cx="73152" cy="12801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82312" y="1344168"/>
            <a:ext cx="2587752" cy="25603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Apple SD Gothic Neo"/>
              </a:rPr>
              <a:t>초기 학습 band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2312" y="1664208"/>
            <a:ext cx="2587752" cy="804671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950" b="0">
                <a:solidFill>
                  <a:srgbClr val="334155"/>
                </a:solidFill>
                <a:latin typeface="Apple SD Gothic Neo"/>
              </a:rPr>
              <a:t>closed model: proxy band만 사용, open MoE: active parameter로 sanity check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26679" y="1234440"/>
            <a:ext cx="3611880" cy="1280160"/>
          </a:xfrm>
          <a:prstGeom prst="rect">
            <a:avLst/>
          </a:prstGeom>
          <a:solidFill>
            <a:srgbClr val="FFFB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26679" y="1234440"/>
            <a:ext cx="73152" cy="128016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91271" y="1344168"/>
            <a:ext cx="3319272" cy="25603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Apple SD Gothic Neo"/>
              </a:rPr>
              <a:t>주의할 오류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91271" y="1664208"/>
            <a:ext cx="3319272" cy="804671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950" b="0">
                <a:solidFill>
                  <a:srgbClr val="334155"/>
                </a:solidFill>
                <a:latin typeface="Apple SD Gothic Neo"/>
              </a:rPr>
              <a:t>benchmark 값을 회사별 실제 성능처럼 확정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154680"/>
            <a:ext cx="2377440" cy="27432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500" b="1">
                <a:solidFill>
                  <a:srgbClr val="0F172A"/>
                </a:solidFill>
                <a:latin typeface="Apple SD Gothic Neo"/>
              </a:rPr>
              <a:t>공부 포인트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584448"/>
            <a:ext cx="5120640" cy="173736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>
              <a:defRPr sz="1200">
                <a:solidFill>
                  <a:srgbClr val="334155"/>
                </a:solidFill>
                <a:latin typeface="Apple SD Gothic Neo"/>
              </a:defRPr>
            </a:pPr>
            <a:r>
              <a:t>모델 크기, context, batching, quantization, speculative decoding의 합성 결과</a:t>
            </a:r>
          </a:p>
          <a:p>
            <a:pPr>
              <a:defRPr sz="1200">
                <a:solidFill>
                  <a:srgbClr val="334155"/>
                </a:solidFill>
                <a:latin typeface="Apple SD Gothic Neo"/>
              </a:defRPr>
            </a:pPr>
            <a:r>
              <a:t>benchmark는 company fact가 아니라 proxy</a:t>
            </a:r>
          </a:p>
          <a:p>
            <a:pPr>
              <a:defRPr sz="1200">
                <a:solidFill>
                  <a:srgbClr val="334155"/>
                </a:solidFill>
                <a:latin typeface="Apple SD Gothic Neo"/>
              </a:defRPr>
            </a:pPr>
            <a:r>
              <a:t>closed model은 band와 confidence로 다뤄야 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154680"/>
            <a:ext cx="2560320" cy="27432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500" b="1">
                <a:solidFill>
                  <a:srgbClr val="0F172A"/>
                </a:solidFill>
                <a:latin typeface="Apple SD Gothic Neo"/>
              </a:rPr>
              <a:t>직접 해볼 질문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584448"/>
            <a:ext cx="4572000" cy="173736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>
              <a:defRPr sz="1200">
                <a:solidFill>
                  <a:srgbClr val="334155"/>
                </a:solidFill>
                <a:latin typeface="Apple SD Gothic Neo"/>
              </a:defRPr>
            </a:pPr>
            <a:r>
              <a:t>이 값은 fact인가, estimate인가?</a:t>
            </a:r>
          </a:p>
          <a:p>
            <a:pPr>
              <a:defRPr sz="1200">
                <a:solidFill>
                  <a:srgbClr val="334155"/>
                </a:solidFill>
                <a:latin typeface="Apple SD Gothic Neo"/>
              </a:defRPr>
            </a:pPr>
            <a:r>
              <a:t>10% 바꾸면 forecast가 얼마나 움직이는가?</a:t>
            </a:r>
          </a:p>
          <a:p>
            <a:pPr>
              <a:defRPr sz="1200">
                <a:solidFill>
                  <a:srgbClr val="334155"/>
                </a:solidFill>
                <a:latin typeface="Apple SD Gothic Neo"/>
              </a:defRPr>
            </a:pPr>
            <a:r>
              <a:t>공식 source로 교체할 수 있는가?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10972800" cy="22860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750" b="0">
                <a:solidFill>
                  <a:srgbClr val="64748B"/>
                </a:solidFill>
                <a:latin typeface="Apple SD Gothic Neo"/>
              </a:rPr>
              <a:t>Related source ids: SRC_ARXIV_ENERGY_TOKEN; SRC_DEEPSEEK_V3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41148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2300" b="1">
                <a:solidFill>
                  <a:srgbClr val="0F172A"/>
                </a:solidFill>
                <a:latin typeface="Apple SD Gothic Neo"/>
              </a:rPr>
              <a:t>Utilization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424160" cy="27432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050" b="0">
                <a:solidFill>
                  <a:srgbClr val="475569"/>
                </a:solidFill>
                <a:latin typeface="Apple SD Gothic Neo"/>
              </a:rPr>
              <a:t>이론 capacity 중 실제 토큰으로 변환되는 비율은?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3657600" cy="1280160"/>
          </a:xfrm>
          <a:prstGeom prst="rect">
            <a:avLst/>
          </a:prstGeom>
          <a:solidFill>
            <a:srgbClr val="FFFB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73152" cy="128016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344168"/>
            <a:ext cx="3364992" cy="25603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Apple SD Gothic Neo"/>
              </a:rPr>
              <a:t>개념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664208"/>
            <a:ext cx="3364992" cy="804671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950" b="0">
                <a:solidFill>
                  <a:srgbClr val="334155"/>
                </a:solidFill>
                <a:latin typeface="Apple SD Gothic Neo"/>
              </a:rPr>
              <a:t>실제 utilization은 traffic shape, latency SLA, batch 가능성, regional placement, failover reserve 때문에 100%가 될 수 없습니다.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4617720" y="1234440"/>
            <a:ext cx="2880360" cy="128016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17720" y="1234440"/>
            <a:ext cx="73152" cy="12801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82312" y="1344168"/>
            <a:ext cx="2587752" cy="25603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Apple SD Gothic Neo"/>
              </a:rPr>
              <a:t>초기 학습 band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2312" y="1664208"/>
            <a:ext cx="2587752" cy="804671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950" b="0">
                <a:solidFill>
                  <a:srgbClr val="334155"/>
                </a:solidFill>
                <a:latin typeface="Apple SD Gothic Neo"/>
              </a:rPr>
              <a:t>2026: 45-65%, 2030: 60-80%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26679" y="1234440"/>
            <a:ext cx="3611880" cy="1280160"/>
          </a:xfrm>
          <a:prstGeom prst="rect">
            <a:avLst/>
          </a:prstGeom>
          <a:solidFill>
            <a:srgbClr val="FFFB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26679" y="1234440"/>
            <a:ext cx="73152" cy="128016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91271" y="1344168"/>
            <a:ext cx="3319272" cy="25603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Apple SD Gothic Neo"/>
              </a:rPr>
              <a:t>주의할 오류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91271" y="1664208"/>
            <a:ext cx="3319272" cy="804671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950" b="0">
                <a:solidFill>
                  <a:srgbClr val="334155"/>
                </a:solidFill>
                <a:latin typeface="Apple SD Gothic Neo"/>
              </a:rPr>
              <a:t>peak throughput을 연중 평균 throughput으로 사용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154680"/>
            <a:ext cx="2377440" cy="27432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500" b="1">
                <a:solidFill>
                  <a:srgbClr val="0F172A"/>
                </a:solidFill>
                <a:latin typeface="Apple SD Gothic Neo"/>
              </a:rPr>
              <a:t>공부 포인트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584448"/>
            <a:ext cx="5120640" cy="173736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>
              <a:defRPr sz="1200">
                <a:solidFill>
                  <a:srgbClr val="334155"/>
                </a:solidFill>
                <a:latin typeface="Apple SD Gothic Neo"/>
              </a:defRPr>
            </a:pPr>
            <a:r>
              <a:t>Peak throughput과 연평균 throughput은 다름</a:t>
            </a:r>
          </a:p>
          <a:p>
            <a:pPr>
              <a:defRPr sz="1200">
                <a:solidFill>
                  <a:srgbClr val="334155"/>
                </a:solidFill>
                <a:latin typeface="Apple SD Gothic Neo"/>
              </a:defRPr>
            </a:pPr>
            <a:r>
              <a:t>latency SLA와 failover reserve가 utilization을 낮춤</a:t>
            </a:r>
          </a:p>
          <a:p>
            <a:pPr>
              <a:defRPr sz="1200">
                <a:solidFill>
                  <a:srgbClr val="334155"/>
                </a:solidFill>
                <a:latin typeface="Apple SD Gothic Neo"/>
              </a:defRPr>
            </a:pPr>
            <a:r>
              <a:t>traffic shape가 좋을수록 batching 효율 상승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154680"/>
            <a:ext cx="2560320" cy="27432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500" b="1">
                <a:solidFill>
                  <a:srgbClr val="0F172A"/>
                </a:solidFill>
                <a:latin typeface="Apple SD Gothic Neo"/>
              </a:rPr>
              <a:t>직접 해볼 질문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584448"/>
            <a:ext cx="4572000" cy="173736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>
              <a:defRPr sz="1200">
                <a:solidFill>
                  <a:srgbClr val="334155"/>
                </a:solidFill>
                <a:latin typeface="Apple SD Gothic Neo"/>
              </a:defRPr>
            </a:pPr>
            <a:r>
              <a:t>이 값은 fact인가, estimate인가?</a:t>
            </a:r>
          </a:p>
          <a:p>
            <a:pPr>
              <a:defRPr sz="1200">
                <a:solidFill>
                  <a:srgbClr val="334155"/>
                </a:solidFill>
                <a:latin typeface="Apple SD Gothic Neo"/>
              </a:defRPr>
            </a:pPr>
            <a:r>
              <a:t>10% 바꾸면 forecast가 얼마나 움직이는가?</a:t>
            </a:r>
          </a:p>
          <a:p>
            <a:pPr>
              <a:defRPr sz="1200">
                <a:solidFill>
                  <a:srgbClr val="334155"/>
                </a:solidFill>
                <a:latin typeface="Apple SD Gothic Neo"/>
              </a:defRPr>
            </a:pPr>
            <a:r>
              <a:t>공식 source로 교체할 수 있는가?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10972800" cy="22860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750" b="0">
                <a:solidFill>
                  <a:srgbClr val="64748B"/>
                </a:solidFill>
                <a:latin typeface="Apple SD Gothic Neo"/>
              </a:rPr>
              <a:t>Related source ids: SRC_ARXIV_ENERGY_TOKEN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41148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2300" b="1">
                <a:solidFill>
                  <a:srgbClr val="0F172A"/>
                </a:solidFill>
                <a:latin typeface="Apple SD Gothic Neo"/>
              </a:rPr>
              <a:t>Attribution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424160" cy="27432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050" b="0">
                <a:solidFill>
                  <a:srgbClr val="475569"/>
                </a:solidFill>
                <a:latin typeface="Apple SD Gothic Neo"/>
              </a:rPr>
              <a:t>누구의 전력 capacity를 누구의 token으로 귀속할 것인가?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3657600" cy="128016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73152" cy="1280160"/>
          </a:xfrm>
          <a:prstGeom prst="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344168"/>
            <a:ext cx="3364992" cy="25603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Apple SD Gothic Neo"/>
              </a:rPr>
              <a:t>개념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664208"/>
            <a:ext cx="3364992" cy="804671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950" b="0">
                <a:solidFill>
                  <a:srgbClr val="334155"/>
                </a:solidFill>
                <a:latin typeface="Apple SD Gothic Neo"/>
              </a:rPr>
              <a:t>AWS, Oracle, Google Cloud capacity는 hosting이고, token owner는 Claude, GPT, Gemini 등 model owner 기준으로 귀속합니다.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4617720" y="1234440"/>
            <a:ext cx="2880360" cy="128016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17720" y="1234440"/>
            <a:ext cx="73152" cy="12801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82312" y="1344168"/>
            <a:ext cx="2587752" cy="25603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Apple SD Gothic Neo"/>
              </a:rPr>
              <a:t>초기 학습 band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2312" y="1664208"/>
            <a:ext cx="2587752" cy="804671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950" b="0">
                <a:solidFill>
                  <a:srgbClr val="334155"/>
                </a:solidFill>
                <a:latin typeface="Apple SD Gothic Neo"/>
              </a:rPr>
              <a:t>capacity owner != model owner인 경우 attribution rule 필수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26679" y="1234440"/>
            <a:ext cx="3611880" cy="1280160"/>
          </a:xfrm>
          <a:prstGeom prst="rect">
            <a:avLst/>
          </a:prstGeom>
          <a:solidFill>
            <a:srgbClr val="FFFB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26679" y="1234440"/>
            <a:ext cx="73152" cy="128016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91271" y="1344168"/>
            <a:ext cx="3319272" cy="25603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Apple SD Gothic Neo"/>
              </a:rPr>
              <a:t>주의할 오류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91271" y="1664208"/>
            <a:ext cx="3319272" cy="804671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950" b="0">
                <a:solidFill>
                  <a:srgbClr val="334155"/>
                </a:solidFill>
                <a:latin typeface="Apple SD Gothic Neo"/>
              </a:rPr>
              <a:t>OpenAI/Microsoft, Anthropic/AWS, OpenAI/Oracle 중복 계산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154680"/>
            <a:ext cx="2377440" cy="27432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500" b="1">
                <a:solidFill>
                  <a:srgbClr val="0F172A"/>
                </a:solidFill>
                <a:latin typeface="Apple SD Gothic Neo"/>
              </a:rPr>
              <a:t>공부 포인트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584448"/>
            <a:ext cx="5120640" cy="173736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>
              <a:defRPr sz="1200">
                <a:solidFill>
                  <a:srgbClr val="334155"/>
                </a:solidFill>
                <a:latin typeface="Apple SD Gothic Neo"/>
              </a:defRPr>
            </a:pPr>
            <a:r>
              <a:t>host capacity와 model owner token을 분리</a:t>
            </a:r>
          </a:p>
          <a:p>
            <a:pPr>
              <a:defRPr sz="1200">
                <a:solidFill>
                  <a:srgbClr val="334155"/>
                </a:solidFill>
                <a:latin typeface="Apple SD Gothic Neo"/>
              </a:defRPr>
            </a:pPr>
            <a:r>
              <a:t>OpenAI/Microsoft, Anthropic/AWS, OpenAI/Oracle 중복 주의</a:t>
            </a:r>
          </a:p>
          <a:p>
            <a:pPr>
              <a:defRPr sz="1200">
                <a:solidFill>
                  <a:srgbClr val="334155"/>
                </a:solidFill>
                <a:latin typeface="Apple SD Gothic Neo"/>
              </a:defRPr>
            </a:pPr>
            <a:r>
              <a:t>계약 당사자와 모델 토큰 owner가 다를 수 있음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154680"/>
            <a:ext cx="2560320" cy="27432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500" b="1">
                <a:solidFill>
                  <a:srgbClr val="0F172A"/>
                </a:solidFill>
                <a:latin typeface="Apple SD Gothic Neo"/>
              </a:rPr>
              <a:t>직접 해볼 질문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584448"/>
            <a:ext cx="4572000" cy="173736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>
              <a:defRPr sz="1200">
                <a:solidFill>
                  <a:srgbClr val="334155"/>
                </a:solidFill>
                <a:latin typeface="Apple SD Gothic Neo"/>
              </a:defRPr>
            </a:pPr>
            <a:r>
              <a:t>이 값은 fact인가, estimate인가?</a:t>
            </a:r>
          </a:p>
          <a:p>
            <a:pPr>
              <a:defRPr sz="1200">
                <a:solidFill>
                  <a:srgbClr val="334155"/>
                </a:solidFill>
                <a:latin typeface="Apple SD Gothic Neo"/>
              </a:defRPr>
            </a:pPr>
            <a:r>
              <a:t>10% 바꾸면 forecast가 얼마나 움직이는가?</a:t>
            </a:r>
          </a:p>
          <a:p>
            <a:pPr>
              <a:defRPr sz="1200">
                <a:solidFill>
                  <a:srgbClr val="334155"/>
                </a:solidFill>
                <a:latin typeface="Apple SD Gothic Neo"/>
              </a:defRPr>
            </a:pPr>
            <a:r>
              <a:t>공식 source로 교체할 수 있는가?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10972800" cy="22860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750" b="0">
                <a:solidFill>
                  <a:srgbClr val="64748B"/>
                </a:solidFill>
                <a:latin typeface="Apple SD Gothic Neo"/>
              </a:rPr>
              <a:t>Related source ids: SRC_OPENAI_STARGATE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41148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2300" b="1">
                <a:solidFill>
                  <a:srgbClr val="0F172A"/>
                </a:solidFill>
                <a:latin typeface="Apple SD Gothic Neo"/>
              </a:rPr>
              <a:t>시나리오를 현실적으로 만드는 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424160" cy="27432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050" b="0">
                <a:solidFill>
                  <a:srgbClr val="475569"/>
                </a:solidFill>
                <a:latin typeface="Apple SD Gothic Neo"/>
              </a:rPr>
              <a:t>Bull/Base/Bear는 느낌이 아니라 세 가지 축의 조합이어야 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3246120" cy="1234440"/>
          </a:xfrm>
          <a:prstGeom prst="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73152" cy="12344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435607"/>
            <a:ext cx="2953512" cy="25603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Apple SD Gothic Neo"/>
              </a:rPr>
              <a:t>전력 operational deploy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1755648"/>
            <a:ext cx="2953512" cy="75895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950" b="0">
                <a:solidFill>
                  <a:srgbClr val="334155"/>
                </a:solidFill>
                <a:latin typeface="Apple SD Gothic Neo"/>
              </a:rPr>
              <a:t>인허가, 변전, 냉각, 랙 설치, GPU delivery 속도</a:t>
            </a:r>
          </a:p>
        </p:txBody>
      </p:sp>
      <p:sp>
        <p:nvSpPr>
          <p:cNvPr id="8" name="Rectangle 7"/>
          <p:cNvSpPr/>
          <p:nvPr/>
        </p:nvSpPr>
        <p:spPr>
          <a:xfrm>
            <a:off x="4526280" y="1325880"/>
            <a:ext cx="3246120" cy="1234440"/>
          </a:xfrm>
          <a:prstGeom prst="rect">
            <a:avLst/>
          </a:prstGeom>
          <a:solidFill>
            <a:srgbClr val="ECFDF5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26280" y="1325880"/>
            <a:ext cx="73152" cy="1234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90872" y="1435607"/>
            <a:ext cx="2953512" cy="25603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Apple SD Gothic Neo"/>
              </a:rPr>
              <a:t>MoE / serving 최적화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90872" y="1755648"/>
            <a:ext cx="2953512" cy="75895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950" b="0">
                <a:solidFill>
                  <a:srgbClr val="334155"/>
                </a:solidFill>
                <a:latin typeface="Apple SD Gothic Neo"/>
              </a:rPr>
              <a:t>active parameter, quantization, batching, speculative decoding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325880"/>
            <a:ext cx="3246120" cy="1234440"/>
          </a:xfrm>
          <a:prstGeom prst="rect">
            <a:avLst/>
          </a:prstGeom>
          <a:solidFill>
            <a:srgbClr val="FFFB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1325880"/>
            <a:ext cx="73152" cy="123444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94192" y="1435607"/>
            <a:ext cx="2953512" cy="25603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Apple SD Gothic Neo"/>
              </a:rPr>
              <a:t>Inference 비중 상승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4192" y="1755648"/>
            <a:ext cx="2953512" cy="75895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950" b="0">
                <a:solidFill>
                  <a:srgbClr val="334155"/>
                </a:solidFill>
                <a:latin typeface="Apple SD Gothic Neo"/>
              </a:rPr>
              <a:t>상용 traffic, API/Copilot/agent workload 확대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3337560"/>
            <a:ext cx="3246120" cy="11430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3337560"/>
            <a:ext cx="73152" cy="114300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3447288"/>
            <a:ext cx="2953512" cy="25603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Apple SD Gothic Neo"/>
              </a:rPr>
              <a:t>Bear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3767328"/>
            <a:ext cx="2953512" cy="66751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950" b="0">
                <a:solidFill>
                  <a:srgbClr val="334155"/>
                </a:solidFill>
                <a:latin typeface="Apple SD Gothic Neo"/>
              </a:rPr>
              <a:t>전력 투입 지연 + 효율 개선 둔화 + inference mix 상승 지연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26280" y="3337560"/>
            <a:ext cx="3246120" cy="11430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26280" y="3337560"/>
            <a:ext cx="73152" cy="1143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90872" y="3447288"/>
            <a:ext cx="2953512" cy="25603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Apple SD Gothic Neo"/>
              </a:rPr>
              <a:t>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90872" y="3767328"/>
            <a:ext cx="2953512" cy="66751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950" b="0">
                <a:solidFill>
                  <a:srgbClr val="334155"/>
                </a:solidFill>
                <a:latin typeface="Apple SD Gothic Neo"/>
              </a:rPr>
              <a:t>공식 발표를 staged deployment로 반영하고 점진적 효율 개선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3337560"/>
            <a:ext cx="3246120" cy="11430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3337560"/>
            <a:ext cx="73152" cy="1143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94192" y="3447288"/>
            <a:ext cx="2953512" cy="25603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Apple SD Gothic Neo"/>
              </a:rPr>
              <a:t>Bull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3767328"/>
            <a:ext cx="2953512" cy="66751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950" b="0">
                <a:solidFill>
                  <a:srgbClr val="334155"/>
                </a:solidFill>
                <a:latin typeface="Apple SD Gothic Neo"/>
              </a:rPr>
              <a:t>빠른 energization + 강한 serving 효율 + 상용 inference 급증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73952"/>
            <a:ext cx="10972800" cy="22860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750" b="0">
                <a:solidFill>
                  <a:srgbClr val="64748B"/>
                </a:solidFill>
                <a:latin typeface="Apple SD Gothic Neo"/>
              </a:rPr>
              <a:t>Source: project source register; numbers are learning bands unless explicitly marked as official facts.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41148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2300" b="1">
                <a:solidFill>
                  <a:srgbClr val="0F172A"/>
                </a:solidFill>
                <a:latin typeface="Apple SD Gothic Neo"/>
              </a:rPr>
              <a:t>Calibration exercise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424160" cy="27432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050" b="0">
                <a:solidFill>
                  <a:srgbClr val="475569"/>
                </a:solidFill>
                <a:latin typeface="Apple SD Gothic Neo"/>
              </a:rPr>
              <a:t>숫자가 이상해 보이면 틀렸다고 말하기 전에 어디서 벌어졌는지 분해한다.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3657600" cy="292608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500" b="1">
                <a:solidFill>
                  <a:srgbClr val="0F172A"/>
                </a:solidFill>
                <a:latin typeface="Apple SD Gothic Neo"/>
              </a:rPr>
              <a:t>예시 질문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4937760" cy="329184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>
              <a:defRPr sz="1200">
                <a:solidFill>
                  <a:srgbClr val="334155"/>
                </a:solidFill>
                <a:latin typeface="Apple SD Gothic Neo"/>
              </a:defRPr>
            </a:pPr>
            <a:r>
              <a:t>planned GW를 active GW로 바로 썼는가?</a:t>
            </a:r>
          </a:p>
          <a:p>
            <a:pPr>
              <a:defRPr sz="1200">
                <a:solidFill>
                  <a:srgbClr val="334155"/>
                </a:solidFill>
                <a:latin typeface="Apple SD Gothic Neo"/>
              </a:defRPr>
            </a:pPr>
            <a:r>
              <a:t>PUE 적용 전후를 혼동했는가?</a:t>
            </a:r>
          </a:p>
          <a:p>
            <a:pPr>
              <a:defRPr sz="1200">
                <a:solidFill>
                  <a:srgbClr val="334155"/>
                </a:solidFill>
                <a:latin typeface="Apple SD Gothic Neo"/>
              </a:defRPr>
            </a:pPr>
            <a:r>
              <a:t>MoE total parameter만 보고 token cost를 계산했는가?</a:t>
            </a:r>
          </a:p>
          <a:p>
            <a:pPr>
              <a:defRPr sz="1200">
                <a:solidFill>
                  <a:srgbClr val="334155"/>
                </a:solidFill>
                <a:latin typeface="Apple SD Gothic Neo"/>
              </a:defRPr>
            </a:pPr>
            <a:r>
              <a:t>peak throughput을 연평균으로 사용했는가?</a:t>
            </a:r>
          </a:p>
          <a:p>
            <a:pPr>
              <a:defRPr sz="1200">
                <a:solidFill>
                  <a:srgbClr val="334155"/>
                </a:solidFill>
                <a:latin typeface="Apple SD Gothic Neo"/>
              </a:defRPr>
            </a:pPr>
            <a:r>
              <a:t>benchmark proxy를 company fact로 표현했는가?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325880"/>
            <a:ext cx="4526280" cy="1005840"/>
          </a:xfrm>
          <a:prstGeom prst="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09360" y="1325880"/>
            <a:ext cx="73152" cy="10058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3952" y="1435607"/>
            <a:ext cx="4233672" cy="25603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Apple SD Gothic Neo"/>
              </a:rPr>
              <a:t>1단계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3952" y="1755648"/>
            <a:ext cx="4233672" cy="53035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950" b="0">
                <a:solidFill>
                  <a:srgbClr val="334155"/>
                </a:solidFill>
                <a:latin typeface="Apple SD Gothic Neo"/>
              </a:rPr>
              <a:t>단위: GW → MW → tokens/sec → tokens/day → annual tokens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2606040"/>
            <a:ext cx="4526280" cy="1005840"/>
          </a:xfrm>
          <a:prstGeom prst="rect">
            <a:avLst/>
          </a:prstGeom>
          <a:solidFill>
            <a:srgbClr val="ECFDF5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2606040"/>
            <a:ext cx="73152" cy="10058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2715768"/>
            <a:ext cx="4233672" cy="25603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Apple SD Gothic Neo"/>
              </a:rPr>
              <a:t>2단계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3035808"/>
            <a:ext cx="4233672" cy="53035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950" b="0">
                <a:solidFill>
                  <a:srgbClr val="334155"/>
                </a:solidFill>
                <a:latin typeface="Apple SD Gothic Neo"/>
              </a:rPr>
              <a:t>경계: active &lt;= contracted, training + inference = 100%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3886200"/>
            <a:ext cx="4526280" cy="1005840"/>
          </a:xfrm>
          <a:prstGeom prst="rect">
            <a:avLst/>
          </a:prstGeom>
          <a:solidFill>
            <a:srgbClr val="FFFB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3886200"/>
            <a:ext cx="73152" cy="100584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3995928"/>
            <a:ext cx="4233672" cy="25603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Apple SD Gothic Neo"/>
              </a:rPr>
              <a:t>3단계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4315968"/>
            <a:ext cx="4233672" cy="53035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950" b="0">
                <a:solidFill>
                  <a:srgbClr val="334155"/>
                </a:solidFill>
                <a:latin typeface="Apple SD Gothic Neo"/>
              </a:rPr>
              <a:t>모델: dense/MoE, active params, context, serving software 확인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10972800" cy="22860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750" b="0">
                <a:solidFill>
                  <a:srgbClr val="64748B"/>
                </a:solidFill>
                <a:latin typeface="Apple SD Gothic Neo"/>
              </a:rPr>
              <a:t>Source: project source register; numbers are learning bands unless explicitly marked as official facts.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41148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2300" b="1">
                <a:solidFill>
                  <a:srgbClr val="0F172A"/>
                </a:solidFill>
                <a:latin typeface="Apple SD Gothic Neo"/>
              </a:rPr>
              <a:t>학습 루프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424160" cy="27432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050" b="0">
                <a:solidFill>
                  <a:srgbClr val="475569"/>
                </a:solidFill>
                <a:latin typeface="Apple SD Gothic Neo"/>
              </a:rPr>
              <a:t>매주 한 가정만 깊게 보면 모델 전체의 신뢰도가 올라간다.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713232" cy="7132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47672"/>
            <a:ext cx="713232" cy="22860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ple SD Gothic Neo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88920"/>
            <a:ext cx="1280160" cy="237744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Apple SD Gothic Neo"/>
              </a:rPr>
              <a:t>Source 읽기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3154680"/>
            <a:ext cx="1554480" cy="384048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/>
            <a:r>
              <a:rPr sz="950" b="0">
                <a:solidFill>
                  <a:srgbClr val="475569"/>
                </a:solidFill>
                <a:latin typeface="Apple SD Gothic Neo"/>
              </a:rPr>
              <a:t>공식 source 2개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828800"/>
            <a:ext cx="713232" cy="71323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1947672"/>
            <a:ext cx="713232" cy="22860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ple SD Gothic Neo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788920"/>
            <a:ext cx="1280160" cy="237744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Apple SD Gothic Neo"/>
              </a:rPr>
              <a:t>숫자 추출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39" y="3154680"/>
            <a:ext cx="1554480" cy="384048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/>
            <a:r>
              <a:rPr sz="950" b="0">
                <a:solidFill>
                  <a:srgbClr val="475569"/>
                </a:solidFill>
                <a:latin typeface="Apple SD Gothic Neo"/>
              </a:rPr>
              <a:t>숫자 3개만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0" y="1828800"/>
            <a:ext cx="713232" cy="71323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0" y="1947672"/>
            <a:ext cx="713232" cy="22860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ple SD Gothic Neo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788920"/>
            <a:ext cx="1280160" cy="237744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Apple SD Gothic Neo"/>
              </a:rPr>
              <a:t>분류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3154680"/>
            <a:ext cx="1554480" cy="384048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/>
            <a:r>
              <a:rPr sz="950" b="0">
                <a:solidFill>
                  <a:srgbClr val="475569"/>
                </a:solidFill>
                <a:latin typeface="Apple SD Gothic Neo"/>
              </a:rPr>
              <a:t>fact/estimate/proxy/scenario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0" y="1828800"/>
            <a:ext cx="713232" cy="713232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0" y="1947672"/>
            <a:ext cx="713232" cy="22860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ple SD Gothic Neo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2788920"/>
            <a:ext cx="1280160" cy="237744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Apple SD Gothic Neo"/>
              </a:rPr>
              <a:t>모델 비교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3154680"/>
            <a:ext cx="1554480" cy="384048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/>
            <a:r>
              <a:rPr sz="950" b="0">
                <a:solidFill>
                  <a:srgbClr val="475569"/>
                </a:solidFill>
                <a:latin typeface="Apple SD Gothic Neo"/>
              </a:rPr>
              <a:t>현재 값과 차이 확인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75520" y="1828800"/>
            <a:ext cx="713232" cy="71323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0" y="1947672"/>
            <a:ext cx="713232" cy="22860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ple SD Gothic Ne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2788920"/>
            <a:ext cx="1280160" cy="237744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Apple SD Gothic Neo"/>
              </a:rPr>
              <a:t>로그 기록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64040" y="3154680"/>
            <a:ext cx="1554480" cy="384048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/>
            <a:r>
              <a:rPr sz="950" b="0">
                <a:solidFill>
                  <a:srgbClr val="475569"/>
                </a:solidFill>
                <a:latin typeface="Apple SD Gothic Neo"/>
              </a:rPr>
              <a:t>assumption/source log 업데이트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4754880"/>
            <a:ext cx="10332720" cy="731520"/>
          </a:xfrm>
          <a:prstGeom prst="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4400" y="4754880"/>
            <a:ext cx="73152" cy="7315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8992" y="4864608"/>
            <a:ext cx="10040112" cy="25603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Apple SD Gothic Neo"/>
              </a:rPr>
              <a:t>다음 추천 주제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" y="5184648"/>
            <a:ext cx="10040112" cy="25603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950" b="0">
                <a:solidFill>
                  <a:srgbClr val="334155"/>
                </a:solidFill>
                <a:latin typeface="Apple SD Gothic Neo"/>
              </a:rPr>
              <a:t>첫 주는 active_power_gw와 operational deployment ratio부터 공부하세요. forecast 민감도가 가장 크고, hallucination 위험도 가장 높습니다.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73952"/>
            <a:ext cx="10972800" cy="22860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750" b="0">
                <a:solidFill>
                  <a:srgbClr val="64748B"/>
                </a:solidFill>
                <a:latin typeface="Apple SD Gothic Neo"/>
              </a:rPr>
              <a:t>Source: project source register; numbers are learning bands unless explicitly marked as official facts.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41148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2300" b="1">
                <a:solidFill>
                  <a:srgbClr val="0F172A"/>
                </a:solidFill>
                <a:latin typeface="Apple SD Gothic Neo"/>
              </a:rPr>
              <a:t>Source reading 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424160" cy="27432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050" b="0">
                <a:solidFill>
                  <a:srgbClr val="475569"/>
                </a:solidFill>
                <a:latin typeface="Apple SD Gothic Neo"/>
              </a:rPr>
              <a:t>공부는 source_id 단위로 짧게, 반복적으로 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43000"/>
            <a:ext cx="5166360" cy="987552"/>
          </a:xfrm>
          <a:prstGeom prst="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143000"/>
            <a:ext cx="73152" cy="9875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252728"/>
            <a:ext cx="4873752" cy="25603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Apple SD Gothic Neo"/>
              </a:rPr>
              <a:t>SRC_GOOGLE_IRONWOOD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572768"/>
            <a:ext cx="4873752" cy="512064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950" b="0">
                <a:solidFill>
                  <a:srgbClr val="334155"/>
                </a:solidFill>
                <a:latin typeface="Apple SD Gothic Neo"/>
              </a:rPr>
              <a:t>Google Cloud · 2025-04-09
TPU pod, inference-oriented accelerator, HBM, perf/W 학습 anchor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143000"/>
            <a:ext cx="5166360" cy="987552"/>
          </a:xfrm>
          <a:prstGeom prst="rect">
            <a:avLst/>
          </a:prstGeom>
          <a:solidFill>
            <a:srgbClr val="ECFDF5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143000"/>
            <a:ext cx="73152" cy="9875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1" y="1252728"/>
            <a:ext cx="4873752" cy="25603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Apple SD Gothic Neo"/>
              </a:rPr>
              <a:t>SRC_OPENAI_STARGATE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1" y="1572768"/>
            <a:ext cx="4873752" cy="512064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950" b="0">
                <a:solidFill>
                  <a:srgbClr val="334155"/>
                </a:solidFill>
                <a:latin typeface="Apple SD Gothic Neo"/>
              </a:rPr>
              <a:t>OpenAI · 2025-09-23
planned GW와 active AI IT load를 분리해야 하는 이유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560320"/>
            <a:ext cx="5166360" cy="987552"/>
          </a:xfrm>
          <a:prstGeom prst="rect">
            <a:avLst/>
          </a:prstGeom>
          <a:solidFill>
            <a:srgbClr val="FFFB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560320"/>
            <a:ext cx="73152" cy="9875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2670048"/>
            <a:ext cx="4873752" cy="25603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Apple SD Gothic Neo"/>
              </a:rPr>
              <a:t>SRC_DEEPSEEK_V3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2990087"/>
            <a:ext cx="4873752" cy="512064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950" b="0">
                <a:solidFill>
                  <a:srgbClr val="334155"/>
                </a:solidFill>
                <a:latin typeface="Apple SD Gothic Neo"/>
              </a:rPr>
              <a:t>DeepSeek · 2024-12-26
MoE total parameter와 active parameter 분리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560320"/>
            <a:ext cx="5166360" cy="987552"/>
          </a:xfrm>
          <a:prstGeom prst="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2560320"/>
            <a:ext cx="73152" cy="9875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1" y="2670048"/>
            <a:ext cx="4873752" cy="25603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Apple SD Gothic Neo"/>
              </a:rPr>
              <a:t>SRC_QWEN3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1" y="2990087"/>
            <a:ext cx="4873752" cy="512064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950" b="0">
                <a:solidFill>
                  <a:srgbClr val="334155"/>
                </a:solidFill>
                <a:latin typeface="Apple SD Gothic Neo"/>
              </a:rPr>
              <a:t>Alibaba Qwen · 2025
MoE 모델의 active parameter와 thinking/non-thinking serving 차이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3977639"/>
            <a:ext cx="5166360" cy="987552"/>
          </a:xfrm>
          <a:prstGeom prst="rect">
            <a:avLst/>
          </a:prstGeom>
          <a:solidFill>
            <a:srgbClr val="ECFDF5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3977639"/>
            <a:ext cx="73152" cy="9875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" y="4087368"/>
            <a:ext cx="4873752" cy="25603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Apple SD Gothic Neo"/>
              </a:rPr>
              <a:t>SRC_NVIDIA_H100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" y="4407407"/>
            <a:ext cx="4873752" cy="512064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950" b="0">
                <a:solidFill>
                  <a:srgbClr val="334155"/>
                </a:solidFill>
                <a:latin typeface="Apple SD Gothic Neo"/>
              </a:rPr>
              <a:t>NVIDIA · accessed 2026-05-14
GPU TDP와 rack/facility power는 다르다는 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3977639"/>
            <a:ext cx="5166360" cy="987552"/>
          </a:xfrm>
          <a:prstGeom prst="rect">
            <a:avLst/>
          </a:prstGeom>
          <a:solidFill>
            <a:srgbClr val="FFFB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3977639"/>
            <a:ext cx="73152" cy="9875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28231" y="4087368"/>
            <a:ext cx="4873752" cy="25603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Apple SD Gothic Neo"/>
              </a:rPr>
              <a:t>SRC_ARXIV_ENERGY_TOKEN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8231" y="4407407"/>
            <a:ext cx="4873752" cy="512064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950" b="0">
                <a:solidFill>
                  <a:srgbClr val="334155"/>
                </a:solidFill>
                <a:latin typeface="Apple SD Gothic Neo"/>
              </a:rPr>
              <a:t>arXiv · 2025
query/token 단위 에너지 모델링과 test-time compute 민감도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73952"/>
            <a:ext cx="10972800" cy="22860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750" b="0">
                <a:solidFill>
                  <a:srgbClr val="64748B"/>
                </a:solidFill>
                <a:latin typeface="Apple SD Gothic Neo"/>
              </a:rPr>
              <a:t>Full URLs are in docs/assumption_learning_kit.md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