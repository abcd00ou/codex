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0.051</c:v>
                </c:pt>
                <c:pt idx="1">
                  <c:v>0.101</c:v>
                </c:pt>
                <c:pt idx="2">
                  <c:v>0.161</c:v>
                </c:pt>
                <c:pt idx="3">
                  <c:v>0.23</c:v>
                </c:pt>
                <c:pt idx="4">
                  <c:v>0.308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0.098</c:v>
                </c:pt>
                <c:pt idx="1">
                  <c:v>0.201</c:v>
                </c:pt>
                <c:pt idx="2">
                  <c:v>0.328</c:v>
                </c:pt>
                <c:pt idx="3">
                  <c:v>0.481</c:v>
                </c:pt>
                <c:pt idx="4">
                  <c:v>0.658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0.148</c:v>
                </c:pt>
                <c:pt idx="1">
                  <c:v>0.316</c:v>
                </c:pt>
                <c:pt idx="2">
                  <c:v>0.535</c:v>
                </c:pt>
                <c:pt idx="3">
                  <c:v>0.81</c:v>
                </c:pt>
                <c:pt idx="4">
                  <c:v>1.145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0.1445198616576</c:v>
                </c:pt>
                <c:pt idx="1">
                  <c:v>0.1362573879264</c:v>
                </c:pt>
                <c:pt idx="2">
                  <c:v>0.121637595024</c:v>
                </c:pt>
                <c:pt idx="3">
                  <c:v>0.0920171650176</c:v>
                </c:pt>
                <c:pt idx="4">
                  <c:v>0.051255410688</c:v>
                </c:pt>
                <c:pt idx="5">
                  <c:v>0.0467623253952</c:v>
                </c:pt>
                <c:pt idx="6">
                  <c:v>0.039857379696</c:v>
                </c:pt>
                <c:pt idx="7">
                  <c:v>0.0230393503872</c:v>
                </c:pt>
                <c:pt idx="8">
                  <c:v>0.0030995703648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2030 GW split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Inference GW</c:v>
                </c:pt>
                <c:pt idx="1">
                  <c:v>Training GW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23.021</c:v>
                </c:pt>
                <c:pt idx="1">
                  <c:v>7.3</c:v>
                </c:pt>
              </c:numCache>
            </c:numRef>
          </c:val>
        </c:ser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MEMORY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2030 LLM Token Capacity</a:t>
            </a:r>
            <a:br/>
            <a: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816352"/>
            <a:ext cx="69494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50" b="0">
                <a:solidFill>
                  <a:srgbClr val="3A4252"/>
                </a:solidFill>
              </a:defRPr>
            </a:pPr>
            <a:r>
              <a:t>A model-owner view of power, accelerator capacity, inference mix, and memory revenue 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152144"/>
            <a:ext cx="36576" cy="30175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26464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0.66Q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02536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5786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620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23.0GW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381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model-owner AI IT load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Samsung-style executive version | no brand assets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980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Executive answer: token capacity is determined by active power, inference mix, and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model separates power availability from the operating variables that actually turn power into commercial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expands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Base case reaches 0.66Q generated output tokens/day by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concentrates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The largest 2030 contributors are OpenAI, Google, Microsoft.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Memory motion broadens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Inference growth creates HBM allocation pressure plus DDR5, SSD, and CXL attach opportunities.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09160"/>
            <a:ext cx="105156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Why this matters: account planning should not start from data-center announcements alone. It should start from the model owner that controls traffic, model routing, SLO targets, and commercial token generation.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Use inference conversion speed as the leading indicator for account prioritization.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2026-2030 token capacity grows rapidly even in the Base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Bull, Base, and Bear cases vary deployment, inference allocation, and the explicit commercial workload fit applied to a public TPS/MW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866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83080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747E8E"/>
                </a:solidFill>
              </a:defRPr>
            </a:pPr>
            <a:r>
              <a:t>How to read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176272"/>
            <a:ext cx="3154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slope is driven by active power and inference share moving upward together.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gap between cases is driven by operational power deployment and inference allocation only.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Base line is not a demand forecast; it is a capacity envelope under the stated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4919472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28A0"/>
                </a:solidFill>
              </a:defRPr>
            </a:pPr>
            <a:r>
              <a:t>Base 2026-2030 growth: 6.7x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commercial question is not whether capacity grows, but which accounts absorb it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Memory account priority should be organized around model owners, not only cloud hosts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Hosting capacity and model-owner token attribution are separated so Copilot, ChatGPT, Gemini, Llama, Grok, Claude, Qwen, and DeepSeek are not mixed incorrectly.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7393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Largest modeled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05740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OpenAI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63347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2030 generated output token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30358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Total active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3192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42.1GW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8953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2030, modeled company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434840"/>
            <a:ext cx="29718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19" b="0">
                <a:solidFill>
                  <a:srgbClr val="3A4252"/>
                </a:solidFill>
              </a:defRPr>
            </a:pPr>
            <a:r>
              <a:t>Implication: each top account needs a different proof package because model architecture, accelerator mix, memory stack, and procurement control points differ by owner.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Build the top-account brief by model owner, then map HBM, DDR5, SSD, and CXL attach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formula is a power funnel multiplied by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This slide is the control logic: every forecast movement must trace back to one of these conversion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GW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capacity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energized and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PUE and workload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training/inference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Output</a:t>
            </a:r>
            <a:br/>
            <a:r>
              <a:t>token/day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670048"/>
            <a:ext cx="141732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selected tokens/MW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37844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Contracted power is an upper bound; token capacity begins only after power is energized and assigned to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Inference share is a capacity allocation variable; output TPS/MW is weighted by H200/B200/GB200/purpose-built mix and workload fit.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This structure prevents double-counting power announcements as immediate token capacity.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inference mix shift changes both token capacity and memory product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A higher inference share increases sustained serving load and pushes the memory hierarchy beyond HBM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55648"/>
          <a:ext cx="3749039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230368" y="17556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0391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56% to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61518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weighted share, 2026 to 2030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3017520"/>
            <a:ext cx="5760720" cy="694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Interpretation: this is a scenario assumption, not a disclosed company-level fact. The model uses it to show how serving-dominated AI fleets would translate into token capacity and memory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760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Decode and prefill raise KV-cache and HBM bandwidth pressure.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RAG and agentic workloads increase SSD, QLC, and memory-expansion relevance.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growth is a full memory-hierarchy opportunity, not only a GPU or HBM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headline metric is generated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Keeping token definitions separate is essential because benchmark throughput, billing tokens, training tokens, and user-visible output are different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7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749039"/>
                <a:gridCol w="2697480"/>
                <a:gridCol w="260604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Model usage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Benchmark mapping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Generated output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Tokens actually returned to users, APIs, or product surfaces. This is the headline capacity metric in the model.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`inference_tokens_per_day` and `output_tok_s_mw` sanity layer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Map to output throughput and joules per output token first.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Processed inference tokens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plus output tokens handled by the serving system. This can be much larger than output tokens for RAG and agentic workloads.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`tok_s_mw`, input throughput, output throughput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for load-shape and benchmark diagnostics, not as the headline.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/ prefill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Prompt, retrieved context, tool transcript, and history read before generation begins.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ISL, `input_tok_s_gpu`, `input_tok_s_mw`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to explain memory pressure, TTFT, and utilization effects.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Training tokens processed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Corpus tokens used in pretraining or post-training. These are not added to commercial inference output tokens.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`training_tokens_processed_per_day` sanity checks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Separate training metric; InferenceX is an inference-serving benchmark.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forecast does not add input tokens, billable tokens, and training tokens into one headline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InferenceX, MLPerf, and serving-stack docs calibrate the efficiency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benchmark layer narrows the plausible range for tokens/MW, joules/token, latency conditions, workload shape, and accelerator replacement.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Performance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76,406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 x GPU x precision x ISL/OSL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Metric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338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GPU, framework, and profile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Accuracy evals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0966C"/>
                </a:solidFill>
              </a:defRPr>
            </a:pPr>
            <a:r>
              <a:t>1,613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quality trade-off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10287000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How it is used: InferenceX does not replace the company capacity model. It calibrates the efficiency layer after capacity has already been attributed to a model owner and assigned to inference serving.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149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output throughput and joules/output token for the headline output-token sanity check.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total token throughput, input length, output length, TTFT, and TPOT to explain production haircut and utilization.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benchmark layer makes the tokens/MW assumption operational rather than purely theoretical.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Translate token growth into product-level revenue 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output of the model should be account action: which customer, which product, what urgency, what proof, and what commercial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303520"/>
                <a:gridCol w="379476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Revenue motion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Trigger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HBM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Allocation, qualification, and HBM4 roadmap lock-in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Frontier model ramps and accelerator supply tension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DDR5 / MRDIMM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CPU-side inference attach and memory-density refresh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Inference server refresh and higher host memory requirements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Enterprise SSD / QLC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RAG, checkpointing, vector DB, and storage TCO proof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Retrieval-heavy and agentic AI workloads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CXL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Memory expansion and utilization recovery narrative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Capacity-bound inference and larger context workloads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Start with the top 10 model-owner accounts and attach a product-fit, proof-pack, and pricing/mix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Run the model as a weekly operating system, not a one-time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same assumptions should update market intelligence, account briefs, and sales enablement in the same weekly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801368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00784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Source refresh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700784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IR, filings, model cards, technical reports, InferenceX, MLPerf, and serving-stack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9072" y="2459736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59152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Model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59152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active GW, inference share, accelerator mix, tokens/MW,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3118103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017520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Account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17520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customer pain, product fit, urgency, value message, proof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675888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9072" y="3776472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675888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Sales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675888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pipeline impact, objections, pricing/mix discussion, win/loss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34256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4434840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334256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Assumption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34256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unit checks, scenario changes, next-week open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Workbook: core formula, public benchmark inputs, scenario inputs, calculations, outputs, checks, source registry, provenance trace, and an aggressive upside view.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Presentation for the executive story, workbook for the math, Markdown/agents for continuous assumption learning.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