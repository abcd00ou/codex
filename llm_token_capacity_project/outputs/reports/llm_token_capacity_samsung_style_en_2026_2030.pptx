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Bear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0.105</c:v>
                </c:pt>
                <c:pt idx="1">
                  <c:v>0.213</c:v>
                </c:pt>
                <c:pt idx="2">
                  <c:v>0.341</c:v>
                </c:pt>
                <c:pt idx="3">
                  <c:v>0.488</c:v>
                </c:pt>
                <c:pt idx="4">
                  <c:v>0.653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0.195</c:v>
                </c:pt>
                <c:pt idx="1">
                  <c:v>0.403</c:v>
                </c:pt>
                <c:pt idx="2">
                  <c:v>0.659</c:v>
                </c:pt>
                <c:pt idx="3">
                  <c:v>0.963</c:v>
                </c:pt>
                <c:pt idx="4">
                  <c:v>1.315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Bull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0.286</c:v>
                </c:pt>
                <c:pt idx="1">
                  <c:v>0.615</c:v>
                </c:pt>
                <c:pt idx="2">
                  <c:v>1.038</c:v>
                </c:pt>
                <c:pt idx="3">
                  <c:v>1.566</c:v>
                </c:pt>
                <c:pt idx="4">
                  <c:v>2.203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 output tokens/day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Microsoft</c:v>
                </c:pt>
                <c:pt idx="1">
                  <c:v>Meta</c:v>
                </c:pt>
                <c:pt idx="2">
                  <c:v>Tencent</c:v>
                </c:pt>
                <c:pt idx="3">
                  <c:v>xAI</c:v>
                </c:pt>
                <c:pt idx="4">
                  <c:v>Alibaba</c:v>
                </c:pt>
                <c:pt idx="5">
                  <c:v>OpenAI</c:v>
                </c:pt>
                <c:pt idx="6">
                  <c:v>Google</c:v>
                </c:pt>
                <c:pt idx="7">
                  <c:v>Anthropic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0.4831356176064</c:v>
                </c:pt>
                <c:pt idx="1">
                  <c:v>0.237028502016</c:v>
                </c:pt>
                <c:pt idx="2">
                  <c:v>0.2305701679392</c:v>
                </c:pt>
                <c:pt idx="3">
                  <c:v>0.1638686135808</c:v>
                </c:pt>
                <c:pt idx="4">
                  <c:v>0.086238041472</c:v>
                </c:pt>
                <c:pt idx="5">
                  <c:v>0.0517341382272</c:v>
                </c:pt>
                <c:pt idx="6">
                  <c:v>0.0342435993984</c:v>
                </c:pt>
                <c:pt idx="7">
                  <c:v>0.0190656662976</c:v>
                </c:pt>
                <c:pt idx="8">
                  <c:v>0.0088044739776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2030 GW split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Inference GW</c:v>
                </c:pt>
                <c:pt idx="1">
                  <c:v>Training GW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23.021</c:v>
                </c:pt>
                <c:pt idx="1">
                  <c:v>7.3</c:v>
                </c:pt>
              </c:numCache>
            </c:numRef>
          </c:val>
        </c:ser>
      </c:pieChart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3931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00" b="1">
                <a:solidFill>
                  <a:srgbClr val="1428A0"/>
                </a:solidFill>
              </a:defRPr>
            </a:pPr>
            <a:r>
              <a:t>MEMORY MARKETING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78992"/>
            <a:ext cx="7498079" cy="15727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3500" b="1">
                <a:solidFill>
                  <a:srgbClr val="141820"/>
                </a:solidFill>
              </a:defRPr>
            </a:pPr>
            <a:r>
              <a:t>2030 LLM Token Capacity</a:t>
            </a:r>
            <a:br/>
            <a:r>
              <a:t>Simulation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2816352"/>
            <a:ext cx="6949440" cy="530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50" b="0">
                <a:solidFill>
                  <a:srgbClr val="3A4252"/>
                </a:solidFill>
              </a:defRPr>
            </a:pPr>
            <a:r>
              <a:t>A model-owner view of power, accelerator capacity, inference mix, and memory revenue motions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8092440" y="1152144"/>
            <a:ext cx="36576" cy="3017520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66760" y="1143000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Base 2030 capacity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1426464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1.31Q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60" y="2002536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generated output tokens/day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2578608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Inference 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2862072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23.0GW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3438144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model-owner AI IT load basis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980176"/>
            <a:ext cx="52120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00" b="0">
                <a:solidFill>
                  <a:srgbClr val="747E8E"/>
                </a:solidFill>
              </a:defRPr>
            </a:pPr>
            <a:r>
              <a:t>Samsung-style executive version | no brand assets used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0" y="5980176"/>
            <a:ext cx="17830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00" b="0">
                <a:solidFill>
                  <a:srgbClr val="747E8E"/>
                </a:solidFill>
              </a:defRPr>
            </a:pPr>
            <a:r>
              <a:t>2026-07-23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Executive answer: token capacity is determined by active power, inference mix, and serving efficiency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The model separates power availability from the operating variables that actually turn power into commercial output tokens.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157984"/>
            <a:ext cx="2971800" cy="2743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414016"/>
            <a:ext cx="30175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Capacity expands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907792"/>
            <a:ext cx="3063240" cy="1234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Base case reaches 1.31Q generated output tokens/day by 2030.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312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53128" y="2157984"/>
            <a:ext cx="2971800" cy="27432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3128" y="2414016"/>
            <a:ext cx="30175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Capacity concentrates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3128" y="2907792"/>
            <a:ext cx="3063240" cy="1234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The largest 2030 contributors are Microsoft, Meta, Tencent.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56448" y="2157984"/>
            <a:ext cx="2971800" cy="27432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56448" y="2414016"/>
            <a:ext cx="30175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Memory motion broadens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6448" y="2907792"/>
            <a:ext cx="3063240" cy="1234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Inference growth creates HBM allocation pressure plus DDR5, SSD, and CXL attach opportunities.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709160"/>
            <a:ext cx="10515600" cy="4754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50" b="0">
                <a:solidFill>
                  <a:srgbClr val="3A4252"/>
                </a:solidFill>
              </a:defRPr>
            </a:pPr>
            <a:r>
              <a:t>Why this matters: account planning should not start from data-center announcements alone. It should start from the model owner that controls traffic, model routing, SLO targets, and commercial token generation.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Use inference conversion speed as the leading indicator for account prioritization.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2026-2030 token capacity grows rapidly even in the Base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Bull, Base, and Bear cases vary deployment, inference allocation, and the explicit commercial workload fit applied to a public TPS/MW reference.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49808" y="1755648"/>
          <a:ext cx="7086600" cy="3611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302752" y="1783080"/>
            <a:ext cx="2971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747E8E"/>
                </a:solidFill>
              </a:defRPr>
            </a:pPr>
            <a:r>
              <a:t>How to read the chart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02752" y="2176272"/>
            <a:ext cx="3154680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700"/>
              </a:spcAft>
              <a:defRPr sz="1080">
                <a:solidFill>
                  <a:srgbClr val="3A4252"/>
                </a:solidFill>
              </a:defRPr>
            </a:pPr>
            <a:r>
              <a:t>The slope is driven by active power and inference share moving upward together.</a:t>
            </a:r>
          </a:p>
          <a:p>
            <a:pPr>
              <a:spcAft>
                <a:spcPts val="700"/>
              </a:spcAft>
              <a:defRPr sz="1080">
                <a:solidFill>
                  <a:srgbClr val="3A4252"/>
                </a:solidFill>
              </a:defRPr>
            </a:pPr>
            <a:r>
              <a:t>The gap between cases is driven by operational power deployment and inference allocation only.</a:t>
            </a:r>
          </a:p>
          <a:p>
            <a:pPr>
              <a:spcAft>
                <a:spcPts val="700"/>
              </a:spcAft>
              <a:defRPr sz="1080">
                <a:solidFill>
                  <a:srgbClr val="3A4252"/>
                </a:solidFill>
              </a:defRPr>
            </a:pPr>
            <a:r>
              <a:t>The Base line is not a demand forecast; it is a capacity envelope under the stated assumptions.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02752" y="4919472"/>
            <a:ext cx="29260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28A0"/>
                </a:solidFill>
              </a:defRPr>
            </a:pPr>
            <a:r>
              <a:t>Base 2026-2030 growth: 6.8x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commercial question is not whether capacity grows, but which accounts absorb it first.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Memory account priority should be organized around model owners, not only cloud hosts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Hosting capacity and model-owner token attribution are separated so Copilot, ChatGPT, Gemini, Llama, Grok, Claude, Qwen, and DeepSeek are not mixed incorrectly.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49808" y="1755648"/>
          <a:ext cx="704088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302752" y="1773936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Largest modeled account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02752" y="2057400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Microsoft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02752" y="2633472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2030 generated output token capacity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02752" y="3035808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Total active power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02752" y="3319272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42.1GW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02752" y="3895344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Base 2030, modeled company 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2752" y="4434840"/>
            <a:ext cx="297180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19" b="0">
                <a:solidFill>
                  <a:srgbClr val="3A4252"/>
                </a:solidFill>
              </a:defRPr>
            </a:pPr>
            <a:r>
              <a:t>Implication: each top account needs a different proof package because model architecture, accelerator mix, memory stack, and procurement control points differ by owner.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Build the top-account brief by model owner, then map HBM, DDR5, SSD, and CXL attach points.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The formula is a power funnel multiplied by serving efficiency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This slide is the control logic: every forecast movement must trace back to one of these conversion steps.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Contracted</a:t>
            </a:r>
            <a:br/>
            <a:r>
              <a:t>GW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670048"/>
            <a:ext cx="141732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capacity ceiling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22576" y="2212848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0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Active</a:t>
            </a:r>
            <a:br/>
            <a:r>
              <a:t>GW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71800" y="2670048"/>
            <a:ext cx="141732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71800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energized and deployed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4568" y="2212848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0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3792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AI IT</a:t>
            </a:r>
            <a:br/>
            <a:r>
              <a:t>load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93792" y="2670048"/>
            <a:ext cx="141732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93792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PUE and workload share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2212848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0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15784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Inference</a:t>
            </a:r>
            <a:br/>
            <a:r>
              <a:t>GW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15784" y="2670048"/>
            <a:ext cx="141732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15784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training/inference split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2212848"/>
            <a:ext cx="32004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0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37776" y="1865376"/>
            <a:ext cx="1417320" cy="6583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700" b="1">
                <a:solidFill>
                  <a:srgbClr val="141820"/>
                </a:solidFill>
              </a:defRPr>
            </a:pPr>
            <a:r>
              <a:t>Output</a:t>
            </a:r>
            <a:br/>
            <a:r>
              <a:t>token/day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37776" y="2670048"/>
            <a:ext cx="1417320" cy="32004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37776" y="2907792"/>
            <a:ext cx="141732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10" b="0">
                <a:solidFill>
                  <a:srgbClr val="747E8E"/>
                </a:solidFill>
              </a:defRPr>
            </a:pPr>
            <a:r>
              <a:t>selected tokens/MW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913632"/>
            <a:ext cx="10378440" cy="3931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00" b="1">
                <a:solidFill>
                  <a:srgbClr val="1428A0"/>
                </a:solidFill>
              </a:defRPr>
            </a:pPr>
            <a:r>
              <a:t>output tokens/day = inference GW x 1,000 x fleet-weighted serving tokens/sec/MW x 86,400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" y="4617720"/>
            <a:ext cx="996696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040">
                <a:solidFill>
                  <a:srgbClr val="3A4252"/>
                </a:solidFill>
              </a:defRPr>
            </a:pPr>
            <a:r>
              <a:t>Contracted power is an upper bound; token capacity begins only after power is energized and assigned to AI IT load.</a:t>
            </a:r>
          </a:p>
          <a:p>
            <a:pPr>
              <a:spcAft>
                <a:spcPts val="400"/>
              </a:spcAft>
              <a:defRPr sz="1040">
                <a:solidFill>
                  <a:srgbClr val="3A4252"/>
                </a:solidFill>
              </a:defRPr>
            </a:pPr>
            <a:r>
              <a:t>Inference share is a capacity allocation variable; output TPS/MW is weighted by H200/B200/GB200/purpose-built mix and workload fit.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This structure prevents double-counting power announcements as immediate token capacity.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The inference mix shift changes both token capacity and memory product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A higher inference share increases sustained serving load and pushes the memory hierarchy beyond HBM alone.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755648"/>
          <a:ext cx="3749039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230368" y="1755648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Inference share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0368" y="2039112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56% to 76%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30368" y="2615184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Base weighted share, 2026 to 2030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30368" y="3017520"/>
            <a:ext cx="5760720" cy="6949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Interpretation: this is a scenario assumption, not a disclosed company-level fact. The model uses it to show how serving-dominated AI fleets would translate into token capacity and memory demand.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368" y="3959352"/>
            <a:ext cx="576072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3A4252"/>
                </a:solidFill>
              </a:defRPr>
            </a:pPr>
            <a:r>
              <a:t>Decode and prefill raise KV-cache and HBM bandwidth pressure.</a:t>
            </a:r>
          </a:p>
          <a:p>
            <a:pPr>
              <a:spcAft>
                <a:spcPts val="500"/>
              </a:spcAft>
              <a:defRPr sz="1050">
                <a:solidFill>
                  <a:srgbClr val="3A4252"/>
                </a:solidFill>
              </a:defRPr>
            </a:pPr>
            <a:r>
              <a:t>RAG and agentic workloads increase SSD, QLC, and memory-expansion relevance.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Inference growth is a full memory-hierarchy opportunity, not only a GPU or HBM story.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The headline metric is generated output tokens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Keeping token definitions separate is essential because benchmark throughput, billing tokens, training tokens, and user-visible output are different units.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719072"/>
          <a:ext cx="10927078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3749039"/>
                <a:gridCol w="2697480"/>
                <a:gridCol w="2606040"/>
              </a:tblGrid>
              <a:tr h="740664"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Definition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Model usage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Benchmark mapping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Generated output tokens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Tokens actually returned to users, APIs, or product surfaces. This is the headline capacity metric in the model.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`inference_tokens_per_day` and `output_tok_s_mw` sanity layer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Map to output throughput and joules per output token first.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Processed inference tokens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Input plus output tokens handled by the serving system. This can be much larger than output tokens for RAG and agentic workloads.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`tok_s_mw`, input throughput, output throughput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Use for load-shape and benchmark diagnostics, not as the headline.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Input / prefill tokens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Prompt, retrieved context, tool transcript, and history read before generation begins.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ISL, `input_tok_s_gpu`, `input_tok_s_mw`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Use to explain memory pressure, TTFT, and utilization effects.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Training tokens processed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Corpus tokens used in pretraining or post-training. These are not added to commercial inference output tokens.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`training_tokens_processed_per_day` sanity checks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Separate training metric; InferenceX is an inference-serving benchmark.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forecast does not add input tokens, billable tokens, and training tokens into one headline number.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InferenceX, MLPerf, and serving-stack docs calibrate the efficiency assumptions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The benchmark layer narrows the plausible range for tokens/MW, joules/token, latency conditions, workload shape, and accelerator replacement.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792224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Performance rows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075688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651760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model x GPU x precision x ISL/OSL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792224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Metric profiles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075688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2651760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GPU, framework, and profile groups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1792224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Accuracy evals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2075688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0966C"/>
                </a:solidFill>
              </a:defRPr>
            </a:pPr>
            <a: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2651760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quality trade-off layer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456432"/>
            <a:ext cx="10287000" cy="5120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50" b="0">
                <a:solidFill>
                  <a:srgbClr val="3A4252"/>
                </a:solidFill>
              </a:defRPr>
            </a:pPr>
            <a:r>
              <a:t>How it is used: InferenceX does not replace the company capacity model. It calibrates the efficiency layer after capacity has already been attributed to a model owner and assigned to inference serving.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251960"/>
            <a:ext cx="101498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3A4252"/>
                </a:solidFill>
              </a:defRPr>
            </a:pPr>
            <a:r>
              <a:t>Use output throughput and joules/output token for the headline output-token sanity check.</a:t>
            </a:r>
          </a:p>
          <a:p>
            <a:pPr>
              <a:spcAft>
                <a:spcPts val="500"/>
              </a:spcAft>
              <a:defRPr sz="1050">
                <a:solidFill>
                  <a:srgbClr val="3A4252"/>
                </a:solidFill>
              </a:defRPr>
            </a:pPr>
            <a:r>
              <a:t>Use total token throughput, input length, output length, TTFT, and TPOT to explain production haircut and utilization.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benchmark layer makes the tokens/MW assumption operational rather than purely theoretical.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Translate token growth into product-level revenue motions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The output of the model should be account action: which customer, which product, what urgency, what proof, and what commercial motion.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719072"/>
          <a:ext cx="1092708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5303520"/>
                <a:gridCol w="3794760"/>
              </a:tblGrid>
              <a:tr h="740664"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Product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Revenue motion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FFFFF"/>
                          </a:solidFill>
                        </a:defRPr>
                      </a:pPr>
                      <a:r>
                        <a:t>Trigger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HBM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Allocation, qualification, and HBM4 roadmap lock-in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Frontier model ramps and accelerator supply tension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DDR5 / MRDIMM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CPU-side inference attach and memory-density refresh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Inference server refresh and higher host memory requirements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Enterprise SSD / QLC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RAG, checkpointing, vector DB, and storage TCO proof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Retrieval-heavy and agentic AI workloads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CXL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Memory expansion and utilization recovery narrative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0" b="0">
                          <a:solidFill>
                            <a:srgbClr val="3A4252"/>
                          </a:solidFill>
                        </a:defRPr>
                      </a:pPr>
                      <a:r>
                        <a:t>Capacity-bound inference and larger context workloads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Start with the top 10 model-owner accounts and attach a product-fit, proof-pack, and pricing/mix recommendation.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11480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LLM TOKEN CAPACITY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200" b="1">
                <a:solidFill>
                  <a:srgbClr val="141820"/>
                </a:solidFill>
              </a:defRPr>
            </a:pPr>
            <a:r>
              <a:t>Run the model as a weekly operating system, not a one-time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70432"/>
            <a:ext cx="103327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747E8E"/>
                </a:solidFill>
              </a:defRPr>
            </a:pPr>
            <a:r>
              <a:t>The same assumptions should update market intelligence, account briefs, and sales enablement in the same weekly cycle.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0472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700784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Mon</a:t>
            </a:r>
          </a:p>
        </p:txBody>
      </p:sp>
      <p:sp>
        <p:nvSpPr>
          <p:cNvPr id="8" name="Rectangle 7"/>
          <p:cNvSpPr/>
          <p:nvPr/>
        </p:nvSpPr>
        <p:spPr>
          <a:xfrm>
            <a:off x="1719072" y="1801368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1700784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Source refresh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700784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IR, filings, model cards, technical reports, InferenceX, MLPerf, and serving-stack updates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359152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Tue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19072" y="2459736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34640" y="2359152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Model update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2359152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active GW, inference share, accelerator mix, tokens/MW, utilization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3017520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Wed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19072" y="3118103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34640" y="3017520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Account translation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3017520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customer pain, product fit, urgency, value message, proof package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3675888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Thu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19072" y="3776472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34640" y="3675888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Sales review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49240" y="3675888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pipeline impact, objections, pricing/mix discussion, win/loss signal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4334256"/>
            <a:ext cx="713232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Fri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19072" y="4434840"/>
            <a:ext cx="91440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34640" y="4334256"/>
            <a:ext cx="23317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00" b="1">
                <a:solidFill>
                  <a:srgbClr val="141820"/>
                </a:solidFill>
              </a:defRPr>
            </a:pPr>
            <a:r>
              <a:t>Assumption review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4334256"/>
            <a:ext cx="5715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0">
                <a:solidFill>
                  <a:srgbClr val="3A4252"/>
                </a:solidFill>
              </a:defRPr>
            </a:pPr>
            <a:r>
              <a:t>unit checks, scenario changes, next-week open questions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5285232"/>
            <a:ext cx="1014984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50" b="0">
                <a:solidFill>
                  <a:srgbClr val="747E8E"/>
                </a:solidFill>
              </a:defRPr>
            </a:pPr>
            <a:r>
              <a:t>Workbook: core formula, public benchmark inputs, scenario inputs, calculations, outputs, checks, source registry, provenance trace, and an aggressive upside view.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Presentation for the executive story, workbook for the math, Markdown/agents for continuous assumption learning.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73952"/>
            <a:ext cx="950976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Headline metric: generated output tokens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