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Bear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0.117</c:v>
                </c:pt>
                <c:pt idx="1">
                  <c:v>0.286</c:v>
                </c:pt>
                <c:pt idx="2">
                  <c:v>0.546</c:v>
                </c:pt>
                <c:pt idx="3">
                  <c:v>0.934</c:v>
                </c:pt>
                <c:pt idx="4">
                  <c:v>1.494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0.208</c:v>
                </c:pt>
                <c:pt idx="1">
                  <c:v>0.516</c:v>
                </c:pt>
                <c:pt idx="2">
                  <c:v>1.006</c:v>
                </c:pt>
                <c:pt idx="3">
                  <c:v>1.757</c:v>
                </c:pt>
                <c:pt idx="4">
                  <c:v>2.872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Bull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0.302</c:v>
                </c:pt>
                <c:pt idx="1">
                  <c:v>0.779</c:v>
                </c:pt>
                <c:pt idx="2">
                  <c:v>1.575</c:v>
                </c:pt>
                <c:pt idx="3">
                  <c:v>2.84</c:v>
                </c:pt>
                <c:pt idx="4">
                  <c:v>4.79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 output tokens/day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Meta</c:v>
                </c:pt>
                <c:pt idx="3">
                  <c:v>Microsoft</c:v>
                </c:pt>
                <c:pt idx="4">
                  <c:v>Anthropic</c:v>
                </c:pt>
                <c:pt idx="5">
                  <c:v>Alibaba</c:v>
                </c:pt>
                <c:pt idx="6">
                  <c:v>Tencent</c:v>
                </c:pt>
                <c:pt idx="7">
                  <c:v>xAI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0.586840240711296</c:v>
                </c:pt>
                <c:pt idx="1">
                  <c:v>0.53513286253056</c:v>
                </c:pt>
                <c:pt idx="2">
                  <c:v>0.4022866197504</c:v>
                </c:pt>
                <c:pt idx="3">
                  <c:v>0.372288096107136</c:v>
                </c:pt>
                <c:pt idx="4">
                  <c:v>0.31830324515136</c:v>
                </c:pt>
                <c:pt idx="5">
                  <c:v>0.259801314859008</c:v>
                </c:pt>
                <c:pt idx="6">
                  <c:v>0.167354927293824</c:v>
                </c:pt>
                <c:pt idx="7">
                  <c:v>0.125620159296096</c:v>
                </c:pt>
                <c:pt idx="8">
                  <c:v>0.104360160022272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2030 GW split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Inference GW</c:v>
                </c:pt>
                <c:pt idx="1">
                  <c:v>Training GW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23.021</c:v>
                </c:pt>
                <c:pt idx="1">
                  <c:v>7.3</c:v>
                </c:pt>
              </c:numCache>
            </c:numRef>
          </c:val>
        </c:ser>
      </c:pieChart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3931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1">
                <a:solidFill>
                  <a:srgbClr val="1428A0"/>
                </a:solidFill>
              </a:defRPr>
            </a:pPr>
            <a:r>
              <a:t>MEMORY MARKETING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78992"/>
            <a:ext cx="7498079" cy="157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3500" b="1">
                <a:solidFill>
                  <a:srgbClr val="141820"/>
                </a:solidFill>
              </a:defRPr>
            </a:pPr>
            <a:r>
              <a:t>2030 LLM Token Capacity</a:t>
            </a:r>
            <a:br/>
            <a:r>
              <a:t>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816352"/>
            <a:ext cx="6949440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50" b="0">
                <a:solidFill>
                  <a:srgbClr val="3A4252"/>
                </a:solidFill>
              </a:defRPr>
            </a:pPr>
            <a:r>
              <a:t>A model-owner view of power, accelerator capacity, inference mix, and memory revenue motions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1152144"/>
            <a:ext cx="36576" cy="3017520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66760" y="1143000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Base 2030 capacity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426464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2.87Q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2002536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generated output tokens/day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57860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Inference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286207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23.0GW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343814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model-owner AI IT load basis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980176"/>
            <a:ext cx="52120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0">
                <a:solidFill>
                  <a:srgbClr val="747E8E"/>
                </a:solidFill>
              </a:defRPr>
            </a:pPr>
            <a:r>
              <a:t>Samsung-style executive version | no brand assets used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5980176"/>
            <a:ext cx="17830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00" b="0">
                <a:solidFill>
                  <a:srgbClr val="747E8E"/>
                </a:solidFill>
              </a:defRPr>
            </a:pPr>
            <a:r>
              <a:t>2026-05-18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Executive answer: token capacity is determined by active power, inference mix, and serving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model separates power availability from the operating variables that actually turn power into commercial output tokens.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57984"/>
            <a:ext cx="2971800" cy="2743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Capacity expands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Base case reaches 2.87Q generated output tokens/day by 2030.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312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Capacity concentrates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The largest 2030 contributors are OpenAI, Google, Meta.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644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Memory motion broadens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Inference growth creates HBM allocation pressure plus DDR5, SSD, and CXL attach opportunities.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709160"/>
            <a:ext cx="10515600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50" b="0">
                <a:solidFill>
                  <a:srgbClr val="3A4252"/>
                </a:solidFill>
              </a:defRPr>
            </a:pPr>
            <a:r>
              <a:t>Why this matters: account planning should not start from data-center announcements alone. It should start from the model owner that controls traffic, model routing, SLO targets, and commercial token generation.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Use inference conversion speed as the leading indicator for account prioritization.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2026-2030 token capacity grows rapidly even in the Base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Bull, Base, and Bear cases are built from deployment speed, MoE optimization, inference power share, and utilization assumptions.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55648"/>
          <a:ext cx="708660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02752" y="1783080"/>
            <a:ext cx="2971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747E8E"/>
                </a:solidFill>
              </a:defRPr>
            </a:pPr>
            <a:r>
              <a:t>How to read the chart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2752" y="2176272"/>
            <a:ext cx="315468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slope is driven by active power and inference share moving upward together.</a:t>
            </a:r>
          </a:p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gap between cases is driven by serving-stack efficiency, MoE routing, and real utilization.</a:t>
            </a:r>
          </a:p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Base line is not a demand forecast; it is a capacity envelope under the stated assumptions.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4919472"/>
            <a:ext cx="29260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28A0"/>
                </a:solidFill>
              </a:defRPr>
            </a:pPr>
            <a:r>
              <a:t>Base 2026-2030 growth: 13.8x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commercial question is not whether capacity grows, but which accounts absorb it first.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Memory account priority should be organized around model owners, not only cloud hosts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Hosting capacity and model-owner token attribution are separated so Copilot, ChatGPT, Gemini, Llama, Grok, Claude, Qwen, and DeepSeek are not mixed incorrectly.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55648"/>
          <a:ext cx="704088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02752" y="177393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Largest modeled account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2752" y="205740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OpenAI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2633472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2030 generated output token capacity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02752" y="303580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Total active power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331927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42.1GW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2752" y="389534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Base 2030, modeled company 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4434840"/>
            <a:ext cx="297180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19" b="0">
                <a:solidFill>
                  <a:srgbClr val="3A4252"/>
                </a:solidFill>
              </a:defRPr>
            </a:pPr>
            <a:r>
              <a:t>Implication: each top account needs a different proof package because model architecture, accelerator mix, memory stack, and procurement control points differ by owner.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Build the top-account brief by model owner, then map HBM, DDR5, SSD, and CXL attach points.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formula is a power funnel multiplied by serving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This slide is the control logic: every forecast movement must trace back to one of these conversion steps.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Contracted</a:t>
            </a:r>
            <a:br/>
            <a:r>
              <a:t>GW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capacity ceiling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Active</a:t>
            </a:r>
            <a:br/>
            <a:r>
              <a:t>GW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71800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1800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energized and deployed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AI IT</a:t>
            </a:r>
            <a:br/>
            <a:r>
              <a:t>load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93792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3792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PUE and workload share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15784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Inference</a:t>
            </a:r>
            <a:br/>
            <a:r>
              <a:t>GW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15784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15784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training/inference split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37776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Output</a:t>
            </a:r>
            <a:br/>
            <a:r>
              <a:t>token/day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37776" y="2670048"/>
            <a:ext cx="1417320" cy="32004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37776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tokens/MW and utilization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913632"/>
            <a:ext cx="10378440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00" b="1">
                <a:solidFill>
                  <a:srgbClr val="1428A0"/>
                </a:solidFill>
              </a:defRPr>
            </a:pPr>
            <a:r>
              <a:t>output tokens/day = inference GW x 1,000 x output tokens/sec/MW x utilization x 86,400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617720"/>
            <a:ext cx="99669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Contracted power is an upper bound; token capacity begins only after power is energized and assigned to AI IT load.</a:t>
            </a:r>
          </a:p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Inference share is a capacity allocation variable; utilization is the operating conversion from installed serving capacity to traffic.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This structure prevents double-counting power announcements as immediate token capacity.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inference mix shift changes both token capacity and memory product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A higher inference share increases sustained serving load and pushes the memory hierarchy beyond HBM alone.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55648"/>
          <a:ext cx="3749039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230368" y="175564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Inference share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203911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56% to 76%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261518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Base weighted share, 2026 to 2030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0368" y="3017520"/>
            <a:ext cx="5760720" cy="6949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Interpretation: this is a scenario assumption, not a disclosed company-level fact. The model uses it to show how serving-dominated AI fleets would translate into token capacity and memory demand.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3959352"/>
            <a:ext cx="57607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Decode and prefill raise KV-cache and HBM bandwidth pressure.</a:t>
            </a:r>
          </a:p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RAG and agentic workloads increase SSD, QLC, and memory-expansion relevance.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Inference growth is a full memory-hierarchy opportunity, not only a GPU or HBM story.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headline metric is generated output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Keeping token definitions separate is essential because benchmark throughput, billing tokens, training tokens, and user-visible output are different units.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719072"/>
          <a:ext cx="10927078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3749039"/>
                <a:gridCol w="2697480"/>
                <a:gridCol w="2606040"/>
              </a:tblGrid>
              <a:tr h="740664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Definition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Model usage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Benchmark mapping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Generated output tokens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Tokens actually returned to users, APIs, or product surfaces. This is the headline capacity metric in the model.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`inference_tokens_per_day` and `output_tok_s_mw` sanity layer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Map to output throughput and joules per output token first.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Processed inference tokens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Input plus output tokens handled by the serving system. This can be much larger than output tokens for RAG and agentic workloads.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`tok_s_mw`, input throughput, output throughput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Use for load-shape and benchmark diagnostics, not as the headline.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Input / prefill tokens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Prompt, retrieved context, tool transcript, and history read before generation begins.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ISL, `input_tok_s_gpu`, `input_tok_s_mw`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Use to explain memory pressure, TTFT, and utilization effects.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Training tokens processed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Corpus tokens used in pretraining or post-training. These are not added to commercial inference output tokens.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`training_tokens_processed_per_day` sanity checks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Separate training metric; InferenceX is an inference-serving benchmark.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forecast does not add input tokens, billable tokens, and training tokens into one headline number.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InferenceX calibrates the serving-efficiency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benchmark layer narrows the plausible range for tokens/MW, joules/token, latency conditions, and workload shape.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Performance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72,091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model x GPU x precision x ISL/OSL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Metric profiles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298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GPU, framework, and profile groups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Accuracy evals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0966C"/>
                </a:solidFill>
              </a:defRPr>
            </a:pPr>
            <a:r>
              <a:t>1,048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quality trade-off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456432"/>
            <a:ext cx="10287000" cy="5120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50" b="0">
                <a:solidFill>
                  <a:srgbClr val="3A4252"/>
                </a:solidFill>
              </a:defRPr>
            </a:pPr>
            <a:r>
              <a:t>How it is used: InferenceX does not replace the company capacity model. It calibrates the efficiency layer after capacity has already been attributed to a model owner and assigned to inference serving.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251960"/>
            <a:ext cx="101498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Use output throughput and joules/output token for the headline output-token sanity check.</a:t>
            </a:r>
          </a:p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Use total token throughput, input length, output length, TTFT, and TPOT to explain production haircut and utilization.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benchmark layer makes the tokens/MW assumption operational rather than purely theoretical.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Translate token growth into product-level revenue motions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output of the model should be account action: which customer, which product, what urgency, what proof, and what commercial motion.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719072"/>
          <a:ext cx="1092708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303520"/>
                <a:gridCol w="3794760"/>
              </a:tblGrid>
              <a:tr h="740664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Product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Revenue motion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Trigger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HBM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Allocation, qualification, and HBM4 roadmap lock-in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Frontier model ramps and accelerator supply tension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DDR5 / MRDIMM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CPU-side inference attach and memory-density refresh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Inference server refresh and higher host memory requirements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Enterprise SSD / QLC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RAG, checkpointing, vector DB, and storage TCO proof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Retrieval-heavy and agentic AI workloads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CXL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Memory expansion and utilization recovery narrative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Capacity-bound inference and larger context workloads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Start with the top 10 model-owner accounts and attach a product-fit, proof-pack, and pricing/mix recommendation.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Run the model as a weekly operating system, not a one-time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same assumptions should update market intelligence, account briefs, and sales enablement in the same weekly cycle.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00784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Mon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9072" y="1801368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1700784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Source refresh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700784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IR, filings, model cards, technical reports, InferenceX benchmark updates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59152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Tue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19072" y="2459736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40" y="2359152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Model update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2359152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active GW, inference share, accelerator mix, tokens/MW, utilization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017520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Wed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19072" y="3118103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4640" y="3017520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Account translation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3017520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customer pain, product fit, urgency, value message, proof package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3675888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Thu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9072" y="3776472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34640" y="3675888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Sales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3675888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pipeline impact, objections, pricing/mix discussion, win/loss signal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4334256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Fri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19072" y="4434840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34640" y="4334256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Assumption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4334256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unit checks, scenario changes, next-week open questions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5285232"/>
            <a:ext cx="1014984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0">
                <a:solidFill>
                  <a:srgbClr val="747E8E"/>
                </a:solidFill>
              </a:defRPr>
            </a:pPr>
            <a:r>
              <a:t>Workbook appendix: formula assumptions, token definitions, scenario sensitivity, InferenceX raw benchmark tables, source registry, and company-year forecast rows.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Presentation for the executive story, workbook for the math, Markdown/agents for continuous assumption learning.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