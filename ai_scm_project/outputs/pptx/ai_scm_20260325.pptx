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72591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</a:rPr>
              <a:t>AI Supply Chain Intelligence Report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108960"/>
            <a:ext cx="1072591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00BCD4"/>
                </a:solidFill>
              </a:rPr>
              <a:t>Token Demand → Hardware Demand | Bottleneck Detection | Investment Signals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114800"/>
            <a:ext cx="107259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8FA3C0"/>
                </a:solidFill>
              </a:rPr>
              <a:t>Generated: 2026-03-25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029200"/>
            <a:ext cx="107259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8FA3C0"/>
                </a:solidFill>
              </a:rPr>
              <a:t>AI Supply Chain Intelligence System v1.0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403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AI Supply Chain Value Chain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822960"/>
            <a:ext cx="3749039" cy="566928"/>
          </a:xfrm>
          <a:prstGeom prst="rect">
            <a:avLst/>
          </a:prstGeom>
          <a:solidFill>
            <a:srgbClr val="0F1F3D"/>
          </a:solidFill>
          <a:ln>
            <a:solidFill>
              <a:srgbClr val="F443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84124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44336"/>
                </a:solidFill>
              </a:rPr>
              <a:t>End Customer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078992"/>
            <a:ext cx="35661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OpenAI, Anthropic, Meta AI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481328"/>
            <a:ext cx="3749039" cy="566928"/>
          </a:xfrm>
          <a:prstGeom prst="rect">
            <a:avLst/>
          </a:prstGeom>
          <a:solidFill>
            <a:srgbClr val="0F1F3D"/>
          </a:solidFill>
          <a:ln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499616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9800"/>
                </a:solidFill>
              </a:rPr>
              <a:t>AI Service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737360"/>
            <a:ext cx="35661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API platforms, inference services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139696"/>
            <a:ext cx="3749039" cy="566928"/>
          </a:xfrm>
          <a:prstGeom prst="rect">
            <a:avLst/>
          </a:prstGeom>
          <a:solidFill>
            <a:srgbClr val="0F1F3D"/>
          </a:solidFill>
          <a:ln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2157984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9800"/>
                </a:solidFill>
              </a:rPr>
              <a:t>Cloud / DC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395728"/>
            <a:ext cx="35661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Azure, AWS, GCP, CoreWeave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6240" y="822960"/>
            <a:ext cx="3749039" cy="566928"/>
          </a:xfrm>
          <a:prstGeom prst="rect">
            <a:avLst/>
          </a:prstGeom>
          <a:solidFill>
            <a:srgbClr val="0F1F3D"/>
          </a:solidFill>
          <a:ln>
            <a:solidFill>
              <a:srgbClr val="F443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97679" y="84124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44336"/>
                </a:solidFill>
              </a:rPr>
              <a:t>GPU Server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79" y="1078992"/>
            <a:ext cx="35661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NVIDIA H100/B200, AMD MI300X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06240" y="1481328"/>
            <a:ext cx="3749039" cy="566928"/>
          </a:xfrm>
          <a:prstGeom prst="rect">
            <a:avLst/>
          </a:prstGeom>
          <a:solidFill>
            <a:srgbClr val="0F1F3D"/>
          </a:solidFill>
          <a:ln>
            <a:solidFill>
              <a:srgbClr val="F443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97679" y="1499616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44336"/>
                </a:solidFill>
              </a:rPr>
              <a:t>HBM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79" y="1737360"/>
            <a:ext cx="35661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SK Hynix (50%), Samsung (40%), Micron (10%)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6240" y="2139696"/>
            <a:ext cx="3749039" cy="566928"/>
          </a:xfrm>
          <a:prstGeom prst="rect">
            <a:avLst/>
          </a:prstGeom>
          <a:solidFill>
            <a:srgbClr val="0F1F3D"/>
          </a:solidFill>
          <a:ln>
            <a:solidFill>
              <a:srgbClr val="F443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97679" y="2157984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44336"/>
                </a:solidFill>
              </a:rPr>
              <a:t>Packaging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97679" y="2395728"/>
            <a:ext cx="35661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TSMC CoWoS - KEY CONSTRAINT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138160" y="822960"/>
            <a:ext cx="3749039" cy="566928"/>
          </a:xfrm>
          <a:prstGeom prst="rect">
            <a:avLst/>
          </a:prstGeom>
          <a:solidFill>
            <a:srgbClr val="0F1F3D"/>
          </a:solidFill>
          <a:ln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0" y="84124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9800"/>
                </a:solidFill>
              </a:rPr>
              <a:t>Power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1078992"/>
            <a:ext cx="35661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Vertiv, Schneider, GE Vernova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38160" y="1481328"/>
            <a:ext cx="3749039" cy="566928"/>
          </a:xfrm>
          <a:prstGeom prst="rect">
            <a:avLst/>
          </a:prstGeom>
          <a:solidFill>
            <a:srgbClr val="0F1F3D"/>
          </a:solidFill>
          <a:ln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0" y="1499616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9800"/>
                </a:solidFill>
              </a:rPr>
              <a:t>Networking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0" y="1737360"/>
            <a:ext cx="35661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Broadcom, Marvell, Arista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138160" y="2139696"/>
            <a:ext cx="3749039" cy="566928"/>
          </a:xfrm>
          <a:prstGeom prst="rect">
            <a:avLst/>
          </a:prstGeom>
          <a:solidFill>
            <a:srgbClr val="0F1F3D"/>
          </a:solidFill>
          <a:ln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0" y="2157984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9800"/>
                </a:solidFill>
              </a:rPr>
              <a:t>Foundry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0" y="2395728"/>
            <a:ext cx="35661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TSMC (N3/N2), Samsung Foundry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" y="6400800"/>
            <a:ext cx="182880" cy="182880"/>
          </a:xfrm>
          <a:prstGeom prst="rect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38251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Critical (&gt;85%)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91839" y="6400800"/>
            <a:ext cx="182880" cy="18288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566160" y="638251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High (&gt;70%)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09359" y="6400800"/>
            <a:ext cx="182880" cy="182880"/>
          </a:xfrm>
          <a:prstGeom prst="rect">
            <a:avLst/>
          </a:prstGeom>
          <a:solidFill>
            <a:srgbClr val="FFE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83679" y="638251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Medium (&gt;50%)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326880" y="6400800"/>
            <a:ext cx="182880" cy="18288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199" y="638251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Low (&lt;50%)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403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Token Demand → Hardware Demand Model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822960"/>
            <a:ext cx="5486400" cy="1097280"/>
          </a:xfrm>
          <a:prstGeom prst="rect">
            <a:avLst/>
          </a:prstGeom>
          <a:solidFill>
            <a:srgbClr val="0F1F3D"/>
          </a:solidFill>
          <a:ln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FA3C0"/>
                </a:solidFill>
              </a:rPr>
              <a:t>Tokens/Day (2026 현재 Base)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34440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0BCD4"/>
                </a:solidFill>
              </a:rPr>
              <a:t>328.8T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822960"/>
            <a:ext cx="5486400" cy="1097280"/>
          </a:xfrm>
          <a:prstGeom prst="rect">
            <a:avLst/>
          </a:prstGeom>
          <a:solidFill>
            <a:srgbClr val="0F1F3D"/>
          </a:solidFill>
          <a:ln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91440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FA3C0"/>
                </a:solidFill>
              </a:rPr>
              <a:t>GPU Required (H100 eq.)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234440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0BCD4"/>
                </a:solidFill>
              </a:rPr>
              <a:t>2.24M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103120"/>
            <a:ext cx="5486400" cy="1097280"/>
          </a:xfrm>
          <a:prstGeom prst="rect">
            <a:avLst/>
          </a:prstGeom>
          <a:solidFill>
            <a:srgbClr val="0F1F3D"/>
          </a:solidFill>
          <a:ln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19456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FA3C0"/>
                </a:solidFill>
              </a:rPr>
              <a:t>HBM Demand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514600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0BCD4"/>
                </a:solidFill>
              </a:rPr>
              <a:t>179.1PB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2103120"/>
            <a:ext cx="5486400" cy="1097280"/>
          </a:xfrm>
          <a:prstGeom prst="rect">
            <a:avLst/>
          </a:prstGeom>
          <a:solidFill>
            <a:srgbClr val="0F1F3D"/>
          </a:solidFill>
          <a:ln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219456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FA3C0"/>
                </a:solidFill>
              </a:rPr>
              <a:t>Power Required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514600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0BCD4"/>
                </a:solidFill>
              </a:rPr>
              <a:t>2851MW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" y="3566160"/>
            <a:ext cx="116403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BCD4"/>
                </a:solidFill>
              </a:rPr>
              <a:t>Core Models: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" y="3931920"/>
            <a:ext cx="116403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D0FF"/>
                </a:solidFill>
              </a:rPr>
              <a:t>GPU = Tokens/day / (86400 × tok/sec × utilization)   |   H100: 2,000 tok/s | B200: 4,500 tok/s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" y="4434840"/>
            <a:ext cx="116403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D0FF"/>
                </a:solidFill>
              </a:rPr>
              <a:t>HBM (GB) = GPU_count × HBM_per_GPU   |   H100: 80GB | B200: 192GB | Utilization: 85%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" y="4937760"/>
            <a:ext cx="116403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D0FF"/>
                </a:solidFill>
              </a:rPr>
              <a:t>Power (MW) = GPU × TDP × 1.3 × PUE / 1e6   |   PUE: 1.4 | Server overhead: 1.3x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5349240"/>
            <a:ext cx="8412480" cy="347472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53949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Service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86000" y="53949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Tokens/Day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53949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H100 eq.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53949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Power MW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5715000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ChatGPT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86000" y="571500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0BCD4"/>
                </a:solidFill>
              </a:rPr>
              <a:t>10.0T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571500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0BCD4"/>
                </a:solidFill>
              </a:rPr>
              <a:t>68,083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5715000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0BCD4"/>
                </a:solidFill>
              </a:rPr>
              <a:t>86.7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5971032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Claude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86000" y="5971032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0BCD4"/>
                </a:solidFill>
              </a:rPr>
              <a:t>2.0T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0" y="5971032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0BCD4"/>
                </a:solidFill>
              </a:rPr>
              <a:t>13,617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0" y="5971032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0BCD4"/>
                </a:solidFill>
              </a:rPr>
              <a:t>17.3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6227064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Gemini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86000" y="6227064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0BCD4"/>
                </a:solidFill>
              </a:rPr>
              <a:t>3.0T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0" y="6227064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0BCD4"/>
                </a:solidFill>
              </a:rPr>
              <a:t>20,425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0" y="6227064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0BCD4"/>
                </a:solidFill>
              </a:rPr>
              <a:t>26.0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6483096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Llama_OSS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86000" y="6483096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0BCD4"/>
                </a:solidFill>
              </a:rPr>
              <a:t>5.0T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0" y="6483096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0BCD4"/>
                </a:solidFill>
              </a:rPr>
              <a:t>34,041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58000" y="6483096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0BCD4"/>
                </a:solidFill>
              </a:rPr>
              <a:t>43.4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403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Bottleneck Analysis &amp; Cascade Prediction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31520"/>
            <a:ext cx="3474720" cy="1828800"/>
          </a:xfrm>
          <a:prstGeom prst="rect">
            <a:avLst/>
          </a:prstGeom>
          <a:solidFill>
            <a:srgbClr val="2D0606"/>
          </a:solidFill>
          <a:ln>
            <a:solidFill>
              <a:srgbClr val="F443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7724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PRIMARY BOTTLENECK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05156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44336"/>
                </a:solidFill>
              </a:rPr>
              <a:t>HBM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69164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44336"/>
                </a:solidFill>
              </a:rPr>
              <a:t>Utilization: 92%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05740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FA3C0"/>
                </a:solidFill>
              </a:rPr>
              <a:t>Resolution: ~18 months</a:t>
            </a:r>
          </a:p>
        </p:txBody>
      </p:sp>
      <p:sp>
        <p:nvSpPr>
          <p:cNvPr id="9" name="Rectangle 8"/>
          <p:cNvSpPr/>
          <p:nvPr/>
        </p:nvSpPr>
        <p:spPr>
          <a:xfrm>
            <a:off x="3931920" y="731520"/>
            <a:ext cx="3474720" cy="1828800"/>
          </a:xfrm>
          <a:prstGeom prst="rect">
            <a:avLst/>
          </a:prstGeom>
          <a:solidFill>
            <a:srgbClr val="2D1706"/>
          </a:solidFill>
          <a:ln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023360" y="77724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NEXT BOTTLENECK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23360" y="105156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9800"/>
                </a:solidFill>
              </a:rPr>
              <a:t>CoWoS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23360" y="169164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FA3C0"/>
                </a:solidFill>
              </a:rPr>
              <a:t>Emerging as HBM relief builds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03320" y="132588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00BCD4"/>
                </a:solidFill>
              </a:rPr>
              <a:t>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60920" y="132588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00BCD4"/>
                </a:solidFill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589520" y="731520"/>
            <a:ext cx="3474720" cy="1828800"/>
          </a:xfrm>
          <a:prstGeom prst="rect">
            <a:avLst/>
          </a:prstGeom>
          <a:solidFill>
            <a:srgbClr val="1A1A06"/>
          </a:solidFill>
          <a:ln>
            <a:solidFill>
              <a:srgbClr val="FFE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80960" y="77724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AFTER NEXT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80960" y="105156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EB3B"/>
                </a:solidFill>
              </a:rPr>
              <a:t>Power_DC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" y="2834640"/>
            <a:ext cx="116403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BCD4"/>
                </a:solidFill>
              </a:rPr>
              <a:t>레이어별 가동률 (2026년 Q1 현재)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" y="324612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HBM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3502152"/>
            <a:ext cx="2468880" cy="1828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74320" y="3502152"/>
            <a:ext cx="2271369" cy="182880"/>
          </a:xfrm>
          <a:prstGeom prst="rect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88920" y="3465576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44336"/>
                </a:solidFill>
              </a:rPr>
              <a:t>92%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00400" y="324612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CoWoS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0" y="3502152"/>
            <a:ext cx="2468880" cy="1828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200400" y="3502152"/>
            <a:ext cx="2172614" cy="182880"/>
          </a:xfrm>
          <a:prstGeom prst="rect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715000" y="3465576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44336"/>
                </a:solidFill>
              </a:rPr>
              <a:t>88%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26480" y="324612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Power_DC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26480" y="3502152"/>
            <a:ext cx="2468880" cy="1828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126480" y="3502152"/>
            <a:ext cx="2098548" cy="182880"/>
          </a:xfrm>
          <a:prstGeom prst="rect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641080" y="3465576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44336"/>
                </a:solidFill>
              </a:rPr>
              <a:t>85%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52560" y="324612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Foundry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052560" y="3502152"/>
            <a:ext cx="2468880" cy="1828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052560" y="3502152"/>
            <a:ext cx="2073859" cy="18288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567160" y="3465576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9800"/>
                </a:solidFill>
              </a:rPr>
              <a:t>84%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74320" y="4023359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GPU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4320" y="4279392"/>
            <a:ext cx="2468880" cy="1828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74320" y="4279392"/>
            <a:ext cx="2024481" cy="18288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788920" y="4242816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9800"/>
                </a:solidFill>
              </a:rPr>
              <a:t>82%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200400" y="4023359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Networking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200400" y="4279392"/>
            <a:ext cx="2468880" cy="1828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200400" y="4279392"/>
            <a:ext cx="1925726" cy="18288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715000" y="4242816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9800"/>
                </a:solidFill>
              </a:rPr>
              <a:t>78%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126480" y="4023359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ASIC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126480" y="4279392"/>
            <a:ext cx="2468880" cy="1828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126480" y="4279392"/>
            <a:ext cx="1925726" cy="18288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641080" y="4242816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9800"/>
                </a:solidFill>
              </a:rPr>
              <a:t>78%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052560" y="4023359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DRAM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052560" y="4279392"/>
            <a:ext cx="2468880" cy="1828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9052560" y="4279392"/>
            <a:ext cx="1530705" cy="182880"/>
          </a:xfrm>
          <a:prstGeom prst="rect">
            <a:avLst/>
          </a:prstGeom>
          <a:solidFill>
            <a:srgbClr val="FFE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1567160" y="4242816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EB3B"/>
                </a:solidFill>
              </a:rPr>
              <a:t>62%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403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Hyperscaler CapEx Trends (USD Billion)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79" y="685800"/>
            <a:ext cx="11155680" cy="36576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731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Company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03120" y="73152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2022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73152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2023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12080" y="73152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2024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0" y="73152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2025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21040" y="73152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19" y="7315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CAGR 22-25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1143000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9900"/>
                </a:solidFill>
              </a:rPr>
              <a:t>Amazon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03120" y="1143000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9900"/>
                </a:solidFill>
              </a:rPr>
              <a:t>$38B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1143000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9900"/>
                </a:solidFill>
              </a:rPr>
              <a:t>$48B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80" y="1143000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9900"/>
                </a:solidFill>
              </a:rPr>
              <a:t>$75B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0" y="1143000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9900"/>
                </a:solidFill>
              </a:rPr>
              <a:t>$105B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1143000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9900"/>
                </a:solidFill>
              </a:rPr>
              <a:t>$120B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75519" y="1143000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E676"/>
                </a:solidFill>
              </a:rPr>
              <a:t>+33%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" y="1600200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A4EF"/>
                </a:solidFill>
              </a:rPr>
              <a:t>Microsoft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03120" y="1600200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A4EF"/>
                </a:solidFill>
              </a:rPr>
              <a:t>$22B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1600200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A4EF"/>
                </a:solidFill>
              </a:rPr>
              <a:t>$28B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12080" y="1600200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A4EF"/>
                </a:solidFill>
              </a:rPr>
              <a:t>$55B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66560" y="1600200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A4EF"/>
                </a:solidFill>
              </a:rPr>
              <a:t>$80B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1600200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A4EF"/>
                </a:solidFill>
              </a:rPr>
              <a:t>$95B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75519" y="1600200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E676"/>
                </a:solidFill>
              </a:rPr>
              <a:t>+44%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" y="2057400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285F4"/>
                </a:solidFill>
              </a:rPr>
              <a:t>Google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03120" y="2057400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285F4"/>
                </a:solidFill>
              </a:rPr>
              <a:t>$25B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0" y="2057400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285F4"/>
                </a:solidFill>
              </a:rPr>
              <a:t>$32B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12080" y="2057400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285F4"/>
                </a:solidFill>
              </a:rPr>
              <a:t>$52B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66560" y="2057400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285F4"/>
                </a:solidFill>
              </a:rPr>
              <a:t>$75B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21040" y="2057400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285F4"/>
                </a:solidFill>
              </a:rPr>
              <a:t>$90B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875519" y="2057400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E676"/>
                </a:solidFill>
              </a:rPr>
              <a:t>+38%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4320" y="2514600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668E1"/>
                </a:solidFill>
              </a:rPr>
              <a:t>Meta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103120" y="2514600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668E1"/>
                </a:solidFill>
              </a:rPr>
              <a:t>$31B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57600" y="2514600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668E1"/>
                </a:solidFill>
              </a:rPr>
              <a:t>$28B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212080" y="2514600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668E1"/>
                </a:solidFill>
              </a:rPr>
              <a:t>$37B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66560" y="2514600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668E1"/>
                </a:solidFill>
              </a:rPr>
              <a:t>$65B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21040" y="2514600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668E1"/>
                </a:solidFill>
              </a:rPr>
              <a:t>$72B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875519" y="2514600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E676"/>
                </a:solidFill>
              </a:rPr>
              <a:t>+23%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74320" y="2971800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xAI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103120" y="2971800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-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657600" y="2971800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-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212080" y="2971800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$6B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766560" y="2971800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$15B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21040" y="2971800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$30B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875519" y="2971800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BCD4"/>
                </a:solidFill>
              </a:rPr>
              <a:t>+0%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82879" y="3383280"/>
            <a:ext cx="11155680" cy="45720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74320" y="34290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BCD4"/>
                </a:solidFill>
              </a:rPr>
              <a:t>TOTAL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103120" y="342900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BCD4"/>
                </a:solidFill>
              </a:rPr>
              <a:t>$116B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657600" y="342900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BCD4"/>
                </a:solidFill>
              </a:rPr>
              <a:t>$136B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212080" y="342900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BCD4"/>
                </a:solidFill>
              </a:rPr>
              <a:t>$225B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766560" y="342900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BCD4"/>
                </a:solidFill>
              </a:rPr>
              <a:t>$340B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321040" y="342900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BCD4"/>
                </a:solidFill>
              </a:rPr>
              <a:t>$407B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74320" y="3931920"/>
            <a:ext cx="116403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FA3C0"/>
                </a:solidFill>
              </a:rPr>
              <a:t>Big 5 합산 CapEx: $154B (2022) → $340B (2025실적) → $407B (2026가이던스)  |  AI infrastructure is now the largest single CapEx category in tech history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403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Investment Signals &amp; Positioning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858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BCD4"/>
                </a:solidFill>
              </a:rPr>
              <a:t>Current Phase: Phase 2 (HBM &amp; Packaging)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79" y="1097280"/>
            <a:ext cx="11887200" cy="32004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11556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Company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03120" y="111556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Layer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49039" y="111556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Signal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0" y="111556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Thesis (Brief)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0" y="111556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Timeframe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1481328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SK Hynix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20" y="1481328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HBM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9039" y="1481328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0E676"/>
                </a:solidFill>
              </a:rPr>
              <a:t>Strong Buy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20640" y="1481328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HBM3e dominant supplier (50% share), 95% utilization, 2.5x demand growth YoY, GB200 key be...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7040" y="1481328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6-18 months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" y="1956816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TSMC CoWoS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20" y="1956816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CoWoS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39" y="1956816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0E676"/>
                </a:solidFill>
              </a:rPr>
              <a:t>Strong Buy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20640" y="1956816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CoWoS at 88% utilization (critical bottleneck)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7040" y="1956816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0-12 months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" y="2432304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ASE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03120" y="2432304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CoWoS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49039" y="2432304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0E676"/>
                </a:solidFill>
              </a:rPr>
              <a:t>Strong Buy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20640" y="2432304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CoWoS at 88% utilization (critical bottleneck)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07040" y="2432304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0-12 months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" y="2907792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Amkor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03120" y="2907792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CoWoS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49039" y="2907792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0E676"/>
                </a:solidFill>
              </a:rPr>
              <a:t>Strong Buy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20640" y="2907792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CoWoS at 88% utilization (critical bottleneck)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07040" y="2907792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0-12 months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4320" y="33832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Vertiv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103120" y="338328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Power_DC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749039" y="338328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0E676"/>
                </a:solidFill>
              </a:rPr>
              <a:t>Strong Buy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120640" y="33832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Power_DC at 85% utilization (critical bottleneck)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07040" y="338328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0-24 months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74320" y="3858768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Eaton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103120" y="3858768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Power_DC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749039" y="3858768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0E676"/>
                </a:solidFill>
              </a:rPr>
              <a:t>Strong Buy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20640" y="3858768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Power_DC at 85% utilization (critical bottleneck)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607040" y="3858768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0-24 months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74320" y="4334256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Schneider Electric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103120" y="4334256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Power_DC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749039" y="4334256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0E676"/>
                </a:solidFill>
              </a:rPr>
              <a:t>Strong Buy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120640" y="4334256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Power_DC at 85% utilization (critical bottleneck)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607040" y="4334256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0-24 months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74320" y="4809744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Micron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103120" y="4809744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HBM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749039" y="4809744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4CAF50"/>
                </a:solidFill>
              </a:rPr>
              <a:t>Buy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120640" y="4809744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HBM3e market share gain 10% -&gt; 20%+; CHIPS Act domestic fab beneficiary; NVIDIA supply div...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607040" y="4809744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12-24 months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403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Key Risk Factors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31520"/>
            <a:ext cx="5669280" cy="1691640"/>
          </a:xfrm>
          <a:prstGeom prst="rect">
            <a:avLst/>
          </a:prstGeom>
          <a:solidFill>
            <a:srgbClr val="0F1F3D"/>
          </a:solidFill>
          <a:ln>
            <a:solidFill>
              <a:srgbClr val="F443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79" y="82296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44336"/>
                </a:solidFill>
              </a:rPr>
              <a:t>Geopolitical: Taiwan/TSMC Risk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79" y="1188720"/>
            <a:ext cx="5394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TSMC produces 90%+ of AI chips; Taiwan strait tension = systemic risk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79" y="1828800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6BB6A"/>
                </a:solidFill>
              </a:rPr>
              <a:t>Mitigation: TSMC Arizona/Japan fabs; Intel Foundry; diversification push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731520"/>
            <a:ext cx="5669280" cy="1691640"/>
          </a:xfrm>
          <a:prstGeom prst="rect">
            <a:avLst/>
          </a:prstGeom>
          <a:solidFill>
            <a:srgbClr val="0F1F3D"/>
          </a:solidFill>
          <a:ln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82296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9800"/>
                </a:solidFill>
              </a:rPr>
              <a:t>Export Controls: US-China AI chip restrictions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1188720"/>
            <a:ext cx="5394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H800/H20 restrictions limit NVIDIA China revenue; future controls possible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1828800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6BB6A"/>
                </a:solidFill>
              </a:rPr>
              <a:t>Mitigation: NVIDIA US-legal compliant chips; AMD compliance; domestic Chinese ASICs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2651760"/>
            <a:ext cx="5669280" cy="1691640"/>
          </a:xfrm>
          <a:prstGeom prst="rect">
            <a:avLst/>
          </a:prstGeom>
          <a:solidFill>
            <a:srgbClr val="0F1F3D"/>
          </a:solidFill>
          <a:ln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79" y="274320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9800"/>
                </a:solidFill>
              </a:rPr>
              <a:t>Demand Disappointment: AI ROI not materializing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79" y="3108960"/>
            <a:ext cx="5394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If enterprise AI ROI lags, hyperscaler CapEx pullback possible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79" y="3749040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6BB6A"/>
                </a:solidFill>
              </a:rPr>
              <a:t>Mitigation: Diversified AI revenue streams; agent/agentic AI driving new demand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2651760"/>
            <a:ext cx="5669280" cy="1691640"/>
          </a:xfrm>
          <a:prstGeom prst="rect">
            <a:avLst/>
          </a:prstGeom>
          <a:solidFill>
            <a:srgbClr val="0F1F3D"/>
          </a:solidFill>
          <a:ln>
            <a:solidFill>
              <a:srgbClr val="FFE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5080" y="274320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EB3B"/>
                </a:solidFill>
              </a:rPr>
              <a:t>Technology: LLM efficiency gains reduce hardware demand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3108960"/>
            <a:ext cx="5394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Techniques like MoE, quantization, speculative decoding reduce GPU requirements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3749040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6BB6A"/>
                </a:solidFill>
              </a:rPr>
              <a:t>Mitigation: Jevons paradox: efficiency -&gt; more usage -&gt; net demand up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4572000"/>
            <a:ext cx="5669280" cy="1691640"/>
          </a:xfrm>
          <a:prstGeom prst="rect">
            <a:avLst/>
          </a:prstGeom>
          <a:solidFill>
            <a:srgbClr val="0F1F3D"/>
          </a:solidFill>
          <a:ln>
            <a:solidFill>
              <a:srgbClr val="FFE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79" y="466344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EB3B"/>
                </a:solidFill>
              </a:rPr>
              <a:t>Competition: Samsung HBM3e qualification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79" y="5029200"/>
            <a:ext cx="5394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If Samsung qualifies for GB200, SK Hynix market share at risk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79" y="5669280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6BB6A"/>
                </a:solidFill>
              </a:rPr>
              <a:t>Mitigation: SK Hynix technology lead; HBM4 roadmap advantage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17920" y="4572000"/>
            <a:ext cx="5669280" cy="1691640"/>
          </a:xfrm>
          <a:prstGeom prst="rect">
            <a:avLst/>
          </a:prstGeom>
          <a:solidFill>
            <a:srgbClr val="0F1F3D"/>
          </a:solidFill>
          <a:ln>
            <a:solidFill>
              <a:srgbClr val="FFE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55080" y="466344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EB3B"/>
                </a:solidFill>
              </a:rPr>
              <a:t>Custom ASIC displacement of commodity GPU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55080" y="5029200"/>
            <a:ext cx="5394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20-30% of hyperscaler AI workloads shifting to custom ASICs by 2027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55080" y="5669280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6BB6A"/>
                </a:solidFill>
              </a:rPr>
              <a:t>Mitigation: NVIDIA software moat (CUDA); diversified to ASIC players (Broadcom, Marvell)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403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2026-2028 AI 수요 예측 시나리오 (기준일: 2026-03-24)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80" y="658368"/>
            <a:ext cx="11338560" cy="32004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68580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Scenario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40280" y="68580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Metric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86200" y="6858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2025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06440" y="6858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26680" y="6858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2027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46920" y="6858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2028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" y="1024128"/>
            <a:ext cx="1920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44336"/>
                </a:solidFill>
              </a:rPr>
              <a:t>Bear Case (0.7x)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0280" y="1024128"/>
            <a:ext cx="1554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Tokens/Day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86200" y="1024128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44336"/>
                </a:solidFill>
              </a:rPr>
              <a:t>62.0T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06440" y="1024128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44336"/>
                </a:solidFill>
              </a:rPr>
              <a:t>161.1T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26680" y="1024128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44336"/>
                </a:solidFill>
              </a:rPr>
              <a:t>441.3T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46920" y="1024128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44336"/>
                </a:solidFill>
              </a:rPr>
              <a:t>1273.1T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40280" y="1371600"/>
            <a:ext cx="1554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GPU Required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86200" y="1371600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44336"/>
                </a:solidFill>
              </a:rPr>
              <a:t>0.42M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06440" y="1371600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44336"/>
                </a:solidFill>
              </a:rPr>
              <a:t>1.10M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26680" y="1371600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44336"/>
                </a:solidFill>
              </a:rPr>
              <a:t>3.00M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46920" y="1371600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44336"/>
                </a:solidFill>
              </a:rPr>
              <a:t>8.67M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40280" y="1719072"/>
            <a:ext cx="1554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HBM Demand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86200" y="1719072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44336"/>
                </a:solidFill>
              </a:rPr>
              <a:t>33.7PB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06440" y="1719072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44336"/>
                </a:solidFill>
              </a:rPr>
              <a:t>87.7PB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26680" y="1719072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44336"/>
                </a:solidFill>
              </a:rPr>
              <a:t>240.4PB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46920" y="1719072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44336"/>
                </a:solidFill>
              </a:rPr>
              <a:t>693.4PB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240280" y="2066544"/>
            <a:ext cx="1554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Power (MW)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86200" y="2066544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44336"/>
                </a:solidFill>
              </a:rPr>
              <a:t>537MW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06440" y="2066544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44336"/>
                </a:solidFill>
              </a:rPr>
              <a:t>1397MW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26680" y="2066544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44336"/>
                </a:solidFill>
              </a:rPr>
              <a:t>3828MW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46920" y="2066544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44336"/>
                </a:solidFill>
              </a:rPr>
              <a:t>11042MW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8600" y="2414016"/>
            <a:ext cx="1920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E88E5"/>
                </a:solidFill>
              </a:rPr>
              <a:t>Base Case (1.0x)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240280" y="2414016"/>
            <a:ext cx="1554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Tokens/Day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886200" y="2414016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E88E5"/>
                </a:solidFill>
              </a:rPr>
              <a:t>88.5T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806440" y="2414016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E88E5"/>
                </a:solidFill>
              </a:rPr>
              <a:t>328.8T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26680" y="2414016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E88E5"/>
                </a:solidFill>
              </a:rPr>
              <a:t>1286.6T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46920" y="2414016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E88E5"/>
                </a:solidFill>
              </a:rPr>
              <a:t>5302.2T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40280" y="2761488"/>
            <a:ext cx="1554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GPU Required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886200" y="2761488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E88E5"/>
                </a:solidFill>
              </a:rPr>
              <a:t>0.60M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806440" y="2761488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E88E5"/>
                </a:solidFill>
              </a:rPr>
              <a:t>2.24M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726680" y="2761488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E88E5"/>
                </a:solidFill>
              </a:rPr>
              <a:t>8.76M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46920" y="2761488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E88E5"/>
                </a:solidFill>
              </a:rPr>
              <a:t>36.10M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240280" y="3108960"/>
            <a:ext cx="1554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HBM Demand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886200" y="3108960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E88E5"/>
                </a:solidFill>
              </a:rPr>
              <a:t>48.2PB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806440" y="3108960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E88E5"/>
                </a:solidFill>
              </a:rPr>
              <a:t>179.1PB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726680" y="3108960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E88E5"/>
                </a:solidFill>
              </a:rPr>
              <a:t>700.8PB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646920" y="3108960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E88E5"/>
                </a:solidFill>
              </a:rPr>
              <a:t>2887.9PB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240280" y="3456432"/>
            <a:ext cx="1554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Power (MW)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886200" y="3456432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E88E5"/>
                </a:solidFill>
              </a:rPr>
              <a:t>768MW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806440" y="3456432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E88E5"/>
                </a:solidFill>
              </a:rPr>
              <a:t>2851MW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726680" y="3456432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E88E5"/>
                </a:solidFill>
              </a:rPr>
              <a:t>11160MW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646920" y="3456432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E88E5"/>
                </a:solidFill>
              </a:rPr>
              <a:t>45990MW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28600" y="3803904"/>
            <a:ext cx="1920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0E676"/>
                </a:solidFill>
              </a:rPr>
              <a:t>Bull Case (1.5x)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240280" y="3803904"/>
            <a:ext cx="1554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Tokens/Day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886200" y="3803904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0E676"/>
                </a:solidFill>
              </a:rPr>
              <a:t>132.8T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806440" y="3803904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0E676"/>
                </a:solidFill>
              </a:rPr>
              <a:t>739.7T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726680" y="3803904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0E676"/>
                </a:solidFill>
              </a:rPr>
              <a:t>4342.4T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646920" y="3803904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0E676"/>
                </a:solidFill>
              </a:rPr>
              <a:t>26842.3T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240280" y="4151376"/>
            <a:ext cx="1554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GPU Required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886200" y="4151376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0E676"/>
                </a:solidFill>
              </a:rPr>
              <a:t>0.90M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806440" y="4151376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0E676"/>
                </a:solidFill>
              </a:rPr>
              <a:t>5.04M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726680" y="4151376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0E676"/>
                </a:solidFill>
              </a:rPr>
              <a:t>29.56M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646920" y="4151376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0E676"/>
                </a:solidFill>
              </a:rPr>
              <a:t>182.75M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240280" y="4498848"/>
            <a:ext cx="1554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HBM Demand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886200" y="4498848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0E676"/>
                </a:solidFill>
              </a:rPr>
              <a:t>72.3PB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806440" y="4498848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0E676"/>
                </a:solidFill>
              </a:rPr>
              <a:t>402.9PB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726680" y="4498848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0E676"/>
                </a:solidFill>
              </a:rPr>
              <a:t>2365.1PB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646920" y="4498848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0E676"/>
                </a:solidFill>
              </a:rPr>
              <a:t>14620.0PB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240280" y="4846320"/>
            <a:ext cx="1554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Power (MW)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886200" y="4846320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0E676"/>
                </a:solidFill>
              </a:rPr>
              <a:t>1151MW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806440" y="4846320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0E676"/>
                </a:solidFill>
              </a:rPr>
              <a:t>6416MW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726680" y="4846320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0E676"/>
                </a:solidFill>
              </a:rPr>
              <a:t>37665MW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646920" y="4846320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0E676"/>
                </a:solidFill>
              </a:rPr>
              <a:t>232824MW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