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 Supply Chain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CD4"/>
                </a:solidFill>
              </a:rPr>
              <a:t>Token Demand → Hardware Demand | Bottleneck Detection | Investment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FA3C0"/>
                </a:solidFill>
              </a:rPr>
              <a:t>Generated: 2026-03-23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FA3C0"/>
                </a:solidFill>
              </a:rPr>
              <a:t>AI Supply Chain Intelligence System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 Supply Chain Value Chain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End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OpenAI, Anthropic, Meta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AI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API platforms, inference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Cloud /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Azure, AWS, GCP, CoreWeave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GPU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NVIDIA H100/B200, AMD MI300X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SK Hynix (50%), Samsung (40%), Micron (10%)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CoWoS - KEY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Vertiv, Schneider, GE Vernova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Broadcom, Marvell, Arista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Foundry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(N3/N2), Samsung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8288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Critical (&gt;85%)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640080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High (&gt;70%)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6400800"/>
            <a:ext cx="18288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Medium (&gt;50%)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640080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19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Low (&lt;50%)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Token Demand → Hardware Demand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Tokens/Day (2025 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88.5T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GPU Required (H100 eq.)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0.60M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48.2PB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Power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768MW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661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Core Models: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GPU = Tokens/day / (86400 × tok/sec × utilization)   |   H100: 2,000 tok/s | B200: 4,500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HBM (GB) = GPU_count × HBM_per_GPU   |   H100: 80GB | B200: 192GB | Utilization: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9377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Power (MW) = GPU × TDP × 1.3 × PUE / 1e6   |   PUE: 1.4 | Server overhead: 1.3x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841248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Tokens/Day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H100 eq.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10.0T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68,083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86.7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2.0T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13,617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17.3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20,425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Llama_OSS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5.0T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34,041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43.4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Bottleneck Analysis &amp; Cascade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3474720" cy="1828800"/>
          </a:xfrm>
          <a:prstGeom prst="rect">
            <a:avLst/>
          </a:prstGeom>
          <a:solidFill>
            <a:srgbClr val="2D060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PRIMARY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4336"/>
                </a:solidFill>
              </a:rPr>
              <a:t>Utilization: 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Resolution: ~18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731520"/>
            <a:ext cx="3474720" cy="1828800"/>
          </a:xfrm>
          <a:prstGeom prst="rect">
            <a:avLst/>
          </a:prstGeom>
          <a:solidFill>
            <a:srgbClr val="2D1706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NEXT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800"/>
                </a:solidFill>
              </a:rPr>
              <a:t>CoWoS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Emerging as HBM relief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731520"/>
            <a:ext cx="3474720" cy="1828800"/>
          </a:xfrm>
          <a:prstGeom prst="rect">
            <a:avLst/>
          </a:prstGeom>
          <a:solidFill>
            <a:srgbClr val="1A1A06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AFTER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EB3B"/>
                </a:solidFill>
              </a:rP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Component Utilization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2345436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CoWoS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502152"/>
            <a:ext cx="2271369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502152"/>
            <a:ext cx="2172614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Foundry_Advanced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502152"/>
            <a:ext cx="2024481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6716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Power_DC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ASIC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4279392"/>
            <a:ext cx="172821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279392"/>
            <a:ext cx="1604772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79392"/>
            <a:ext cx="1357884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6716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55%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Hyperscaler CapEx Trends (USD Billion)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79" y="685800"/>
            <a:ext cx="1115568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731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CAGR 22-25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Amazon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$38B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$48B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$75B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$105B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$120B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600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4EF"/>
                </a:solidFill>
              </a:rPr>
              <a:t>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$55B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$80B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$90B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+54%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$25B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$52B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$75B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$85B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057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514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68E1"/>
                </a:solidFill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$28B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$65B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$72B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2514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+28%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2971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$25B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971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+0%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79" y="3383280"/>
            <a:ext cx="1115568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$116B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$136B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$225B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$340B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$392B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3C0"/>
                </a:solidFill>
              </a:rPr>
              <a:t>Big 5 combined CapEx: $154B (2022) → $340B (2025) → $392B (2026E)  |  AI infrastructure is now the largest single CapEx category in tech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Investment Signals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</a:rPr>
              <a:t>Current Phase: Phase 2 (HBM &amp; Packaging)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9" y="1097280"/>
            <a:ext cx="1188720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Thesis (Brief)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Timeframe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SK Hynix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813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dominant supplier (50% share), 95% utilization, 2.5x demand growth YoY, GB200 key be...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 CoWoS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9568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56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92% utilization (critical bottleneck)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323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323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32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92% utilization (critical bottleneck)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Amkor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92% utilization (critical bottleneck)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Micron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market share gain 10% -&gt; 20%+; CHIPS Act domestic fab beneficiary; NVIDIA supply div...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858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8587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Packaging/Foundry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858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monopoly for AI packaging (92% util); N3/N2 pricing power; AI chips 20%+ of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12-36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3342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34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3342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DC power infrastructure bottleneck; sold out through 2026; AI-driven thermal mgmt demand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809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GE Vernova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809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Gas turbine + grid equipment; transformer shortage 30mo lead time; nuclear AI data center 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Key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Geopolitical: Taiwan/TSMC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produces 90%+ of AI chips; Taiwan strait tension = systemic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TSMC Arizona/Japan fabs; Intel Foundry; diversification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Export Controls: US-China AI chip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H800/H20 restrictions limit NVIDIA China revenue; future controls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US-legal compliant chips; AMD compliance; domestic Chinese 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Demand Disappointment: AI ROI not materializing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enterprise AI ROI lags, hyperscaler CapEx pullback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Diversified AI revenue streams; agent/agentic AI driving new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Technology: LLM efficiency gains reduce hardware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Techniques like MoE, quantization, speculative decoding reduce GPU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Jevons paradox: efficiency -&gt; more usage -&gt; net demand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Competition: Samsung HBM3e qualification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Samsung qualifies for GB200, SK Hynix market share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SK Hynix technology lead; HBM4 roadmap advantage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Custom ASIC displacement of commodity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20-30% of hyperscaler AI workloads shifting to custom ASICs by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software moat (CUDA); diversified to ASIC players (Broadcom, Marvell)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2025-2027 AI Demand Forecast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58368"/>
            <a:ext cx="1133856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0241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4336"/>
                </a:solidFill>
              </a:rPr>
              <a:t>Bear Case (0.7x)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0241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25.0T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62.0T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161.1T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441.3T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3716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0.17M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0.42M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1.10M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3.00M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171907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13.6PB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33.7PB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87.7PB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240.4PB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20665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217MW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537MW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1397MW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3828MW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2414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88E5"/>
                </a:solidFill>
              </a:rPr>
              <a:t>Base Case (1.0x)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2414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25.0T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88.5T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328.8T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1286.6T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276148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0.17M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0.60M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2.24M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8.76M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3108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13.6PB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48.2PB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179.1PB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700.8PB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34564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217MW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768MW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2851MW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11160MW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38039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Bull Case (1.5x)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38039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25.0T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132.8T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739.7T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4342.4T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151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0.17M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0.90M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8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5.04M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29.56M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44988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13.6PB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0644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72.3PB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402.9PB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692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2365.1PB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48463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217MW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1151MW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8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6416MW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37665MW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