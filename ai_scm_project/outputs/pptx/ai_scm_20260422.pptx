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AI Supply Chain Intelligence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BCD4"/>
                </a:solidFill>
              </a:rPr>
              <a:t>Token Demand → Hardware Demand | Bottleneck Detection | Investment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FA3C0"/>
                </a:solidFill>
              </a:rPr>
              <a:t>Generated: 2026-04-22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FA3C0"/>
                </a:solidFill>
              </a:rPr>
              <a:t>AI Supply Chain Intelligence System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 Supply Chain Value Chain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End 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OpenAI, Anthropic, Meta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AI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API platforms, inference 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Cloud / 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Azure, AWS, GCP, CoreWeave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GPU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NVIDIA H100/B200, AMD MI300X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HBM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SK Hynix (50%), Samsung (40%), Micron (10%)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Packaging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CoWoS - KEY CONSTRAINT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Power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Vertiv, Schneider, GE Vernova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Networking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Broadcom, Marvell, Arista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Foundry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(N3/N2), Samsung Foundry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400800"/>
            <a:ext cx="182880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Critical (&gt;85%)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39" y="6400800"/>
            <a:ext cx="182880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High (&gt;70%)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6400800"/>
            <a:ext cx="182880" cy="18288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Medium (&gt;50%)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6400800"/>
            <a:ext cx="182880" cy="1828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199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Low (&lt;50%)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Token Demand → Hardware Demand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Tokens/Day (2026 현재 Base)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186.0T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82296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GPU Required (H100 eq.)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1.27M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101.3PB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0312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Power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1613MW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56616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</a:rPr>
              <a:t>Core Models: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93192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GPU = Tokens/day / (86400 × tok/sec × utilization)   |   H100: 2,000 tok/s | B200: 4,500 tok/s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4348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HBM (GB) = GPU_count × HBM_per_GPU   |   H100: 80GB | B200: 192GB | Utilization: 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9377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Power (MW) = GPU × TDP × 1.3 × PUE / 1e6   |   PUE: 1.4 | Server overhead: 1.3x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349240"/>
            <a:ext cx="8412480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Tokens/Day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H100 eq.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Power MW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15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ChatGPT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715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25.0T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715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170,207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715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216.8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71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Claude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971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7.0T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971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47,658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971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60.7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270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Gemini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6227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10.0T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227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68,083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62270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86.7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83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Llama_OSS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6483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18.0T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83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122,549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6483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156.1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Bottleneck Analysis &amp; Cascade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3474720" cy="1828800"/>
          </a:xfrm>
          <a:prstGeom prst="rect">
            <a:avLst/>
          </a:prstGeom>
          <a:solidFill>
            <a:srgbClr val="2D060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PRIMARY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4336"/>
                </a:solidFill>
              </a:rPr>
              <a:t>HBM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4336"/>
                </a:solidFill>
              </a:rPr>
              <a:t>Utilization: 99%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Resolution: ~18 months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731520"/>
            <a:ext cx="3474720" cy="1828800"/>
          </a:xfrm>
          <a:prstGeom prst="rect">
            <a:avLst/>
          </a:prstGeom>
          <a:solidFill>
            <a:srgbClr val="2D1706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NEXT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9800"/>
                </a:solidFill>
              </a:rPr>
              <a:t>Power_DC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Emerging as HBM relief builds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325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325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731520"/>
            <a:ext cx="3474720" cy="1828800"/>
          </a:xfrm>
          <a:prstGeom prst="rect">
            <a:avLst/>
          </a:prstGeom>
          <a:solidFill>
            <a:srgbClr val="1A1A06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AFTER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EB3B"/>
                </a:solidFill>
              </a:rPr>
              <a:t>GPU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8346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</a:rPr>
              <a:t>레이어별 가동률 (2026년 Q1 현재)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HBM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02152"/>
            <a:ext cx="2444191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99%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Power_DC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502152"/>
            <a:ext cx="2413330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98%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GPU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3502152"/>
            <a:ext cx="2098548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85%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Foundry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52560" y="3502152"/>
            <a:ext cx="2073859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6716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84%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Networking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279392"/>
            <a:ext cx="1975104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8892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80%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ASIC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0" y="4279392"/>
            <a:ext cx="1925726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78%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CoWoS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4279392"/>
            <a:ext cx="1629460" cy="18288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108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EB3B"/>
                </a:solidFill>
              </a:rPr>
              <a:t>66%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DRAM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52560" y="4279392"/>
            <a:ext cx="1530705" cy="18288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56716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EB3B"/>
                </a:solidFill>
              </a:rPr>
              <a:t>62%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Hyperscaler CapEx Trends (USD Billion)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79" y="685800"/>
            <a:ext cx="11155680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19" y="731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CAGR 22-25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1430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Amazon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$38B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$48B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$75B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$105B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$130B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19" y="1143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+36%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16002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4EF"/>
                </a:solidFill>
              </a:rPr>
              <a:t>Microsoft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$22B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$28B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$55B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$80B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$95B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16002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+44%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0574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</a:rPr>
              <a:t>Google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$25B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$32B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$52B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$75B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$90B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19" y="20574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+38%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25146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68E1"/>
                </a:solidFill>
              </a:rPr>
              <a:t>Meta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$31B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$28B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$37B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$65B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$72B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19" y="25146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+23%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29718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xAI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$6B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$15B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$30B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19" y="29718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+0%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79" y="3383280"/>
            <a:ext cx="1115568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TOTAL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$120B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$143B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$236B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$356B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$437B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393192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A3C0"/>
                </a:solidFill>
              </a:rPr>
              <a:t>Big 5 합산 CapEx: $154B (2022) → $340B (2025실적) → $407B (2026가이던스)  |  AI infrastructure is now the largest single CapEx category in tech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Investment Signals &amp;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D4"/>
                </a:solidFill>
              </a:rPr>
              <a:t>Current Phase: Phase 2 (HBM &amp; Packaging)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79" y="1097280"/>
            <a:ext cx="11887200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15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115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Thesis (Brief)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Timeframe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4813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SK Hynix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4813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4813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HBM3e dominant supplier (50% share), 95% utilization, 2.5x demand growth YoY, GB200 key be...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6-18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9568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Vertiv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195681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9568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95681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 at 98% utilization (critical bottleneck)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19568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0-24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43230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Eaton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43230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24323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432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 at 98% utilization (critical bottleneck)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24323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0-24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9077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Schneider Electric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9077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2907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9077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 at 98% utilization (critical bottleneck)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2907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0-24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Micron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</a:rPr>
              <a:t>Buy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HBM3e market share gain 10% -&gt; 20%+; CHIPS Act domestic fab beneficiary; NVIDIA supply div...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12-24 months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8587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TSMC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38587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Packaging/Foundry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</a:rPr>
              <a:t>Buy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858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monopoly for AI packaging (92% util); N3/N2 pricing power; AI chips 20%+ of revenue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12-36 months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3342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Vertiv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43342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39" y="43342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</a:rPr>
              <a:t>Buy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433425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DC power infrastructure bottleneck; sold out through 2026; AI-driven thermal mgmt demand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43342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6-18 months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48097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GE Vernova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20" y="480974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39" y="4809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</a:rPr>
              <a:t>Buy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48097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Gas turbine + grid equipment; transformer shortage 30mo lead time; nuclear AI data center ...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4809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12-24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Key Risk Factors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822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Geopolitical: Taiwan/TSMC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1887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produces 90%+ of AI chips; Taiwan strait tension = systemic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288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TSMC Arizona/Japan fabs; Intel Foundry; diversification push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73152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822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Export Controls: US-China AI chip restrictions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1887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H800/H20 restrictions limit NVIDIA China revenue; future controls possible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NVIDIA US-legal compliant chips; AMD compliance; domestic Chinese ASICs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5176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743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Demand Disappointment: AI ROI not materializing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108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If enterprise AI ROI lags, hyperscaler CapEx pullback possible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749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Diversified AI revenue streams; agent/agentic AI driving new demand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5176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43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Technology: LLM efficiency gains reduce hardware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108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Techniques like MoE, quantization, speculative decoding reduce GPU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749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Jevons paradox: efficiency -&gt; more usage -&gt; net demand 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7200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663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Competition: Samsung HBM3e qualification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50292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If Samsung qualifies for GB200, SK Hynix market share at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5669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SK Hynix technology lead; HBM4 roadmap advantage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57200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663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Custom ASIC displacement of commodity GPU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0292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20-30% of hyperscaler AI workloads shifting to custom ASICs by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669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NVIDIA software moat (CUDA); diversified to ASIC players (Broadcom, Marvell)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2026-2028 AI 수요 예측 시나리오 (기준일: 2026-03-24)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58368"/>
            <a:ext cx="11338560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685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02412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4336"/>
                </a:solidFill>
              </a:rPr>
              <a:t>Bear Case (0.7x)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02412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130.2T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241.3T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458.9T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137160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0.89M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1.64M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3.12M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171907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70.9PB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131.4PB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250.0PB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206654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-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1129MW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2093MW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3981MW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24140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88E5"/>
                </a:solidFill>
              </a:rPr>
              <a:t>Base Case (1.0x)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241401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186.0T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492.5T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1338.0T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276148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1.27M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3.35M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9.11M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310896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-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101.3PB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8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268.2PB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692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728.8PB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40280" y="345643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8620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-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644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1613MW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8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4272MW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11605MW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" y="380390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Bull Case (1.5x)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40280" y="380390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8620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-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0644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279.0T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8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1108.1T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4515.8T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0280" y="415137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8620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-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0644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1.90M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2668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7.54M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4692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30.74M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40280" y="449884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8620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-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0644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152.0PB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2668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603.6PB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4692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2459.6PB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40280" y="484632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8620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-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0644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2420MW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2668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9612MW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4692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39168MW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