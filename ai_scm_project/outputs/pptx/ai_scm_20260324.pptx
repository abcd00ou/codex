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AI Supply Chain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BCD4"/>
                </a:solidFill>
              </a:rPr>
              <a:t>Token Demand → Hardware Demand | Bottleneck Detection | Investment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8FA3C0"/>
                </a:solidFill>
              </a:rPr>
              <a:t>Generated: 2026-03-24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FA3C0"/>
                </a:solidFill>
              </a:rPr>
              <a:t>AI Supply Chain Intelligence System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AI Supply Chain Value Chain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End Customer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OpenAI, Anthropic, Meta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AI 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API platforms, inference 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Cloud / DC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Azure, AWS, GCP, CoreWeave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79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GPU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79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NVIDIA H100/B200, AMD MI300X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79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79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SK Hynix (50%), Samsung (40%), Micron (10%)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Packaging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CoWoS - KEY CONSTRAINT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822960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078992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Vertiv, Schneider, GE Vernova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481328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4996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Networking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73736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Broadcom, Marvell, Arista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2139696"/>
            <a:ext cx="3749039" cy="566928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1579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Foundry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3957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(N3/N2), Samsung Foundry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400800"/>
            <a:ext cx="182880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Critical (&gt;85%)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39" y="6400800"/>
            <a:ext cx="18288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High (&gt;70%)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6400800"/>
            <a:ext cx="182880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Medium (&gt;50%)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6400800"/>
            <a:ext cx="182880" cy="18288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199" y="63825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Low (&lt;50%)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Token Demand → Hardware Demand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Tokens/Day (2026 현재 Base)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328.8T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82296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GPU Required (H100 eq.)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2.24M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179.1PB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103120"/>
            <a:ext cx="5486400" cy="1097280"/>
          </a:xfrm>
          <a:prstGeom prst="rect">
            <a:avLst/>
          </a:prstGeom>
          <a:solidFill>
            <a:srgbClr val="0F1F3D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Power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BCD4"/>
                </a:solidFill>
              </a:rPr>
              <a:t>2851MW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56616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Core Models: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GPU = Tokens/day / (86400 × tok/sec × utilization)   |   H100: 2,000 tok/s | B200: 4,500 tok/s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44348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HBM (GB) = GPU_count × HBM_per_GPU   |   H100: 80GB | B200: 192GB | Utilization: 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493776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D0FF"/>
                </a:solidFill>
              </a:rPr>
              <a:t>Power (MW) = GPU × TDP × 1.3 × PUE / 1e6   |   PUE: 1.4 | Server overhead: 1.3x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349240"/>
            <a:ext cx="8412480" cy="347472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Tokens/Day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H100 eq.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394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 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10.0T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7150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68,083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715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86.7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2.0T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97103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13,617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59710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17.3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3.0T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2270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20,425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62270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26.0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Llama_OSS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5.0T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83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34,041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6483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BCD4"/>
                </a:solidFill>
              </a:rPr>
              <a:t>43.4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Bottleneck Analysis &amp; Cascade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3474720" cy="1828800"/>
          </a:xfrm>
          <a:prstGeom prst="rect">
            <a:avLst/>
          </a:prstGeom>
          <a:solidFill>
            <a:srgbClr val="2D0606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PRIMARY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4336"/>
                </a:solidFill>
              </a:rPr>
              <a:t>HBM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4336"/>
                </a:solidFill>
              </a:rPr>
              <a:t>Utilization: 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57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Resolution: ~18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731520"/>
            <a:ext cx="3474720" cy="1828800"/>
          </a:xfrm>
          <a:prstGeom prst="rect">
            <a:avLst/>
          </a:prstGeom>
          <a:solidFill>
            <a:srgbClr val="2D1706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NEXT BOTTLENECK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800"/>
                </a:solidFill>
              </a:rPr>
              <a:t>CoWoS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691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FA3C0"/>
                </a:solidFill>
              </a:rPr>
              <a:t>Emerging as HBM relief builds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32588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BCD4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731520"/>
            <a:ext cx="3474720" cy="1828800"/>
          </a:xfrm>
          <a:prstGeom prst="rect">
            <a:avLst/>
          </a:prstGeom>
          <a:solidFill>
            <a:srgbClr val="1A1A06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777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AFTER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0515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EB3B"/>
                </a:solidFill>
              </a:rPr>
              <a:t>Power_DC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28346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CD4"/>
                </a:solidFill>
              </a:rPr>
              <a:t>레이어별 가동률 (2026년 Q1 현재)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HBM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502152"/>
            <a:ext cx="2271369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92%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CoWoS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502152"/>
            <a:ext cx="2172614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88%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Power_DC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80" y="3502152"/>
            <a:ext cx="2098548" cy="182880"/>
          </a:xfrm>
          <a:prstGeom prst="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44336"/>
                </a:solidFill>
              </a:rPr>
              <a:t>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246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Foundry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350215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60" y="3502152"/>
            <a:ext cx="2073859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67160" y="346557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GPU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279392"/>
            <a:ext cx="2024481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82%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Networking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0" y="4279392"/>
            <a:ext cx="192572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1500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78%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ASIC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4279392"/>
            <a:ext cx="1925726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108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800"/>
                </a:solidFill>
              </a:rPr>
              <a:t>78%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023359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DRAM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52560" y="4279392"/>
            <a:ext cx="2468880" cy="182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52560" y="4279392"/>
            <a:ext cx="1530705" cy="182880"/>
          </a:xfrm>
          <a:prstGeom prst="rect">
            <a:avLst/>
          </a:prstGeom>
          <a:solidFill>
            <a:srgbClr val="FFE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567160" y="42428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EB3B"/>
                </a:solidFill>
              </a:rPr>
              <a:t>62%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Hyperscaler CapEx Trends (USD Billion)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79" y="685800"/>
            <a:ext cx="11155680" cy="36576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31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7315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9" y="731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CAGR 22-25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1430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Amazon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$38B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$48B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$75B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$105B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1430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9900"/>
                </a:solidFill>
              </a:rPr>
              <a:t>$120B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19" y="11430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+33%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1600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A4EF"/>
                </a:solidFill>
              </a:rPr>
              <a:t>Microsoft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$28B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$55B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$80B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A4EF"/>
                </a:solidFill>
              </a:rPr>
              <a:t>$95B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+44%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0574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285F4"/>
                </a:solidFill>
              </a:rPr>
              <a:t>Google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$25B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$32B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$52B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$75B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0574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285F4"/>
                </a:solidFill>
              </a:rPr>
              <a:t>$90B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19" y="20574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+38%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25146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68E1"/>
                </a:solidFill>
              </a:rPr>
              <a:t>Meta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$31B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$28B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$37B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$65B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25146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68E1"/>
                </a:solidFill>
              </a:rPr>
              <a:t>$72B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25146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+23%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29718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xAI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$6B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$15B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9718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$30B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29718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+0%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79" y="3383280"/>
            <a:ext cx="1115568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3429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TOTAL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$116B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$136B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$225B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6656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$340B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3429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CD4"/>
                </a:solidFill>
              </a:rPr>
              <a:t>$407B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393192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FA3C0"/>
                </a:solidFill>
              </a:rPr>
              <a:t>Big 5 합산 CapEx: $154B (2022) → $340B (2025실적) → $407B (2026가이던스)  |  AI infrastructure is now the largest single CapEx category in tech history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Investment Signals &amp; 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CD4"/>
                </a:solidFill>
              </a:rPr>
              <a:t>Current Phase: Phase 2 (HBM &amp; Packaging)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79" y="1097280"/>
            <a:ext cx="1188720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155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1155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1155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Thesis (Brief)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11155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Timeframe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4813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SK Hynix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48132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481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dominant supplier (50% share), 95% utilization, 2.5x demand growth YoY, GB200 key be...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48132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6-18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568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TSMC CoWoS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195681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95681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88% utilization (critical bottleneck)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95681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243230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43230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243230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88% utilization (critical bottleneck)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4323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29077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Amkor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907792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907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CoWoS at 88% utilization (critical bottleneck)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290779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0-12 months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3383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Vertiv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33832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3383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85% utilization (critical bottleneck)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3383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38587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Eaton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385876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39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38587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85% utilization (critical bottleneck)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385876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3342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Schneider Electric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334256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39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Strong Buy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334256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Power_DC at 85% utilization (critical bottleneck)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33425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0-24 months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48097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Micron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03120" y="4809744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39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4CAF50"/>
                </a:solidFill>
              </a:rPr>
              <a:t>Buy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4809744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HBM3e market share gain 10% -&gt; 20%+; CHIPS Act domestic fab beneficiary; NVIDIA supply div...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48097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12-24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Key Risk Factors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44336"/>
                </a:solidFill>
              </a:rPr>
              <a:t>Geopolitical: Taiwan/TSMC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TSMC produces 90%+ of AI chips; Taiwan strait tension = systemic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TSMC Arizona/Japan fabs; Intel Foundry; diversification push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73152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8229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Export Controls: US-China AI chip restrictions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18872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H800/H20 restrictions limit NVIDIA China revenue; future controls possible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2880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US-legal compliant chips; AMD compliance; domestic Chinese ASICs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800"/>
                </a:solidFill>
              </a:rPr>
              <a:t>Demand Disappointment: AI ROI not materializing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enterprise AI ROI lags, hyperscaler CapEx pullback possible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Diversified AI revenue streams; agent/agentic AI driving new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65176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43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Technology: LLM efficiency gains reduce hardware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1089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Techniques like MoE, quantization, speculative decoding reduce GPU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74904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Jevons paradox: efficiency -&gt; more usage -&gt; net demand 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Competition: Samsung HBM3e qualification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If Samsung qualifies for GB200, SK Hynix market share 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SK Hynix technology lead; HBM4 roadmap advantage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572000"/>
            <a:ext cx="5669280" cy="1691640"/>
          </a:xfrm>
          <a:prstGeom prst="rect">
            <a:avLst/>
          </a:prstGeom>
          <a:solidFill>
            <a:srgbClr val="0F1F3D"/>
          </a:solidFill>
          <a:ln>
            <a:solidFill>
              <a:srgbClr val="FFE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EB3B"/>
                </a:solidFill>
              </a:rPr>
              <a:t>Custom ASIC displacement of commodity GPU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502920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20-30% of hyperscaler AI workloads shifting to custom ASICs by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5669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BB6A"/>
                </a:solidFill>
              </a:rPr>
              <a:t>Mitigation: NVIDIA software moat (CUDA); diversified to ASIC players (Broadcom, Marvell)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403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2026-2028 AI 수요 예측 시나리오 (기준일: 2026-03-24)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658368"/>
            <a:ext cx="11338560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85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685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8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685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2028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10241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44336"/>
                </a:solidFill>
              </a:rPr>
              <a:t>Bear Case (0.7x)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0241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62.0T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161.1T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441.3T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10241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1273.1T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137160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0.42M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1.10M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3.00M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8.67M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171907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33.7PB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87.7PB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240.4PB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171907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693.4PB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206654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537MW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1397MW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3828MW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0665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44336"/>
                </a:solidFill>
              </a:rPr>
              <a:t>11042MW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24140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88E5"/>
                </a:solidFill>
              </a:rPr>
              <a:t>Base Case (1.0x)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40280" y="241401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88.5T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328.8T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8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1286.6T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24140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5302.2T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276148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0.60M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2.24M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8.76M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46920" y="276148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36.10M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310896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48.2PB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179.1PB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2668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700.8PB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46920" y="310896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2887.9PB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40280" y="34564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768MW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2851MW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11160MW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34564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E88E5"/>
                </a:solidFill>
              </a:rPr>
              <a:t>45990MW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" y="380390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Bull Case (1.5x)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40280" y="380390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Tokens/Day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8620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132.8T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0644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739.7T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8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4342.4T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380390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26842.3T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40280" y="415137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GPU Required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8620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0.90M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5.04M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8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29.56M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46920" y="41513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182.75M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40280" y="449884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HBM Demand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8620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72.3PB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80644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402.9PB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2668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2365.1PB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46920" y="44988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14620.0PB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40280" y="484632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FA3C0"/>
                </a:solidFill>
              </a:rPr>
              <a:t>Power (MW)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620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1151MW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80644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6416MW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2668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37665MW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46920" y="484632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E676"/>
                </a:solidFill>
              </a:rPr>
              <a:t>232824MW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