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1371600"/>
            <a:ext cx="2834640" cy="4114800"/>
          </a:xfrm>
          <a:prstGeom prst="rect">
            <a:avLst/>
          </a:prstGeom>
          <a:solidFill>
            <a:srgbClr val="22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AI 공급망 인텔리전스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6AD55"/>
                </a:solidFill>
              </a:rPr>
              <a:t>컨설팅 최종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B4D8"/>
                </a:solidFill>
              </a:rPr>
              <a:t>AI Supply Chain Intelligence — Final Consulting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182CE"/>
                </a:solidFill>
              </a:rPr>
              <a:t>━━━━━━━━━━━━━━━━━━━━━━━━━━━━━━━━━━━━━━━━━━━━━━━━━━━━━━━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ED0E8"/>
                </a:solidFill>
              </a:rPr>
              <a:t>보고일: 2026년 04월 09일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</a:rPr>
              <a:t>분석 범위: AI 공급망 14개 레이어 · 61개 기업 · 8개 전략 주제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데이터 출처: NVIDIA IR · SK Hynix · TSMC · Goldman Sachs · Sequoia Capital · IDC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AD55"/>
                </a:solidFill>
              </a:rPr>
              <a:t>핵심 결론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148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현재 Phase 2~3 전환기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651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1차 병목: HBM (92%)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154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2차 병목: 전력 인프라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657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Strong Buy: SK Hynix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160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$340B CapEx 집행 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목차 (Table of Contents)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D0E8"/>
                </a:solidFill>
              </a:rPr>
              <a:t>AI 공급망 인텔리전스 최종 보고서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66928" cy="5943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AD55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1325880"/>
            <a:ext cx="513892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344168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</a:rPr>
              <a:t>하이퍼스케일러 CapEx 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19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2025/2026 투자 규모 및 방향성 분석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41448"/>
            <a:ext cx="566928" cy="5943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487168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AD55"/>
                </a:solidFill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" y="2441448"/>
            <a:ext cx="513892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459736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</a:rPr>
              <a:t>AI 공급망 병목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61488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14개 레이어 가동률 · 병목 카스케이드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57015"/>
            <a:ext cx="566928" cy="5943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602735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AD55"/>
                </a:solidFill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" y="3557015"/>
            <a:ext cx="513892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575303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</a:rPr>
              <a:t>정량 모델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77055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Token→GPU→HBM→전력 수요 모델 3개 시나리오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72584"/>
            <a:ext cx="566928" cy="5943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718304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AD55"/>
                </a:solidFill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" y="4672584"/>
            <a:ext cx="513892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69087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</a:rPr>
              <a:t>투자 Phase 로드맵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992624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Phase 1~4 전환 타임라인 및 현재 위치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325880"/>
            <a:ext cx="566928" cy="5943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371600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AD55"/>
                </a:solidFill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39712" y="1325880"/>
            <a:ext cx="495604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1344168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</a:rPr>
              <a:t>기업별 투자 시그널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1645919"/>
            <a:ext cx="4754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Strong Buy/Buy/Hold 10개 기업 분석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441448"/>
            <a:ext cx="566928" cy="5943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487168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AD55"/>
                </a:solidFill>
              </a:rPr>
              <a:t>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39712" y="2441448"/>
            <a:ext cx="495604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2459736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</a:rPr>
              <a:t>AI 학습 커리큘럼 완료 현황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761488"/>
            <a:ext cx="4754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8개 주제 × Lv.1~3 = 24단계 완료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557015"/>
            <a:ext cx="566928" cy="5943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602735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6AD55"/>
                </a:solidFill>
              </a:rPr>
              <a:t>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9712" y="3557015"/>
            <a:ext cx="495604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3575303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3748"/>
                </a:solidFill>
              </a:rPr>
              <a:t>결론 및 전략 권고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877055"/>
            <a:ext cx="4754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Phase별 투자 우선순위 및 리스크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01. 하이퍼스케일러 AI CapEx 현황 ($B)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D0E8"/>
                </a:solidFill>
              </a:rPr>
              <a:t>2025 실적 vs 2026 가이던스 — 총 $340B → $392B (+15.2%)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</a:rPr>
              <a:t>Microsoft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325880"/>
            <a:ext cx="3352800" cy="29260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35880" y="13258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82CE"/>
                </a:solidFill>
              </a:rPr>
              <a:t>$80B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673352"/>
            <a:ext cx="3771900" cy="292608"/>
          </a:xfrm>
          <a:prstGeom prst="rect">
            <a:avLst/>
          </a:prstGeom>
          <a:solidFill>
            <a:srgbClr val="6D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4980" y="16733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$90B  ▲12%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417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Azure AI + OpenAI 인프라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</a:rPr>
              <a:t>Amazon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240280"/>
            <a:ext cx="4400550" cy="29260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3630" y="22402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A169"/>
                </a:solidFill>
              </a:rPr>
              <a:t>$105B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587752"/>
            <a:ext cx="5029200" cy="292608"/>
          </a:xfrm>
          <a:prstGeom prst="rect">
            <a:avLst/>
          </a:prstGeom>
          <a:solidFill>
            <a:srgbClr val="74D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5877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$120B  ▲14%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331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AWS Trainium/Inferentia 자체 칩 확대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</a:rPr>
              <a:t>Google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154680"/>
            <a:ext cx="3143250" cy="29260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6330" y="31546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D6B20"/>
                </a:solidFill>
              </a:rPr>
              <a:t>$75B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3502152"/>
            <a:ext cx="3562350" cy="292608"/>
          </a:xfrm>
          <a:prstGeom prst="rect">
            <a:avLst/>
          </a:prstGeom>
          <a:solidFill>
            <a:srgbClr val="FFA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5430" y="35021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$85B  ▲13%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2461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TPU v5 + Gemini 인프라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</a:rPr>
              <a:t>Meta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4069080"/>
            <a:ext cx="2724150" cy="292608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230" y="40690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05AD5"/>
                </a:solidFill>
              </a:rPr>
              <a:t>$65B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4416552"/>
            <a:ext cx="3017520" cy="292608"/>
          </a:xfrm>
          <a:prstGeom prst="rect">
            <a:avLst/>
          </a:prstGeom>
          <a:solidFill>
            <a:srgbClr val="BC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599" y="44165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$72B  ▲10%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1605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Llama 오픈소스 + 자체 MTIA 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</a:rPr>
              <a:t>xAI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4983480"/>
            <a:ext cx="628650" cy="29260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11729" y="49834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</a:rPr>
              <a:t>$15B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7360" y="5330952"/>
            <a:ext cx="1047750" cy="292608"/>
          </a:xfrm>
          <a:prstGeom prst="rect">
            <a:avLst/>
          </a:prstGeom>
          <a:solidFill>
            <a:srgbClr val="F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0830" y="53309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$25B  ▲66%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074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</a:rPr>
              <a:t>Grok 모델 + Colossus 클러스터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6172200"/>
            <a:ext cx="201168" cy="12801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93392" y="61539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2025 실적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6172200"/>
            <a:ext cx="201168" cy="128016"/>
          </a:xfrm>
          <a:prstGeom prst="rect">
            <a:avLst/>
          </a:prstGeom>
          <a:solidFill>
            <a:srgbClr val="A0C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432" y="615391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2026 가이던스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61539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365D"/>
                </a:solidFill>
              </a:rPr>
              <a:t>합계: $340B → $392B  (+15%)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02. AI 공급망 병목 분석 — 레이어별 가동률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D0E8"/>
                </a:solidFill>
              </a:rPr>
              <a:t>2026년 Q1 기준 · 병목 카스케이드: HBM → 전력 인프라 → AI 네트워킹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35607"/>
            <a:ext cx="3474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35607"/>
            <a:ext cx="3196742" cy="32918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07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HBM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1435607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92%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1435607"/>
            <a:ext cx="640080" cy="31089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435607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13624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SK Hynix 독점 수혜 · GB200 NVL72 전용 공급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165506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해소 예상: 18개월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65506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▶ 투자 윈도우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21992"/>
            <a:ext cx="3474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221992"/>
            <a:ext cx="3057753" cy="32918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0939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CoWoS 패키징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1" y="222199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88%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2221992"/>
            <a:ext cx="640080" cy="31089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222199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148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TSMC 독점 · 120K wpm(2026) 캐파 확대 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4414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해소 예상: 12개월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4414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▶ 투자 윈도우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08376"/>
            <a:ext cx="3474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008376"/>
            <a:ext cx="2953512" cy="329184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전력 인프라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300837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D6B20"/>
                </a:solidFill>
              </a:rPr>
              <a:t>85%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7408" y="3008376"/>
            <a:ext cx="640080" cy="310896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8" y="3008376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경고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29352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트랜스포머 납기 30개월 · 냉각 솔루션 병목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322783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해소 예상: 24개월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227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▶ 투자 윈도우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94760"/>
            <a:ext cx="3474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794760"/>
            <a:ext cx="3057753" cy="32918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6667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GPU 컴퓨팅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22191" y="379476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88%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8" y="3794760"/>
            <a:ext cx="640080" cy="31089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379476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위험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8928" y="37216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H100→B200 전환 · AMD MI300X 공급 증가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8928" y="40142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해소 예상: 9개월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0142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▶ 투자 윈도우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581144"/>
            <a:ext cx="3474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4581144"/>
            <a:ext cx="2501798" cy="329184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53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AI 네트워킹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22191" y="45811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D6B20"/>
                </a:solidFill>
              </a:rPr>
              <a:t>72%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7408" y="4581144"/>
            <a:ext cx="640080" cy="310896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07408" y="4581144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경고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38928" y="45079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400G/800G InfiniBand 교체 사이클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38928" y="4800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해소 예상: 6개월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8006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▶ 투자 윈도우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367528"/>
            <a:ext cx="34747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5367528"/>
            <a:ext cx="2710281" cy="329184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5239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첨단 파운드리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22191" y="53675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D6B20"/>
                </a:solidFill>
              </a:rPr>
              <a:t>78%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07408" y="5367528"/>
            <a:ext cx="640080" cy="310896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07408" y="536752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경고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38928" y="52943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TSMC N3/N2 수요 집중 · CoWoS 연동 병목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8928" y="558698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해소 예상: 18개월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55869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▶ 투자 윈도우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03. 정량 수요 모델 결과 (2026 기준)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D0E8"/>
                </a:solidFill>
              </a:rPr>
              <a:t>Token → GPU → HBM → 전력 Bottom-up 모델 | Bear / Base / Bull 3개 시나리오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011680" cy="9144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토큰 수요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250T tokens/day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087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65D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8608" y="1234440"/>
            <a:ext cx="2011680" cy="91440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1261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GPU 수요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1600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890K H100-eq.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5087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65D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82896" y="1234440"/>
            <a:ext cx="2011680" cy="9144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1261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HBM 수요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1600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142PB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4576" y="15087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65D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87184" y="1234440"/>
            <a:ext cx="2011680" cy="9144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7184" y="1261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전력 수요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4" y="1600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85GW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15087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65D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91472" y="1234440"/>
            <a:ext cx="2011680" cy="91440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91472" y="12618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SSD 수요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1600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2.1EB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377440"/>
            <a:ext cx="11612880" cy="3657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4231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시나리오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2423160"/>
            <a:ext cx="2240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가정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59" y="24231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토큰/일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4231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423160"/>
            <a:ext cx="10515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4231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전력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4231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SSD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743200"/>
            <a:ext cx="11612880" cy="512064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2743200"/>
            <a:ext cx="1143000" cy="5120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283464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Bear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2834640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공급 확대 / 경기 침체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7328" y="283464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0.6T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7488" y="283464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650K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2834640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95PB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4927" y="283464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60GW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283464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1.4EB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291840"/>
            <a:ext cx="11612880" cy="512064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3291840"/>
            <a:ext cx="1143000" cy="512064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338328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81328" y="3383280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AI 수요 지속 성장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67328" y="338328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1.8T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47488" y="338328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890K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3383280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142PB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4927" y="338328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85GW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05088" y="338328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2.1EB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3840480"/>
            <a:ext cx="11612880" cy="512064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3840480"/>
            <a:ext cx="1143000" cy="5120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393192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Bull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81328" y="3931920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AGI 진입 / 제약 없는 스케일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67328" y="393192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4.2T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47488" y="393192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1.5M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27648" y="3931920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245PB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4927" y="393192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160GW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05088" y="39319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4.0EB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59436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* 2026년 전체 AI 서비스 통합 추정치 | 수식: GPU = Tokens/day ÷ (tokens/sec × 가동률) | HBM = GPU수 × GPU당 HBM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04. AI 공급망 투자 Phase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D0E8"/>
                </a:solidFill>
              </a:rPr>
              <a:t>병목 카스케이드 기반 투자 타임라인 — 현재: Phase 2~3 전환기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234440"/>
            <a:ext cx="2743200" cy="6400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61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81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GPU 컴퓨팅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E3E"/>
                </a:solidFill>
              </a:rPr>
              <a:t>2023~2024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H100 공급 부족 해소 진행 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</a:rPr>
              <a:t>핵심 투자처: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00400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32369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NVDA (Hold)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1234440"/>
            <a:ext cx="2743200" cy="53035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72968" y="1234440"/>
            <a:ext cx="2743200" cy="64008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4408" y="1261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1581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HBM &amp; 패키징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12618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6AD55"/>
                </a:solidFill>
              </a:rPr>
              <a:t>★ 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D6B20"/>
                </a:solidFill>
              </a:rPr>
              <a:t>2024~2026★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현재 가장 타이트한 병목 구간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</a:rPr>
              <a:t>핵심 투자처: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4408" y="3200400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2369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SK Hynix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4408" y="3630168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36667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TSMC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64408" y="4059935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40965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Micron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4408" y="4489704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4526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Broadcom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64408" y="4919472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4956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Marvell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17336" y="1234440"/>
            <a:ext cx="2743200" cy="53035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17336" y="1234440"/>
            <a:ext cx="2743200" cy="6400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8776" y="1261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8776" y="1581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전력 인프라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9016" y="12618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6AD55"/>
                </a:solidFill>
              </a:rPr>
              <a:t>★ 현재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8776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A169"/>
                </a:solidFill>
              </a:rPr>
              <a:t>2026~2027★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8776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2차 병목 진입 중, 24개월 해소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8776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</a:rPr>
              <a:t>핵심 투자처: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08776" y="3200400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8" y="32369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Vertiv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08776" y="3630168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1928" y="36667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GE Vernova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08776" y="4059935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1928" y="40965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Eaton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61704" y="123444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61704" y="1234440"/>
            <a:ext cx="2743200" cy="64008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53144" y="1261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53144" y="15819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엣지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53144" y="1965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05AD5"/>
                </a:solidFill>
              </a:rPr>
              <a:t>2027~2028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53144" y="2286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온디바이스 AI 본격화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53144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3748"/>
                </a:solidFill>
              </a:rPr>
              <a:t>핵심 투자처: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53144" y="3200400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26296" y="32369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Qualcomm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53144" y="3630168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26296" y="36667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Apple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53144" y="4059935"/>
            <a:ext cx="2514600" cy="34747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26296" y="40965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</a:rPr>
              <a:t>ARM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6492240"/>
            <a:ext cx="11704320" cy="5486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565392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65D"/>
                </a:solidFill>
              </a:rPr>
              <a:t>2023 ──────── 2024 ──────── 2025 ──────── 2026 ──────── 2027 ──────── 2028 ──────── 2029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05. 기업별 투자 시그널 (10개)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D0E8"/>
                </a:solidFill>
              </a:rPr>
              <a:t>공급망 병목 분석 기반 Bottom-up 투자 시그널 | 2026년 Q1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70432"/>
            <a:ext cx="11795760" cy="32918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207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기업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207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레이어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07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시그널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207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목표수익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207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207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투자 논거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499616"/>
            <a:ext cx="11795760" cy="475488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157276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SK Hynix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1810512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000660.KS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160934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HBM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1572768"/>
            <a:ext cx="1051560" cy="29260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1572768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Strong Buy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1591056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A169"/>
                </a:solidFill>
              </a:rPr>
              <a:t>+40%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5910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6~18개월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1591056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Ph.2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15727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HBM3e 50% 점유율, GB200 핵심 수혜, HBM4 퀄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011680"/>
            <a:ext cx="11795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2084832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Vertiv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2322576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VRT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1214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전력 인프라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2084832"/>
            <a:ext cx="1051560" cy="29260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2084832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103120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+35%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2103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6~18개월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210312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Ph.3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20848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DC 전력 병목 직접 수혜, 2026년까지 Sold 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2523744"/>
            <a:ext cx="11795760" cy="475488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2596896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Marvell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" y="2834639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MRVL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263347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AI 네트워킹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2596896"/>
            <a:ext cx="1051560" cy="29260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2596896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9392" y="2615184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+35%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26151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12~24개월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2615184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Ph.2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259689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AWS Trainium3·Google TPU용 커스텀 ASIC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3035808"/>
            <a:ext cx="11795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" y="310896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Micron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" y="334670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MU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31455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HBM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3108960"/>
            <a:ext cx="1051560" cy="29260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0" y="310896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9392" y="3127248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+30%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20" y="31272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12~24개월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8232" y="3127248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Ph.2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76288" y="310896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HBM3e 점유율 10→20%+ 확대, CHIPS Act 수혜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3547872"/>
            <a:ext cx="11795760" cy="475488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032" y="3621024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GE Vernova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" y="385876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GEV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37360" y="3657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전력 인프라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0" y="3621024"/>
            <a:ext cx="1051560" cy="29260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0" y="362102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79392" y="3639312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+30%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74920" y="363931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12~24개월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8232" y="363931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Ph.3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76288" y="362102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가스터빈·변압기 납기 30개월, 핵에너지 DC 계약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2880" y="4059936"/>
            <a:ext cx="11795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6032" y="413308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TSMC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" y="4370832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TSM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37360" y="41696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패키징/파운드리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08960" y="4133088"/>
            <a:ext cx="1051560" cy="29260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0" y="4133088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79392" y="4151376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+25%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74920" y="41513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12~36개월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28232" y="4151376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Ph.2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76288" y="41330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CoWoS 92% 가동률, N3/N2 가격 결정력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572000"/>
            <a:ext cx="11795760" cy="475488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56032" y="4645152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Broadcom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6032" y="4882896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AVGO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37360" y="46817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AI 네트워킹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08960" y="4645152"/>
            <a:ext cx="1051560" cy="29260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08960" y="4645152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79392" y="4663440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+20%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74920" y="46634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12~24개월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28232" y="4663440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Ph.2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76288" y="464515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Google/Meta/Apple 커스텀 ASIC, 800G 스위치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5084064"/>
            <a:ext cx="11795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" y="5157216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Eaton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6032" y="5394960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ETN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37360" y="51937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전력 인프라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08960" y="5157216"/>
            <a:ext cx="1051560" cy="29260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108960" y="5157216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Buy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79392" y="5175504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82CE"/>
                </a:solidFill>
              </a:rPr>
              <a:t>+20%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74920" y="51755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12~24개월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28232" y="5175504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Ph.3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76288" y="515721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DC 전력관리 인프라, UPS·PDU 수요 급증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" y="5596128"/>
            <a:ext cx="11795760" cy="475488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56032" y="5669280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NVIDIA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6032" y="5907024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NVDA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37360" y="57058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GPU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08960" y="5669280"/>
            <a:ext cx="1051560" cy="29260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108960" y="5669280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Hold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79392" y="5687568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D6B20"/>
                </a:solidFill>
              </a:rPr>
              <a:t>+15%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074920" y="56875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24개월+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28232" y="5687568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Ph.1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76288" y="566928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B200/GB200 플랫폼 전환, Phase 1 밸류 반영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6108192"/>
            <a:ext cx="11795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56032" y="6181344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Qualcomm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56032" y="6419088"/>
            <a:ext cx="1417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QCOM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37360" y="62179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엣지 AI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108960" y="6181344"/>
            <a:ext cx="1051560" cy="292608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108960" y="618134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Watch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79392" y="6199632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05AD5"/>
                </a:solidFill>
              </a:rPr>
              <a:t>+25%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74920" y="61996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18~36개월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28232" y="6199632"/>
            <a:ext cx="411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6B20"/>
                </a:solidFill>
              </a:rPr>
              <a:t>Ph.4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76288" y="618134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온디바이스 AI 추론 리더, PC AI 사이클 대기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06. AI SCM 학습 커리큘럼 — 전 과정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D0E8"/>
                </a:solidFill>
              </a:rPr>
              <a:t>8개 전략 주제 × Lv.1(기초)~Lv.3(전문가) = 24단계 | 30분 cron 자동화 이메일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64592" cy="10972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350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3350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HBM 심층 분석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737360"/>
            <a:ext cx="585216" cy="201168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73736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5648" y="1737360"/>
            <a:ext cx="585216" cy="201168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5648" y="173736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4015" y="1737360"/>
            <a:ext cx="585216" cy="201168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4015" y="173736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011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HBM2→HBM3e→HBM4 로드맵, 8-Hi 스택, TSV 구조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28016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280160"/>
            <a:ext cx="164592" cy="10972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3350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13350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CoWoS 패키징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1737360"/>
            <a:ext cx="585216" cy="201168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173736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44968" y="1737360"/>
            <a:ext cx="585216" cy="201168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4968" y="173736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03336" y="1737360"/>
            <a:ext cx="585216" cy="201168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6" y="173736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11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TSMC CoWoS-S/L/R, Fan-out WLP, 120K wpm 확장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51460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2514600"/>
            <a:ext cx="164592" cy="10972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5694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256946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AI 네트워킹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2971800"/>
            <a:ext cx="585216" cy="201168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297180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2971800"/>
            <a:ext cx="585216" cy="201168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55648" y="297180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14015" y="2971800"/>
            <a:ext cx="585216" cy="201168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14015" y="297180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3246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InfiniBand vs RoCE, 400G/800G, NVLink 비교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51460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2514600"/>
            <a:ext cx="164592" cy="10972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25694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256946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하이퍼스케일러 CapEx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600" y="2971800"/>
            <a:ext cx="585216" cy="201168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297180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44968" y="2971800"/>
            <a:ext cx="585216" cy="201168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44968" y="297180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03336" y="2971800"/>
            <a:ext cx="585216" cy="201168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03336" y="297180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3246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$340B 투자 분해, Phase별 수혜 기업 매핑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3749039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" y="3749039"/>
            <a:ext cx="164592" cy="10972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3803903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380390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NVIDIA 공급망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7280" y="4206240"/>
            <a:ext cx="585216" cy="201168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420624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55648" y="4206240"/>
            <a:ext cx="585216" cy="201168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55648" y="420624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14015" y="4206240"/>
            <a:ext cx="585216" cy="201168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14015" y="420624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448055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B200/GB200 NVL72 아키텍처, CoWoS 의존성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63640" y="3749039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63640" y="3749039"/>
            <a:ext cx="164592" cy="10972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3803903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</a:rPr>
              <a:t>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380390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전력 인프라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86600" y="4206240"/>
            <a:ext cx="585216" cy="201168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86600" y="420624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44968" y="4206240"/>
            <a:ext cx="585216" cy="201168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44968" y="420624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03336" y="4206240"/>
            <a:ext cx="585216" cy="201168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03336" y="420624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448055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데이터센터 전력 수요 2배, 트랜스포머 병목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498348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4983480"/>
            <a:ext cx="164592" cy="10972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50383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</a:rPr>
              <a:t>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7280" y="503834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소버린 AI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97280" y="5440680"/>
            <a:ext cx="585216" cy="201168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97280" y="544068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55648" y="5440680"/>
            <a:ext cx="585216" cy="201168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55648" y="544068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14015" y="5440680"/>
            <a:ext cx="585216" cy="201168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14015" y="544068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57150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UAE/Saudi 국가 AI 인프라, Geopolitical 리스크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63640" y="498348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263640" y="4983480"/>
            <a:ext cx="164592" cy="10972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0" y="50383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65D"/>
                </a:solidFill>
              </a:rPr>
              <a:t>08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86600" y="503834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3748"/>
                </a:solidFill>
              </a:rPr>
              <a:t>투자 프레임워크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585216" cy="201168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86600" y="544068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44968" y="5440680"/>
            <a:ext cx="585216" cy="201168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44968" y="544068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403336" y="5440680"/>
            <a:ext cx="585216" cy="201168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03336" y="5440680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Lv.3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92240" y="57150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Phase 1~4 로드맵, 병목→투자 시그널 연결 로직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6172200"/>
            <a:ext cx="11612880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6245352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총 24단계 완료 (8 주제 × 3 라운드)   ✓ 매 30분 cron 자동 발송   ✓ 뉴스 연동 + 레벨별 싱크 심화   ✓ Word/HTML 리포트 동시 생성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07. 결론 및 전략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D0E8"/>
                </a:solidFill>
              </a:rPr>
              <a:t>AI 공급망 컨설팅 최종 결론 | 2026년 Q1 기준 · 6~18개월 액션 플랜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769864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182880" cy="109728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11430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1673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D6B20"/>
                </a:solidFill>
              </a:rPr>
              <a:t>현재 포지션: Phase 2~3 전환기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5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HBM·CoWoS 병목(Phase 2)이 아직 해소되지 않은 상태에서 전력 인프라(Phase 3) 병목이 동시 진입.
역사적으로 두 병목이 겹치는 구간이 가장 강한 투자 수익을 기록함.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87752"/>
            <a:ext cx="182880" cy="109728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87752"/>
            <a:ext cx="11430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4261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단기 (6~12개월): HBM·CoWoS 집중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08376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SK Hynix(HBM3e 50% 점유) + TSMC CoWoS(92% 가동률) — 공급 제약이 가장 명확한 레이어.
Marvell(AWS/Google ASIC)·Broadcom(800G) 네트워킹 업그레이드 병행 진입 유효.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13631"/>
            <a:ext cx="182880" cy="10972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13631"/>
            <a:ext cx="11430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68495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A169"/>
                </a:solidFill>
              </a:rPr>
              <a:t>중기 (12~24개월): 전력 인프라 확대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34255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Vertiv·GE Vernova·Eaton — 트랜스포머 납기 30개월, DC 전력 수요 2배 확대 예정.
현재 수주잔고 기반 Visibility 가장 높은 섹터. CAPEX 사이클 2026~2027 피크.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39512"/>
            <a:ext cx="182880" cy="1097280"/>
          </a:xfrm>
          <a:prstGeom prst="rect">
            <a:avLst/>
          </a:prstGeom>
          <a:solidFill>
            <a:srgbClr val="805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239512"/>
            <a:ext cx="11430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94375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05AD5"/>
                </a:solidFill>
              </a:rPr>
              <a:t>장기 (24개월+): 엣지 AI &amp; 소버린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0136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</a:rPr>
              <a:t>온디바이스 AI 침투 + 국가 단위 AI 인프라 투자(UAE/Saudi/EU).
Qualcomm·ARM·로컬 클라우드 사업자 — Phase 4 포지셔닝 시작 타이밍.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08. AI 공급망 14개 레이어 — 병목 히트맵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D0E8"/>
                </a:solidFill>
              </a:rPr>
              <a:t>2026년 Q1 가동률 기준 | 색상: 🔴 위험(≥88%) · 🟠 경고(75~87%) · 🟡 주의(60~74%) · 🟢 안정(&lt;60%)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4864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10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89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HBM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79" y="12893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3441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0" y="1344168"/>
            <a:ext cx="2691993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2" y="13258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3E3E"/>
                </a:solidFill>
              </a:rPr>
              <a:t>92%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289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CoWoS 패키징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2893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13441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1344168"/>
            <a:ext cx="2574950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48872" y="13258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3E3E"/>
                </a:solidFill>
              </a:rPr>
              <a:t>88%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202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19751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GPU 컴퓨팅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79" y="1975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18096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0299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2029968"/>
            <a:ext cx="2574950" cy="23774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9552" y="20116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53E3E"/>
                </a:solidFill>
              </a:rPr>
              <a:t>88%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9202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19751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전력 인프라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9751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49640" y="20299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9640" y="2029968"/>
            <a:ext cx="2487168" cy="237744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48872" y="20116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D6B20"/>
                </a:solidFill>
              </a:rPr>
              <a:t>85%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6060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2660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첨단 파운드리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79" y="26609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18096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27157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0" y="2715768"/>
            <a:ext cx="2282342" cy="237744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59552" y="26974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D6B20"/>
                </a:solidFill>
              </a:rPr>
              <a:t>78%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6060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2660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AI 네트워킹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6609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9640" y="27157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49640" y="2715768"/>
            <a:ext cx="2106777" cy="237744"/>
          </a:xfrm>
          <a:prstGeom prst="rect">
            <a:avLst/>
          </a:prstGeom>
          <a:solidFill>
            <a:srgbClr val="D6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48872" y="26974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9E00"/>
                </a:solidFill>
              </a:rPr>
              <a:t>72%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2918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33467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냉각/열관리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0279" y="33467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34015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0" y="3401568"/>
            <a:ext cx="2048255" cy="237744"/>
          </a:xfrm>
          <a:prstGeom prst="rect">
            <a:avLst/>
          </a:prstGeom>
          <a:solidFill>
            <a:srgbClr val="D6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59552" y="33832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9E00"/>
                </a:solidFill>
              </a:rPr>
              <a:t>70%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32918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73368" y="33467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ASIC/커스텀칩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334670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9640" y="34015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49640" y="3401568"/>
            <a:ext cx="1814169" cy="237744"/>
          </a:xfrm>
          <a:prstGeom prst="rect">
            <a:avLst/>
          </a:prstGeom>
          <a:solidFill>
            <a:srgbClr val="D6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548872" y="338328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9E00"/>
                </a:solidFill>
              </a:rPr>
              <a:t>62%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977639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" y="403250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광 인터커넥트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40279" y="403250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18096"/>
                </a:solidFill>
              </a:rPr>
              <a:t>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40873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60320" y="4087368"/>
            <a:ext cx="1697126" cy="23774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59552" y="406907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A169"/>
                </a:solidFill>
              </a:rPr>
              <a:t>57%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3977639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73368" y="403250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DRAM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403250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18096"/>
                </a:solidFill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49640" y="40873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49640" y="4087368"/>
            <a:ext cx="1609344" cy="23774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548872" y="406907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A169"/>
                </a:solidFill>
              </a:rPr>
              <a:t>55%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6634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4048" y="471830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소버린 AI 인프라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40279" y="471830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↑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0" y="47731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560320" y="4773168"/>
            <a:ext cx="1228953" cy="23774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9552" y="475487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A169"/>
                </a:solidFill>
              </a:rPr>
              <a:t>42%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3640" y="46634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73368" y="471830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CPU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0" y="471830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A169"/>
                </a:solidFill>
              </a:rPr>
              <a:t>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49640" y="47731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49640" y="4773168"/>
            <a:ext cx="1316736" cy="23774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548872" y="475487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A169"/>
                </a:solidFill>
              </a:rPr>
              <a:t>45%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53492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4048" y="540410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엣지 AI 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40279" y="540410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3E3E"/>
                </a:solidFill>
              </a:rPr>
              <a:t>↑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560320" y="54589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60320" y="5458968"/>
            <a:ext cx="877824" cy="23774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59552" y="544067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A169"/>
                </a:solidFill>
              </a:rPr>
              <a:t>30%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63640" y="5349240"/>
            <a:ext cx="5577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73368" y="540410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3748"/>
                </a:solidFill>
              </a:rPr>
              <a:t>SSD 스토리지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0" y="540410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18096"/>
                </a:solidFill>
              </a:rPr>
              <a:t>→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49640" y="5458968"/>
            <a:ext cx="2926080" cy="237744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549640" y="5458968"/>
            <a:ext cx="1024127" cy="23774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548872" y="544067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A169"/>
                </a:solidFill>
              </a:rPr>
              <a:t>35%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6473952"/>
            <a:ext cx="182880" cy="128016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2064" y="6455664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위험 ≥88%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6473952"/>
            <a:ext cx="182880" cy="128016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55263" y="6455664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경고 75~87%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60720" y="6473952"/>
            <a:ext cx="182880" cy="128016"/>
          </a:xfrm>
          <a:prstGeom prst="rect">
            <a:avLst/>
          </a:prstGeom>
          <a:solidFill>
            <a:srgbClr val="D69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998464" y="6455664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주의 60~74%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03920" y="6473952"/>
            <a:ext cx="182880" cy="128016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741664" y="6455664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안정 &lt;60%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09. 리스크 매트릭스 (2×2)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D0E8"/>
                </a:solidFill>
              </a:rPr>
              <a:t>확률(Likelihood) × 영향(Impact) 기준 | AI 공급망 핵심 리스크 분류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88136"/>
            <a:ext cx="12188952" cy="54864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11  /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170432"/>
            <a:ext cx="1280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365D"/>
                </a:solidFill>
              </a:rPr>
              <a:t>↑ 영향(Impact) 높음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3550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65D"/>
                </a:solidFill>
              </a:rPr>
              <a:t>확률(Likelihood)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633679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낮음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33679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높음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170432"/>
            <a:ext cx="4572000" cy="24688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1170432"/>
            <a:ext cx="4572000" cy="3200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38528" y="12070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고영향 · 저확률 (모니터링)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0" y="1207008"/>
            <a:ext cx="71323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207008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53E3E"/>
                </a:solidFill>
              </a:rPr>
              <a:t>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38528" y="1572768"/>
            <a:ext cx="43525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38528" y="1572768"/>
            <a:ext cx="54864" cy="56692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1645920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대만 지정학 이벤트 (TSMC 생산 중단)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38528" y="2231136"/>
            <a:ext cx="43525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38528" y="2231136"/>
            <a:ext cx="54864" cy="56692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2304288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AGI 조기 진입 (수요 폭발·공급망 재편)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38528" y="2889504"/>
            <a:ext cx="43525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38528" y="2889504"/>
            <a:ext cx="54864" cy="56692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2962656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PIM/CXL 조기 도입 (HBM 수요 구조 변화)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1170432"/>
            <a:ext cx="5394960" cy="2468880"/>
          </a:xfrm>
          <a:prstGeom prst="rect">
            <a:avLst/>
          </a:prstGeom>
          <a:solidFill>
            <a:srgbClr val="FF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1170432"/>
            <a:ext cx="5394960" cy="32004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12070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고영향 · 고확률 (즉시 대응)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09960" y="1207008"/>
            <a:ext cx="71323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09960" y="1207008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DD6B20"/>
                </a:solidFill>
              </a:rPr>
              <a:t>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1968" y="1572768"/>
            <a:ext cx="51755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01968" y="1572768"/>
            <a:ext cx="54864" cy="5669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1645920"/>
            <a:ext cx="5010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HBM 공급 타이트 지속 (SK Hynix 독점 구조)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01968" y="2231136"/>
            <a:ext cx="51755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01968" y="2231136"/>
            <a:ext cx="54864" cy="5669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2304288"/>
            <a:ext cx="5010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DC 전력 인허가 지연 (트랜스포머 30개월)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1968" y="2889504"/>
            <a:ext cx="51755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01968" y="2889504"/>
            <a:ext cx="54864" cy="566928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2962656"/>
            <a:ext cx="5010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미중 무역 긴장 심화 (TSMC 지정학)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3730752"/>
            <a:ext cx="4572000" cy="2487168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0" y="3730752"/>
            <a:ext cx="4572000" cy="3200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38528" y="37673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저영향 · 저확률 (관찰)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23560" y="3767328"/>
            <a:ext cx="71323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60" y="3767328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8A169"/>
                </a:solidFill>
              </a:rPr>
              <a:t>WATCH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38528" y="4133088"/>
            <a:ext cx="43525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938528" y="4133088"/>
            <a:ext cx="54864" cy="56692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4206240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엣지 AI 보급 지연 (2028+ 이동)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38528" y="4791456"/>
            <a:ext cx="43525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38528" y="4791456"/>
            <a:ext cx="54864" cy="56692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4864608"/>
            <a:ext cx="4187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클라우드 업체 칩 내재화 가속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730752"/>
            <a:ext cx="5394960" cy="2487168"/>
          </a:xfrm>
          <a:prstGeom prst="rect">
            <a:avLst/>
          </a:prstGeom>
          <a:solidFill>
            <a:srgbClr val="EB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3730752"/>
            <a:ext cx="5394960" cy="32004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1968" y="37673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저영향 · 고확률 (관리)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109960" y="3767328"/>
            <a:ext cx="713232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09960" y="3767328"/>
            <a:ext cx="7132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182CE"/>
                </a:solidFill>
              </a:rPr>
              <a:t>MANAGE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01968" y="4133088"/>
            <a:ext cx="51755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01968" y="4133088"/>
            <a:ext cx="54864" cy="56692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20840" y="4206240"/>
            <a:ext cx="5010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NVIDIA 경쟁 심화 (AMD MI300X)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01968" y="4791456"/>
            <a:ext cx="517550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01968" y="4791456"/>
            <a:ext cx="54864" cy="566928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20840" y="4864608"/>
            <a:ext cx="50109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D3748"/>
                </a:solidFill>
              </a:rPr>
              <a:t>하이퍼스케일러 CapEx 미세 조정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6702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</a:rPr>
              <a:t>AI 공급망 인텔리전스 | 최종 컨설팅 보고서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6702552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365D"/>
                </a:solidFill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AI 공급망 인텔리전스 컨설팅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6AD55"/>
                </a:solidFill>
              </a:rPr>
              <a:t>최종 보고서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90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182CE"/>
                </a:solidFill>
              </a:rPr>
              <a:t>━━━━━━━━━━━━━━━━━━━━━━━━━━━━━━━━━━━━━━━━━━━━━━━━━━━━━━━━━━━━━━━━━━━━━━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D0E8"/>
                </a:solidFill>
              </a:rPr>
              <a:t>분석 기준일: 2026년 04월 09일  ·  14개 공급망 레이어  ·  61개 기업  ·  8개 전략 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</a:rPr>
              <a:t>본 보고서는 공개 데이터 및 AI 분석 기반이며 투자 권유가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