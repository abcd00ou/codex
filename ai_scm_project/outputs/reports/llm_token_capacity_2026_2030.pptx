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2030 토큰/일 (Q)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OpenAI</c:v>
                </c:pt>
                <c:pt idx="1">
                  <c:v>Google</c:v>
                </c:pt>
                <c:pt idx="2">
                  <c:v>Meta</c:v>
                </c:pt>
                <c:pt idx="3">
                  <c:v>Microsoft</c:v>
                </c:pt>
                <c:pt idx="4">
                  <c:v>Anthropic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0.586840240711296</c:v>
                </c:pt>
                <c:pt idx="1">
                  <c:v>0.53513286253056</c:v>
                </c:pt>
                <c:pt idx="2">
                  <c:v>0.4022866197504</c:v>
                </c:pt>
                <c:pt idx="3">
                  <c:v>0.372288096107136</c:v>
                </c:pt>
                <c:pt idx="4">
                  <c:v>0.31830324515136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보수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0.117</c:v>
                </c:pt>
                <c:pt idx="1">
                  <c:v>0.286</c:v>
                </c:pt>
                <c:pt idx="2">
                  <c:v>0.546</c:v>
                </c:pt>
                <c:pt idx="3">
                  <c:v>0.934</c:v>
                </c:pt>
                <c:pt idx="4">
                  <c:v>1.494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기준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0.208</c:v>
                </c:pt>
                <c:pt idx="1">
                  <c:v>0.516</c:v>
                </c:pt>
                <c:pt idx="2">
                  <c:v>1.006</c:v>
                </c:pt>
                <c:pt idx="3">
                  <c:v>1.757</c:v>
                </c:pt>
                <c:pt idx="4">
                  <c:v>2.872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낙관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0.302</c:v>
                </c:pt>
                <c:pt idx="1">
                  <c:v>0.779</c:v>
                </c:pt>
                <c:pt idx="2">
                  <c:v>1.575</c:v>
                </c:pt>
                <c:pt idx="3">
                  <c:v>2.84</c:v>
                </c:pt>
                <c:pt idx="4">
                  <c:v>4.79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전력제약·효율상승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0.233</c:v>
                </c:pt>
                <c:pt idx="1">
                  <c:v>0.556</c:v>
                </c:pt>
                <c:pt idx="2">
                  <c:v>1.039</c:v>
                </c:pt>
                <c:pt idx="3">
                  <c:v>1.732</c:v>
                </c:pt>
                <c:pt idx="4">
                  <c:v>2.693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GW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계약</c:v>
                </c:pt>
                <c:pt idx="1">
                  <c:v>가동</c:v>
                </c:pt>
                <c:pt idx="2">
                  <c:v>AI IT load</c:v>
                </c:pt>
                <c:pt idx="3">
                  <c:v>추론</c:v>
                </c:pt>
                <c:pt idx="4">
                  <c:v>학습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54.8</c:v>
                </c:pt>
                <c:pt idx="1">
                  <c:v>42.1</c:v>
                </c:pt>
                <c:pt idx="2">
                  <c:v>30.32</c:v>
                </c:pt>
                <c:pt idx="3">
                  <c:v>23.021</c:v>
                </c:pt>
                <c:pt idx="4">
                  <c:v>7.3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 tokens/일</c:v>
                </c:pt>
              </c:strCache>
            </c:strRef>
          </c:tx>
          <c:cat>
            <c:strRef>
              <c:f>Sheet1!$A$2:$A$10</c:f>
              <c:strCache>
                <c:ptCount val="9"/>
                <c:pt idx="0">
                  <c:v>OpenAI</c:v>
                </c:pt>
                <c:pt idx="1">
                  <c:v>Google</c:v>
                </c:pt>
                <c:pt idx="2">
                  <c:v>Meta</c:v>
                </c:pt>
                <c:pt idx="3">
                  <c:v>Microsoft</c:v>
                </c:pt>
                <c:pt idx="4">
                  <c:v>Anthropic</c:v>
                </c:pt>
                <c:pt idx="5">
                  <c:v>Alibaba</c:v>
                </c:pt>
                <c:pt idx="6">
                  <c:v>Tencent</c:v>
                </c:pt>
                <c:pt idx="7">
                  <c:v>xAI</c:v>
                </c:pt>
                <c:pt idx="8">
                  <c:v>DeepSeek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0.586840240711296</c:v>
                </c:pt>
                <c:pt idx="1">
                  <c:v>0.53513286253056</c:v>
                </c:pt>
                <c:pt idx="2">
                  <c:v>0.4022866197504</c:v>
                </c:pt>
                <c:pt idx="3">
                  <c:v>0.372288096107136</c:v>
                </c:pt>
                <c:pt idx="4">
                  <c:v>0.31830324515136</c:v>
                </c:pt>
                <c:pt idx="5">
                  <c:v>0.259801314859008</c:v>
                </c:pt>
                <c:pt idx="6">
                  <c:v>0.167354927293824</c:v>
                </c:pt>
                <c:pt idx="7">
                  <c:v>0.125620159296096</c:v>
                </c:pt>
                <c:pt idx="8">
                  <c:v>0.104360160022272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우리 모델 annual QTokens</c:v>
                </c:pt>
              </c:strCache>
            </c:strRef>
          </c:tx>
          <c:cat>
            <c:strRef>
              <c:f>Sheet1!$A$2:$A$10</c:f>
              <c:strCache>
                <c:ptCount val="9"/>
                <c:pt idx="0">
                  <c:v>OpenAI</c:v>
                </c:pt>
                <c:pt idx="1">
                  <c:v>Google</c:v>
                </c:pt>
                <c:pt idx="2">
                  <c:v>Meta</c:v>
                </c:pt>
                <c:pt idx="3">
                  <c:v>Microsoft</c:v>
                </c:pt>
                <c:pt idx="4">
                  <c:v>Anthropic</c:v>
                </c:pt>
                <c:pt idx="5">
                  <c:v>Alibaba</c:v>
                </c:pt>
                <c:pt idx="6">
                  <c:v>Tencent</c:v>
                </c:pt>
                <c:pt idx="7">
                  <c:v>xAI</c:v>
                </c:pt>
                <c:pt idx="8">
                  <c:v>DeepSeek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214.197</c:v>
                </c:pt>
                <c:pt idx="1">
                  <c:v>195.323</c:v>
                </c:pt>
                <c:pt idx="2">
                  <c:v>146.835</c:v>
                </c:pt>
                <c:pt idx="3">
                  <c:v>135.885</c:v>
                </c:pt>
                <c:pt idx="4">
                  <c:v>116.181</c:v>
                </c:pt>
                <c:pt idx="5">
                  <c:v>94.827</c:v>
                </c:pt>
                <c:pt idx="6">
                  <c:v>61.085</c:v>
                </c:pt>
                <c:pt idx="7">
                  <c:v>45.851</c:v>
                </c:pt>
                <c:pt idx="8">
                  <c:v>38.091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Benchmark reference annual QTokens</c:v>
                </c:pt>
              </c:strCache>
            </c:strRef>
          </c:tx>
          <c:cat>
            <c:strRef>
              <c:f>Sheet1!$A$2:$A$10</c:f>
              <c:strCache>
                <c:ptCount val="9"/>
                <c:pt idx="0">
                  <c:v>OpenAI</c:v>
                </c:pt>
                <c:pt idx="1">
                  <c:v>Google</c:v>
                </c:pt>
                <c:pt idx="2">
                  <c:v>Meta</c:v>
                </c:pt>
                <c:pt idx="3">
                  <c:v>Microsoft</c:v>
                </c:pt>
                <c:pt idx="4">
                  <c:v>Anthropic</c:v>
                </c:pt>
                <c:pt idx="5">
                  <c:v>Alibaba</c:v>
                </c:pt>
                <c:pt idx="6">
                  <c:v>Tencent</c:v>
                </c:pt>
                <c:pt idx="7">
                  <c:v>xAI</c:v>
                </c:pt>
                <c:pt idx="8">
                  <c:v>DeepSeek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68.9</c:v>
                </c:pt>
                <c:pt idx="1">
                  <c:v>56.678</c:v>
                </c:pt>
                <c:pt idx="2">
                  <c:v>149.856</c:v>
                </c:pt>
                <c:pt idx="3">
                  <c:v>50.263</c:v>
                </c:pt>
                <c:pt idx="4">
                  <c:v>33.247</c:v>
                </c:pt>
                <c:pt idx="5">
                  <c:v>11.103</c:v>
                </c:pt>
                <c:pt idx="6">
                  <c:v>13.793</c:v>
                </c:pt>
                <c:pt idx="7">
                  <c:v>14.113</c:v>
                </c:pt>
                <c:pt idx="8">
                  <c:v>84.878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보수</c:v>
                </c:pt>
                <c:pt idx="1">
                  <c:v>기준</c:v>
                </c:pt>
                <c:pt idx="2">
                  <c:v>낙관</c:v>
                </c:pt>
                <c:pt idx="3">
                  <c:v>전력제약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0.479</c:v>
                </c:pt>
                <c:pt idx="1">
                  <c:v>0.559</c:v>
                </c:pt>
                <c:pt idx="2">
                  <c:v>0.609</c:v>
                </c:pt>
                <c:pt idx="3">
                  <c:v>0.579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2030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보수</c:v>
                </c:pt>
                <c:pt idx="1">
                  <c:v>기준</c:v>
                </c:pt>
                <c:pt idx="2">
                  <c:v>낙관</c:v>
                </c:pt>
                <c:pt idx="3">
                  <c:v>전력제약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0.659</c:v>
                </c:pt>
                <c:pt idx="1">
                  <c:v>0.759</c:v>
                </c:pt>
                <c:pt idx="2">
                  <c:v>0.839</c:v>
                </c:pt>
                <c:pt idx="3">
                  <c:v>0.799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0%" sourceLinked="0"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29260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00" b="1">
                <a:solidFill>
                  <a:srgbClr val="2563EB"/>
                </a:solidFill>
              </a:defRPr>
            </a:pPr>
            <a:r>
              <a:t>임원 보고용 시뮬레이션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51560"/>
            <a:ext cx="6766560" cy="2057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400" b="1">
                <a:solidFill>
                  <a:srgbClr val="122037"/>
                </a:solidFill>
              </a:defRPr>
            </a:pPr>
            <a:r>
              <a:t>상용 LLM 업체별</a:t>
            </a:r>
            <a:br/>
            <a:r>
              <a:t>전력·GPU·토큰 Capacity</a:t>
            </a:r>
            <a:br/>
            <a:r>
              <a:t>2026–2030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3246120"/>
            <a:ext cx="640080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</a:defRPr>
            </a:pPr>
            <a:r>
              <a:t>모델 보유 업체 기준으로 OpenAI, Anthropic, Google, Meta, Microsoft, xAI, DeepSeek, Alibaba, Tencent의 추론 capacity를 추정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7635240" y="941832"/>
            <a:ext cx="3611880" cy="960120"/>
          </a:xfrm>
          <a:prstGeom prst="rect">
            <a:avLst/>
          </a:prstGeom>
          <a:solidFill>
            <a:srgbClr val="EBF2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2030 기준 토큰/일</a:t>
            </a:r>
          </a:p>
          <a:p>
            <a:pPr>
              <a:defRPr sz="2000" b="1">
                <a:solidFill>
                  <a:srgbClr val="122037"/>
                </a:solidFill>
              </a:defRPr>
            </a:pPr>
            <a:r>
              <a:t>2.87Q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9개 상용 LLM owner 합산</a:t>
            </a:r>
          </a:p>
        </p:txBody>
      </p:sp>
      <p:sp>
        <p:nvSpPr>
          <p:cNvPr id="6" name="Rectangle 5"/>
          <p:cNvSpPr/>
          <p:nvPr/>
        </p:nvSpPr>
        <p:spPr>
          <a:xfrm>
            <a:off x="7635240" y="2121408"/>
            <a:ext cx="3611880" cy="960120"/>
          </a:xfrm>
          <a:prstGeom prst="rect">
            <a:avLst/>
          </a:prstGeom>
          <a:solidFill>
            <a:srgbClr val="E8F8F0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2030 기준 추론 GW</a:t>
            </a:r>
          </a:p>
          <a:p>
            <a:pPr>
              <a:defRPr sz="2000" b="1">
                <a:solidFill>
                  <a:srgbClr val="122037"/>
                </a:solidFill>
              </a:defRPr>
            </a:pPr>
            <a:r>
              <a:t>23.0 GW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AI IT load 중 추론 배정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7635240" y="3300984"/>
            <a:ext cx="3611880" cy="960120"/>
          </a:xfrm>
          <a:prstGeom prst="rect">
            <a:avLst/>
          </a:prstGeom>
          <a:solidFill>
            <a:srgbClr val="FFF7E5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기준 추론 비중</a:t>
            </a:r>
          </a:p>
          <a:p>
            <a:pPr>
              <a:defRPr sz="2000" b="1">
                <a:solidFill>
                  <a:srgbClr val="122037"/>
                </a:solidFill>
              </a:defRPr>
            </a:pPr>
            <a:r>
              <a:t>56% → 76%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2026은 fact가 아닌 시나리오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897880"/>
            <a:ext cx="685800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 b="1">
                <a:solidFill>
                  <a:srgbClr val="1E293B"/>
                </a:solidFill>
              </a:defRPr>
            </a:pPr>
            <a:r>
              <a:t>핵심: 공개 fact는 capacity/model 규모를 제한하고, active GW·추론 비중·tokens/MW는 명시적 시나리오로 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1201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출처 기반 시뮬레이션 | Fact / Estimate / Scenario 분리 | 생성일 2026-05-14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09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22037"/>
                </a:solidFill>
              </a:defRPr>
            </a:pPr>
            <a:r>
              <a:t>임원 요약 결론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기준 시나리오는 2026년 0.19Q/day에서 2030년 2.55Q/day로 확대되지만, 신뢰도는 전력 가동과 serving 효율에 좌우됩니다.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557784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OpenAI·Google·Meta가 2030년 기준 토큰 capacity의 상위권을 형성한다.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2026년 추론 60%+는 공식 fact가 아니므로 기준은 56%, 낙관만 61%로 제한했다.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2030년 기준 추론 비중 76%는 상용 serving 확대를 반영하되, 학습 GW를 계속 남긴다.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MoE 공개 모델 DeepSeek/Qwen은 파라미터 근거가 강하지만, active capacity 투명성은 낮다.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0" y="1234440"/>
          <a:ext cx="5166360" cy="3429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19088" y="4892040"/>
            <a:ext cx="4937760" cy="4389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2030 기준 업체 순위, quadrillion tokens/day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1201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출처 기반 시뮬레이션 | Fact / Estimate / Scenario 분리 | 생성일 2026-05-14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09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22037"/>
                </a:solidFill>
              </a:defRPr>
            </a:pPr>
            <a:r>
              <a:t>계산 로직은 전력 funnel과 serving 효율의 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계약 전력은 token capacity가 아니며, 가동 전력과 AI IT load를 거쳐 추론 GW로 내려옵니다.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417320"/>
            <a:ext cx="1828800" cy="1417320"/>
          </a:xfrm>
          <a:prstGeom prst="rect">
            <a:avLst/>
          </a:prstGeom>
          <a:solidFill>
            <a:srgbClr val="EBF2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91440"/>
          <a:lstStyle/>
          <a:p>
            <a:pPr algn="ctr">
              <a:defRPr b="1" sz="1200">
                <a:solidFill>
                  <a:srgbClr val="122037"/>
                </a:solidFill>
              </a:defRPr>
            </a:pPr>
            <a:r>
              <a:t>1. 계약 전력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계약/계획 GW</a:t>
            </a:r>
            <a:br/>
            <a:r>
              <a:t>source anchor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9464" y="1901952"/>
            <a:ext cx="329184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800" b="1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417320"/>
            <a:ext cx="1828800" cy="1417320"/>
          </a:xfrm>
          <a:prstGeom prst="rect">
            <a:avLst/>
          </a:prstGeom>
          <a:solidFill>
            <a:srgbClr val="F0F4F8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91440"/>
          <a:lstStyle/>
          <a:p>
            <a:pPr algn="ctr">
              <a:defRPr b="1" sz="1200">
                <a:solidFill>
                  <a:srgbClr val="122037"/>
                </a:solidFill>
              </a:defRPr>
            </a:pPr>
            <a:r>
              <a:t>2. 가동 전력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operational deploy</a:t>
            </a:r>
            <a:br/>
            <a:r>
              <a:t>시나리오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9744" y="1901952"/>
            <a:ext cx="329184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800" b="1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5166360" y="1417320"/>
            <a:ext cx="1828800" cy="1417320"/>
          </a:xfrm>
          <a:prstGeom prst="rect">
            <a:avLst/>
          </a:prstGeom>
          <a:solidFill>
            <a:srgbClr val="E8F8F0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91440"/>
          <a:lstStyle/>
          <a:p>
            <a:pPr algn="ctr">
              <a:defRPr b="1" sz="1200">
                <a:solidFill>
                  <a:srgbClr val="122037"/>
                </a:solidFill>
              </a:defRPr>
            </a:pPr>
            <a:r>
              <a:t>3. AI IT load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PUE·AI workload</a:t>
            </a:r>
            <a:br/>
            <a:r>
              <a:t>차감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50024" y="1901952"/>
            <a:ext cx="329184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800" b="1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417320"/>
            <a:ext cx="1828800" cy="1417320"/>
          </a:xfrm>
          <a:prstGeom prst="rect">
            <a:avLst/>
          </a:prstGeom>
          <a:solidFill>
            <a:srgbClr val="FFF7E5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91440"/>
          <a:lstStyle/>
          <a:p>
            <a:pPr algn="ctr">
              <a:defRPr b="1" sz="1200">
                <a:solidFill>
                  <a:srgbClr val="122037"/>
                </a:solidFill>
              </a:defRPr>
            </a:pPr>
            <a:r>
              <a:t>4. 추론 GW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학습/추론</a:t>
            </a:r>
            <a:br/>
            <a:r>
              <a:t>split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90304" y="1901952"/>
            <a:ext cx="329184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800" b="1">
                <a:solidFill>
                  <a:srgbClr val="64748B"/>
                </a:solidFill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46920" y="1417320"/>
            <a:ext cx="1828800" cy="1417320"/>
          </a:xfrm>
          <a:prstGeom prst="rect">
            <a:avLst/>
          </a:prstGeom>
          <a:solidFill>
            <a:srgbClr val="F0FB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91440"/>
          <a:lstStyle/>
          <a:p>
            <a:pPr algn="ctr">
              <a:defRPr b="1" sz="1200">
                <a:solidFill>
                  <a:srgbClr val="122037"/>
                </a:solidFill>
              </a:defRPr>
            </a:pPr>
            <a:r>
              <a:t>5. 토큰/일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tokens/sec/MW ×</a:t>
            </a:r>
            <a:br/>
            <a:r>
              <a:t>utilization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703320"/>
            <a:ext cx="100584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600" b="1">
                <a:solidFill>
                  <a:srgbClr val="122037"/>
                </a:solidFill>
              </a:defRPr>
            </a:pPr>
            <a:r>
              <a:t>추론 토큰/일 = 추론 GW × 1,000 × tokens/sec/MW × utilization × 86,400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572000"/>
            <a:ext cx="100584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Excel/JSON 표시값 기준 재계산도 일치하도록 rounding 후 토큰 산식을 적용했다.</a:t>
            </a:r>
          </a:p>
          <a:p>
            <a:pPr>
              <a:spcAft>
                <a:spcPts val="800"/>
              </a:spcAft>
              <a:defRPr sz="1100">
                <a:solidFill>
                  <a:srgbClr val="64748B"/>
                </a:solidFill>
              </a:defRPr>
            </a:pPr>
            <a:r>
              <a:t>Closed model parameter는 단일 숫자가 아니라 band만 사용하며, MoE는 total/active parameter를 분리한다.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11201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출처 기반 시뮬레이션 | Fact / Estimate / Scenario 분리 | 생성일 2026-05-14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09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22037"/>
                </a:solidFill>
              </a:defRPr>
            </a:pPr>
            <a:r>
              <a:t>시나리오별 토큰 capacity 범위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낙관/기준/보수 시나리오는 전력 가동 속도, 추론 비중, MoE·serving 효율을 동시에 움직입니다.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85800" y="1143000"/>
          <a:ext cx="7452360" cy="4526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8458200" y="1097280"/>
            <a:ext cx="2880360" cy="804672"/>
          </a:xfrm>
          <a:prstGeom prst="rect">
            <a:avLst/>
          </a:prstGeom>
          <a:solidFill>
            <a:srgbClr val="EBF2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보수</a:t>
            </a:r>
          </a:p>
          <a:p>
            <a:pPr>
              <a:defRPr sz="2000" b="1">
                <a:solidFill>
                  <a:srgbClr val="122037"/>
                </a:solidFill>
              </a:defRPr>
            </a:pPr>
            <a:r>
              <a:t>1.49Q/일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2030 비중 66%</a:t>
            </a:r>
          </a:p>
        </p:txBody>
      </p:sp>
      <p:sp>
        <p:nvSpPr>
          <p:cNvPr id="6" name="Rectangle 5"/>
          <p:cNvSpPr/>
          <p:nvPr/>
        </p:nvSpPr>
        <p:spPr>
          <a:xfrm>
            <a:off x="8458200" y="2194560"/>
            <a:ext cx="2880360" cy="804672"/>
          </a:xfrm>
          <a:prstGeom prst="rect">
            <a:avLst/>
          </a:prstGeom>
          <a:solidFill>
            <a:srgbClr val="E8F8F0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기준</a:t>
            </a:r>
          </a:p>
          <a:p>
            <a:pPr>
              <a:defRPr sz="2000" b="1">
                <a:solidFill>
                  <a:srgbClr val="122037"/>
                </a:solidFill>
              </a:defRPr>
            </a:pPr>
            <a:r>
              <a:t>2.87Q/일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2030 비중 76%</a:t>
            </a:r>
          </a:p>
        </p:txBody>
      </p:sp>
      <p:sp>
        <p:nvSpPr>
          <p:cNvPr id="7" name="Rectangle 6"/>
          <p:cNvSpPr/>
          <p:nvPr/>
        </p:nvSpPr>
        <p:spPr>
          <a:xfrm>
            <a:off x="8458200" y="3291839"/>
            <a:ext cx="2880360" cy="804672"/>
          </a:xfrm>
          <a:prstGeom prst="rect">
            <a:avLst/>
          </a:prstGeom>
          <a:solidFill>
            <a:srgbClr val="FFF7E5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낙관</a:t>
            </a:r>
          </a:p>
          <a:p>
            <a:pPr>
              <a:defRPr sz="2000" b="1">
                <a:solidFill>
                  <a:srgbClr val="122037"/>
                </a:solidFill>
              </a:defRPr>
            </a:pPr>
            <a:r>
              <a:t>4.79Q/일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2030 비중 84%</a:t>
            </a:r>
          </a:p>
        </p:txBody>
      </p:sp>
      <p:sp>
        <p:nvSpPr>
          <p:cNvPr id="8" name="Rectangle 7"/>
          <p:cNvSpPr/>
          <p:nvPr/>
        </p:nvSpPr>
        <p:spPr>
          <a:xfrm>
            <a:off x="8458200" y="4389120"/>
            <a:ext cx="2880360" cy="804672"/>
          </a:xfrm>
          <a:prstGeom prst="rect">
            <a:avLst/>
          </a:prstGeom>
          <a:solidFill>
            <a:srgbClr val="F0F4F8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전력제약·효율상승</a:t>
            </a:r>
          </a:p>
          <a:p>
            <a:pPr>
              <a:defRPr sz="2000" b="1">
                <a:solidFill>
                  <a:srgbClr val="122037"/>
                </a:solidFill>
              </a:defRPr>
            </a:pPr>
            <a:r>
              <a:t>2.69Q/일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2030 비중 80%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1201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출처 기반 시뮬레이션 | Fact / Estimate / Scenario 분리 | 생성일 2026-05-14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09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22037"/>
                </a:solidFill>
              </a:defRPr>
            </a:pPr>
            <a:r>
              <a:t>2030 기준 전력 전환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토큰 capacity는 계약 전력이 아니라 실제 추론 GW에서 나온다.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1234440"/>
          <a:ext cx="694944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8229600" y="1234440"/>
            <a:ext cx="3063240" cy="914400"/>
          </a:xfrm>
          <a:prstGeom prst="rect">
            <a:avLst/>
          </a:prstGeom>
          <a:solidFill>
            <a:srgbClr val="EBF2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계약 → 가동</a:t>
            </a:r>
          </a:p>
          <a:p>
            <a:pPr>
              <a:defRPr sz="2000" b="1">
                <a:solidFill>
                  <a:srgbClr val="122037"/>
                </a:solidFill>
              </a:defRPr>
            </a:pPr>
            <a:r>
              <a:t>77%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operational deployment ratio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2423160"/>
            <a:ext cx="3063240" cy="914400"/>
          </a:xfrm>
          <a:prstGeom prst="rect">
            <a:avLst/>
          </a:prstGeom>
          <a:solidFill>
            <a:srgbClr val="E8F8F0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AI IT → 추론</a:t>
            </a:r>
          </a:p>
          <a:p>
            <a:pPr>
              <a:defRPr sz="2000" b="1">
                <a:solidFill>
                  <a:srgbClr val="122037"/>
                </a:solidFill>
              </a:defRPr>
            </a:pPr>
            <a:r>
              <a:t>76%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2030 기준 split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3611880"/>
            <a:ext cx="3063240" cy="914400"/>
          </a:xfrm>
          <a:prstGeom prst="rect">
            <a:avLst/>
          </a:prstGeom>
          <a:solidFill>
            <a:srgbClr val="FFF7E5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학습 잔존</a:t>
            </a:r>
          </a:p>
          <a:p>
            <a:pPr>
              <a:defRPr sz="2000" b="1">
                <a:solidFill>
                  <a:srgbClr val="122037"/>
                </a:solidFill>
              </a:defRPr>
            </a:pPr>
            <a:r>
              <a:t>7.3 GW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0으로 가정하지 않음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46520"/>
            <a:ext cx="11201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출처 기반 시뮬레이션 | Fact / Estimate / Scenario 분리 | 생성일 2026-05-14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09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22037"/>
                </a:solidFill>
              </a:defRPr>
            </a:pPr>
            <a:r>
              <a:t>2030 기준 모델 보유 업체별 토큰 capacity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호스팅 capacity는 모델 소유권이 명확한 경우 model owner 기준으로 귀속한다.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097280"/>
          <a:ext cx="109728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715000"/>
            <a:ext cx="106070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</a:defRPr>
            </a:pPr>
            <a:r>
              <a:t>Microsoft/OpenAI 중복 처리: OpenAI 모델 output은 OpenAI model-owner로 귀속하고, Microsoft row는 Microsoft-owned/serving burden 가정을 반영한다.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201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출처 기반 시뮬레이션 | Fact / Estimate / Scenario 분리 | 생성일 2026-05-14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09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22037"/>
                </a:solidFill>
              </a:defRPr>
            </a:pPr>
            <a:r>
              <a:t>Fact anchor는 모델을 조여주지만 telemetry를 대체하지 않는다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공개 fact는 모델 규모와 capacity 상한을 제한하고, active GW와 utilization은 여전히 추정치다.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5166360" cy="822960"/>
          </a:xfrm>
          <a:prstGeom prst="rect">
            <a:avLst/>
          </a:prstGeom>
          <a:solidFill>
            <a:srgbClr val="EBF2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OpenAI</a:t>
            </a:r>
          </a:p>
          <a:p>
            <a:pPr>
              <a:defRPr sz="2000" b="1">
                <a:solidFill>
                  <a:srgbClr val="122037"/>
                </a:solidFill>
              </a:defRPr>
            </a:pPr>
            <a:r>
              <a:t>Oracle 4.5GW + Stargate 10GW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capacity 상한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5080" y="1143000"/>
            <a:ext cx="5166360" cy="822960"/>
          </a:xfrm>
          <a:prstGeom prst="rect">
            <a:avLst/>
          </a:prstGeom>
          <a:solidFill>
            <a:srgbClr val="E8F8F0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Google</a:t>
            </a:r>
          </a:p>
          <a:p>
            <a:pPr>
              <a:defRPr sz="2000" b="1">
                <a:solidFill>
                  <a:srgbClr val="122037"/>
                </a:solidFill>
              </a:defRPr>
            </a:pPr>
            <a:r>
              <a:t>Ironwood 9,216 chips / 42.5 exaflops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tokens/MW premium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258568"/>
            <a:ext cx="5166360" cy="822960"/>
          </a:xfrm>
          <a:prstGeom prst="rect">
            <a:avLst/>
          </a:prstGeom>
          <a:solidFill>
            <a:srgbClr val="FFF7E5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DeepSeek</a:t>
            </a:r>
          </a:p>
          <a:p>
            <a:pPr>
              <a:defRPr sz="2000" b="1">
                <a:solidFill>
                  <a:srgbClr val="122037"/>
                </a:solidFill>
              </a:defRPr>
            </a:pPr>
            <a:r>
              <a:t>671B total / 37B active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MoE 효율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5080" y="2258568"/>
            <a:ext cx="5166360" cy="822960"/>
          </a:xfrm>
          <a:prstGeom prst="rect">
            <a:avLst/>
          </a:prstGeom>
          <a:solidFill>
            <a:srgbClr val="F0F4F8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Alibaba</a:t>
            </a:r>
          </a:p>
          <a:p>
            <a:pPr>
              <a:defRPr sz="2000" b="1">
                <a:solidFill>
                  <a:srgbClr val="122037"/>
                </a:solidFill>
              </a:defRPr>
            </a:pPr>
            <a:r>
              <a:t>Qwen3 235B / 22B active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MoE 효율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374136"/>
            <a:ext cx="5166360" cy="822960"/>
          </a:xfrm>
          <a:prstGeom prst="rect">
            <a:avLst/>
          </a:prstGeom>
          <a:solidFill>
            <a:srgbClr val="EBF2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xAI</a:t>
            </a:r>
          </a:p>
          <a:p>
            <a:pPr>
              <a:defRPr sz="2000" b="1">
                <a:solidFill>
                  <a:srgbClr val="122037"/>
                </a:solidFill>
              </a:defRPr>
            </a:pPr>
            <a:r>
              <a:t>Colossus 100k Hopper GPU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cluster scale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3374136"/>
            <a:ext cx="5166360" cy="822960"/>
          </a:xfrm>
          <a:prstGeom prst="rect">
            <a:avLst/>
          </a:prstGeom>
          <a:solidFill>
            <a:srgbClr val="E8F8F0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Microsoft</a:t>
            </a:r>
          </a:p>
          <a:p>
            <a:pPr>
              <a:defRPr sz="2000" b="1">
                <a:solidFill>
                  <a:srgbClr val="122037"/>
                </a:solidFill>
              </a:defRPr>
            </a:pPr>
            <a:r>
              <a:t>Phi-4 14B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owned model anchor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489704"/>
            <a:ext cx="5166360" cy="822960"/>
          </a:xfrm>
          <a:prstGeom prst="rect">
            <a:avLst/>
          </a:prstGeom>
          <a:solidFill>
            <a:srgbClr val="FFF7E5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Tencent</a:t>
            </a:r>
          </a:p>
          <a:p>
            <a:pPr>
              <a:defRPr sz="2000" b="1">
                <a:solidFill>
                  <a:srgbClr val="122037"/>
                </a:solidFill>
              </a:defRPr>
            </a:pPr>
            <a:r>
              <a:t>Hunyuan 100B+ / 2T+ tokens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model scale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4489704"/>
            <a:ext cx="5166360" cy="822960"/>
          </a:xfrm>
          <a:prstGeom prst="rect">
            <a:avLst/>
          </a:prstGeom>
          <a:solidFill>
            <a:srgbClr val="F0F4F8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Meta</a:t>
            </a:r>
          </a:p>
          <a:p>
            <a:pPr>
              <a:defRPr sz="2000" b="1">
                <a:solidFill>
                  <a:srgbClr val="122037"/>
                </a:solidFill>
              </a:defRPr>
            </a:pPr>
            <a:r>
              <a:t>Llama 4 109B/400B, 17B active</a:t>
            </a:r>
          </a:p>
          <a:p>
            <a:pPr>
              <a:defRPr sz="850">
                <a:solidFill>
                  <a:srgbClr val="64748B"/>
                </a:solidFill>
              </a:defRPr>
            </a:pPr>
            <a:r>
              <a:t>open model band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11201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상세 출처는 Excel 01_sources 및 02a_fact_anchors에 수록 | 생성일 2026-05-14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09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22037"/>
                </a:solidFill>
              </a:defRPr>
            </a:pPr>
            <a:r>
              <a:t>Benchmark sanity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첨부 엑셀의 effective active params와 GPU count 방식을 별도 reference layer로 통합했다.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94360" y="1143000"/>
          <a:ext cx="7452360" cy="4434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75320" y="1325880"/>
            <a:ext cx="306324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Main forecast는 tokens/sec/MW 방식.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Benchmark layer는 GPU 수와 effective active params로 sanity check.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Closed model benchmark는 proxy이므로 결론이 아니라 guardrail.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큰 괴리는 confidence downgrade 신호.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201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출처 기반 시뮬레이션 | Fact / Estimate / Scenario 분리 | 생성일 2026-05-14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09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22037"/>
                </a:solidFill>
              </a:defRPr>
            </a:pPr>
            <a:r>
              <a:t>추론 비중 fact-check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이 모델은 2026년 60%+ 추론 GW를 fact로 취급하지 않는다.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234440"/>
          <a:ext cx="658368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26679" y="1325880"/>
            <a:ext cx="361188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기준 2026: 56%, 60% 미만.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낙관 2026: 61%, upside scenario에서만 허용.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기준 2030: 76%, 상용 serving 확대 반영.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모든 case에서 학습 capacity는 계속 유의미하게 남김.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1201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출처 기반 시뮬레이션 | Fact / Estimate / Scenario 분리 | 생성일 2026-05-14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09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22037"/>
                </a:solidFill>
              </a:defRPr>
            </a:pPr>
            <a:r>
              <a:t>모델 보유 업체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Core row는 데이터센터 host가 아니라 상용 LLM owner다.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3337560" cy="4297680"/>
          </a:xfrm>
          <a:prstGeom prst="rect">
            <a:avLst/>
          </a:prstGeom>
          <a:solidFill>
            <a:srgbClr val="EBF2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444752"/>
            <a:ext cx="29260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300" b="1">
                <a:solidFill>
                  <a:srgbClr val="122037"/>
                </a:solidFill>
              </a:defRPr>
            </a:pPr>
            <a:r>
              <a:t>미국 대형 플랫폼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1993392"/>
            <a:ext cx="28346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</a:defRPr>
            </a:pPr>
            <a:r>
              <a:t>OpenAI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267712"/>
            <a:ext cx="28346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30" b="0">
                <a:solidFill>
                  <a:srgbClr val="64748B"/>
                </a:solidFill>
              </a:defRPr>
            </a:pPr>
            <a:r>
              <a:t>GPT / o-series / ChatGPT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743200"/>
            <a:ext cx="28346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</a:defRPr>
            </a:pPr>
            <a:r>
              <a:t>Anthropic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017520"/>
            <a:ext cx="28346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30" b="0">
                <a:solidFill>
                  <a:srgbClr val="64748B"/>
                </a:solidFill>
              </a:defRPr>
            </a:pPr>
            <a:r>
              <a:t>Claude Opus / Sonnet / Haiku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493008"/>
            <a:ext cx="28346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</a:defRPr>
            </a:pPr>
            <a:r>
              <a:t>Google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767328"/>
            <a:ext cx="28346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30" b="0">
                <a:solidFill>
                  <a:srgbClr val="64748B"/>
                </a:solidFill>
              </a:defRPr>
            </a:pPr>
            <a:r>
              <a:t>Gemini / Gemma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242816"/>
            <a:ext cx="28346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</a:defRPr>
            </a:pPr>
            <a:r>
              <a:t>Meta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517136"/>
            <a:ext cx="28346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30" b="0">
                <a:solidFill>
                  <a:srgbClr val="64748B"/>
                </a:solidFill>
              </a:defRPr>
            </a:pPr>
            <a:r>
              <a:t>Llama / Meta 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992624"/>
            <a:ext cx="28346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</a:defRPr>
            </a:pPr>
            <a:r>
              <a:t>Microsoft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5266944"/>
            <a:ext cx="28346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30" b="0">
                <a:solidFill>
                  <a:srgbClr val="64748B"/>
                </a:solidFill>
              </a:defRPr>
            </a:pPr>
            <a:r>
              <a:t>Phi / MAI / Copilot model mix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26280" y="1234440"/>
            <a:ext cx="3337560" cy="4297680"/>
          </a:xfrm>
          <a:prstGeom prst="rect">
            <a:avLst/>
          </a:prstGeom>
          <a:solidFill>
            <a:srgbClr val="E8F8F0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90872" y="1444752"/>
            <a:ext cx="29260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300" b="1">
                <a:solidFill>
                  <a:srgbClr val="122037"/>
                </a:solidFill>
              </a:defRPr>
            </a:pPr>
            <a:r>
              <a:t>미국 challenger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1993392"/>
            <a:ext cx="28346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</a:defRPr>
            </a:pPr>
            <a:r>
              <a:t>xAI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7448" y="2267712"/>
            <a:ext cx="28346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30" b="0">
                <a:solidFill>
                  <a:srgbClr val="64748B"/>
                </a:solidFill>
              </a:defRPr>
            </a:pPr>
            <a:r>
              <a:t>Grok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1234440"/>
            <a:ext cx="3337560" cy="4297680"/>
          </a:xfrm>
          <a:prstGeom prst="rect">
            <a:avLst/>
          </a:prstGeom>
          <a:solidFill>
            <a:srgbClr val="FFF7E5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85632" y="1444752"/>
            <a:ext cx="292608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300" b="1">
                <a:solidFill>
                  <a:srgbClr val="122037"/>
                </a:solidFill>
              </a:defRPr>
            </a:pPr>
            <a:r>
              <a:t>중국 model owner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8" y="1993392"/>
            <a:ext cx="28346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</a:defRPr>
            </a:pPr>
            <a:r>
              <a:t>DeepSeek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8" y="2267712"/>
            <a:ext cx="28346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30" b="0">
                <a:solidFill>
                  <a:srgbClr val="64748B"/>
                </a:solidFill>
              </a:defRPr>
            </a:pPr>
            <a:r>
              <a:t>DeepSeek-V3 / R1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22208" y="2743200"/>
            <a:ext cx="28346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</a:defRPr>
            </a:pPr>
            <a:r>
              <a:t>Alibaba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8" y="3017520"/>
            <a:ext cx="28346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30" b="0">
                <a:solidFill>
                  <a:srgbClr val="64748B"/>
                </a:solidFill>
              </a:defRPr>
            </a:pPr>
            <a:r>
              <a:t>Qwen / Qwen3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22208" y="3493008"/>
            <a:ext cx="283464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</a:defRPr>
            </a:pPr>
            <a:r>
              <a:t>Tencent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2208" y="3767328"/>
            <a:ext cx="28346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30" b="0">
                <a:solidFill>
                  <a:srgbClr val="64748B"/>
                </a:solidFill>
              </a:defRPr>
            </a:pPr>
            <a:r>
              <a:t>Hunyuan / Hy3 / Yuanbao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11201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출처 기반 시뮬레이션 | Fact / Estimate / Scenario 분리 | 생성일 2026-05-14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09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22037"/>
                </a:solidFill>
              </a:defRPr>
            </a:pPr>
            <a:r>
              <a:t>메모리 마케팅 시사점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토큰 capacity 성장은 allocation, qualification, attach-rate 영업 motion으로 전환된다.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5074920" cy="1078992"/>
          </a:xfrm>
          <a:prstGeom prst="rect">
            <a:avLst/>
          </a:prstGeom>
          <a:solidFill>
            <a:srgbClr val="EBF2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HBM</a:t>
            </a:r>
          </a:p>
          <a:p>
            <a:pPr>
              <a:defRPr sz="2000" b="1">
                <a:solidFill>
                  <a:srgbClr val="122037"/>
                </a:solidFill>
              </a:defRPr>
            </a:pPr>
          </a:p>
          <a:p>
            <a:pPr>
              <a:defRPr sz="850">
                <a:solidFill>
                  <a:srgbClr val="64748B"/>
                </a:solidFill>
              </a:defRPr>
            </a:pPr>
            <a:r>
              <a:t>OpenAI/Google/Meta/xAI ramp → LTA, HBM4 roadmap lock-in, second-source qualification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3640" y="1325880"/>
            <a:ext cx="5074920" cy="1078992"/>
          </a:xfrm>
          <a:prstGeom prst="rect">
            <a:avLst/>
          </a:prstGeom>
          <a:solidFill>
            <a:srgbClr val="E8F8F0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DDR5 / MRDIMM</a:t>
            </a:r>
          </a:p>
          <a:p>
            <a:pPr>
              <a:defRPr sz="2000" b="1">
                <a:solidFill>
                  <a:srgbClr val="122037"/>
                </a:solidFill>
              </a:defRPr>
            </a:pPr>
          </a:p>
          <a:p>
            <a:pPr>
              <a:defRPr sz="850">
                <a:solidFill>
                  <a:srgbClr val="64748B"/>
                </a:solidFill>
              </a:defRPr>
            </a:pPr>
            <a:r>
              <a:t>추론 fleet 확대 → CPU-side memory density와 bandwidth attach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926080"/>
            <a:ext cx="5074920" cy="1078992"/>
          </a:xfrm>
          <a:prstGeom prst="rect">
            <a:avLst/>
          </a:prstGeom>
          <a:solidFill>
            <a:srgbClr val="FFF7E5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Enterprise SSD / QLC</a:t>
            </a:r>
          </a:p>
          <a:p>
            <a:pPr>
              <a:defRPr sz="2000" b="1">
                <a:solidFill>
                  <a:srgbClr val="122037"/>
                </a:solidFill>
              </a:defRPr>
            </a:pPr>
          </a:p>
          <a:p>
            <a:pPr>
              <a:defRPr sz="850">
                <a:solidFill>
                  <a:srgbClr val="64748B"/>
                </a:solidFill>
              </a:defRPr>
            </a:pPr>
            <a:r>
              <a:t>RAG, checkpointing, vector retrieval → TCO, endurance, retrieval latency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2926080"/>
            <a:ext cx="5074920" cy="1078992"/>
          </a:xfrm>
          <a:prstGeom prst="rect">
            <a:avLst/>
          </a:prstGeom>
          <a:solidFill>
            <a:srgbClr val="F0F4F8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CXL</a:t>
            </a:r>
          </a:p>
          <a:p>
            <a:pPr>
              <a:defRPr sz="2000" b="1">
                <a:solidFill>
                  <a:srgbClr val="122037"/>
                </a:solidFill>
              </a:defRPr>
            </a:pPr>
          </a:p>
          <a:p>
            <a:pPr>
              <a:defRPr sz="850">
                <a:solidFill>
                  <a:srgbClr val="64748B"/>
                </a:solidFill>
              </a:defRPr>
            </a:pPr>
            <a:r>
              <a:t>고가동률 추론 cluster → memory expansion과 utilization recovery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983480"/>
            <a:ext cx="1069848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300" b="1">
                <a:solidFill>
                  <a:srgbClr val="122037"/>
                </a:solidFill>
              </a:defRPr>
            </a:pPr>
            <a:r>
              <a:t>권장 sales motion: model owner별 account brief, 제품별 proof pack, scenario envelope에 연결된 pricing/mix 논리.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1201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출처 기반 시뮬레이션 | Fact / Estimate / Scenario 분리 | 생성일 2026-05-14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09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22037"/>
                </a:solidFill>
              </a:defRPr>
            </a:pPr>
            <a:r>
              <a:t>근거 신뢰도 감사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가장 강한 근거는 모델 크기와 발표 capacity이며, 가장 약한 부분은 active serving utilization이다.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3258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1">
                <a:solidFill>
                  <a:srgbClr val="0F9F6E"/>
                </a:solidFill>
              </a:defRPr>
            </a:pPr>
            <a:r>
              <a:t>높음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234440"/>
            <a:ext cx="3840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</a:defRPr>
            </a:pPr>
            <a:r>
              <a:t>공식 model card / technical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234440"/>
            <a:ext cx="51206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DeepSeek 671B/37B, Qwen3 235B/22B, Phi-4 14B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13258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1">
                <a:solidFill>
                  <a:srgbClr val="2563EB"/>
                </a:solidFill>
              </a:defRPr>
            </a:pPr>
            <a:r>
              <a:t>중간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194560"/>
            <a:ext cx="3840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</a:defRPr>
            </a:pPr>
            <a:r>
              <a:t>공식 capacity 또는 hardware 발표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194560"/>
            <a:ext cx="51206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OpenAI/Stargate GW, Google Ironwood, xAI Colossus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13258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1">
                <a:solidFill>
                  <a:srgbClr val="B4741E"/>
                </a:solidFill>
              </a:defRPr>
            </a:pPr>
            <a:r>
              <a:t>낮음-중간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3154680"/>
            <a:ext cx="3840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</a:defRPr>
            </a:pPr>
            <a:r>
              <a:t>Active GW와 추론/학습 split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154680"/>
            <a:ext cx="51206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telemetry 또는 site-level disclosure 필요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14800"/>
            <a:ext cx="13258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1">
                <a:solidFill>
                  <a:srgbClr val="B93838"/>
                </a:solidFill>
              </a:defRPr>
            </a:pPr>
            <a:r>
              <a:t>민감도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4114800"/>
            <a:ext cx="38404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</a:defRPr>
            </a:pPr>
            <a:r>
              <a:t>tokens/sec/MW와 utilization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4114800"/>
            <a:ext cx="51206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t>company fact가 아니라 scenario benchmark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577840"/>
            <a:ext cx="10515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1">
                <a:solidFill>
                  <a:srgbClr val="122037"/>
                </a:solidFill>
              </a:defRPr>
            </a:pPr>
            <a:r>
              <a:t>Replacement path: site-level MW activation, model routing mix, production API traffic, 모델/context별 실측 tokens/sec/MW.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11201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출처 기반 시뮬레이션 | Fact / Estimate / Scenario 분리 | 생성일 2026-05-14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09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22037"/>
                </a:solidFill>
              </a:defRPr>
            </a:pPr>
            <a:r>
              <a:t>Hallucination 체크리스트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임원 보고 전 숫자와 문구가 fact/proxy/scenario를 혼동하지 않는지 확인합니다.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143000"/>
            <a:ext cx="5166360" cy="749808"/>
          </a:xfrm>
          <a:prstGeom prst="rect">
            <a:avLst/>
          </a:prstGeom>
          <a:solidFill>
            <a:srgbClr val="EBF2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출처 존재</a:t>
            </a:r>
          </a:p>
          <a:p>
            <a:pPr>
              <a:defRPr sz="2000" b="1">
                <a:solidFill>
                  <a:srgbClr val="122037"/>
                </a:solidFill>
              </a:defRPr>
            </a:pPr>
          </a:p>
          <a:p>
            <a:pPr>
              <a:defRPr sz="850">
                <a:solidFill>
                  <a:srgbClr val="64748B"/>
                </a:solidFill>
              </a:defRPr>
            </a:pPr>
            <a:r>
              <a:t>URL/title/date 직접 확인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143000"/>
            <a:ext cx="5166360" cy="749808"/>
          </a:xfrm>
          <a:prstGeom prst="rect">
            <a:avLst/>
          </a:prstGeom>
          <a:solidFill>
            <a:srgbClr val="E8F8F0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숫자 직접 인용</a:t>
            </a:r>
          </a:p>
          <a:p>
            <a:pPr>
              <a:defRPr sz="2000" b="1">
                <a:solidFill>
                  <a:srgbClr val="122037"/>
                </a:solidFill>
              </a:defRPr>
            </a:pPr>
          </a:p>
          <a:p>
            <a:pPr>
              <a:defRPr sz="850">
                <a:solidFill>
                  <a:srgbClr val="64748B"/>
                </a:solidFill>
              </a:defRPr>
            </a:pPr>
            <a:r>
              <a:t>4.5GW, 671B/37B 등 원문 매칭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194560"/>
            <a:ext cx="5166360" cy="749808"/>
          </a:xfrm>
          <a:prstGeom prst="rect">
            <a:avLst/>
          </a:prstGeom>
          <a:solidFill>
            <a:srgbClr val="FFF7E5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Fact/Estimate 분리</a:t>
            </a:r>
          </a:p>
          <a:p>
            <a:pPr>
              <a:defRPr sz="2000" b="1">
                <a:solidFill>
                  <a:srgbClr val="122037"/>
                </a:solidFill>
              </a:defRPr>
            </a:pPr>
          </a:p>
          <a:p>
            <a:pPr>
              <a:defRPr sz="850">
                <a:solidFill>
                  <a:srgbClr val="64748B"/>
                </a:solidFill>
              </a:defRPr>
            </a:pPr>
            <a:r>
              <a:t>active GW·utilization은 scenario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2194560"/>
            <a:ext cx="5166360" cy="749808"/>
          </a:xfrm>
          <a:prstGeom prst="rect">
            <a:avLst/>
          </a:prstGeom>
          <a:solidFill>
            <a:srgbClr val="F0F4F8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Closed model</a:t>
            </a:r>
          </a:p>
          <a:p>
            <a:pPr>
              <a:defRPr sz="2000" b="1">
                <a:solidFill>
                  <a:srgbClr val="122037"/>
                </a:solidFill>
              </a:defRPr>
            </a:pPr>
          </a:p>
          <a:p>
            <a:pPr>
              <a:defRPr sz="850">
                <a:solidFill>
                  <a:srgbClr val="64748B"/>
                </a:solidFill>
              </a:defRPr>
            </a:pPr>
            <a:r>
              <a:t>precise parameter 금지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246120"/>
            <a:ext cx="5166360" cy="749808"/>
          </a:xfrm>
          <a:prstGeom prst="rect">
            <a:avLst/>
          </a:prstGeom>
          <a:solidFill>
            <a:srgbClr val="EBF2FF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Host attribution</a:t>
            </a:r>
          </a:p>
          <a:p>
            <a:pPr>
              <a:defRPr sz="2000" b="1">
                <a:solidFill>
                  <a:srgbClr val="122037"/>
                </a:solidFill>
              </a:defRPr>
            </a:pPr>
          </a:p>
          <a:p>
            <a:pPr>
              <a:defRPr sz="850">
                <a:solidFill>
                  <a:srgbClr val="64748B"/>
                </a:solidFill>
              </a:defRPr>
            </a:pPr>
            <a:r>
              <a:t>AWS/Oracle/Google host와 model owner 분리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3246120"/>
            <a:ext cx="5166360" cy="749808"/>
          </a:xfrm>
          <a:prstGeom prst="rect">
            <a:avLst/>
          </a:prstGeom>
          <a:solidFill>
            <a:srgbClr val="E8F8F0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Benchmark proxy</a:t>
            </a:r>
          </a:p>
          <a:p>
            <a:pPr>
              <a:defRPr sz="2000" b="1">
                <a:solidFill>
                  <a:srgbClr val="122037"/>
                </a:solidFill>
              </a:defRPr>
            </a:pPr>
          </a:p>
          <a:p>
            <a:pPr>
              <a:defRPr sz="850">
                <a:solidFill>
                  <a:srgbClr val="64748B"/>
                </a:solidFill>
              </a:defRPr>
            </a:pPr>
            <a:r>
              <a:t>closed model 결론이 아니라 sanity check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297679"/>
            <a:ext cx="5166360" cy="749808"/>
          </a:xfrm>
          <a:prstGeom prst="rect">
            <a:avLst/>
          </a:prstGeom>
          <a:solidFill>
            <a:srgbClr val="FFF7E5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단위</a:t>
            </a:r>
          </a:p>
          <a:p>
            <a:pPr>
              <a:defRPr sz="2000" b="1">
                <a:solidFill>
                  <a:srgbClr val="122037"/>
                </a:solidFill>
              </a:defRPr>
            </a:pPr>
          </a:p>
          <a:p>
            <a:pPr>
              <a:defRPr sz="850">
                <a:solidFill>
                  <a:srgbClr val="64748B"/>
                </a:solidFill>
              </a:defRPr>
            </a:pPr>
            <a:r>
              <a:t>daily vs annual token 혼동 금지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4297679"/>
            <a:ext cx="5166360" cy="749808"/>
          </a:xfrm>
          <a:prstGeom prst="rect">
            <a:avLst/>
          </a:prstGeom>
          <a:solidFill>
            <a:srgbClr val="F0F4F8"/>
          </a:solidFill>
          <a:ln>
            <a:solidFill>
              <a:srgbClr val="DA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900">
                <a:solidFill>
                  <a:srgbClr val="64748B"/>
                </a:solidFill>
              </a:defRPr>
            </a:pPr>
            <a:r>
              <a:t>Outlier</a:t>
            </a:r>
          </a:p>
          <a:p>
            <a:pPr>
              <a:defRPr sz="2000" b="1">
                <a:solidFill>
                  <a:srgbClr val="122037"/>
                </a:solidFill>
              </a:defRPr>
            </a:pPr>
          </a:p>
          <a:p>
            <a:pPr>
              <a:defRPr sz="850">
                <a:solidFill>
                  <a:srgbClr val="64748B"/>
                </a:solidFill>
              </a:defRPr>
            </a:pPr>
            <a:r>
              <a:t>benchmark_vs_model ±50% 초과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715000"/>
            <a:ext cx="106070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 b="1">
                <a:solidFill>
                  <a:srgbClr val="122037"/>
                </a:solidFill>
              </a:defRPr>
            </a:pPr>
            <a:r>
              <a:t>전체 체크리스트는 Excel `11_hallucination_checklist`에 수록되어 있으며, source screenshot/quote pack으로 최종 sign-off해야 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11201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출처 기반 시뮬레이션 | Fact / Estimate / Scenario 분리 | 생성일 2026-05-14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09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22037"/>
                </a:solidFill>
              </a:defRPr>
            </a:pPr>
            <a:r>
              <a:t>부록: 계산 검증 컨트롤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8813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전체 감사 가능한 모델은 workbook에 수록되어 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00_formula_assumptions: 모든 계산식과 해석 방식.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02a_fact_anchors: 확인된 공개 numeric anchor, confidence, replacement path.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08a/08b/08c/08d: 시나리오 정의, 업체-연도별 forecast, aggregate summary, benchmark reference.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11_hallucination_checklist: fact/proxy/scenario 혼동 방지용 검토표.</a:t>
            </a:r>
          </a:p>
          <a:p>
            <a:pPr>
              <a:spcAft>
                <a:spcPts val="800"/>
              </a:spcAft>
              <a:defRPr sz="1500">
                <a:solidFill>
                  <a:srgbClr val="1E293B"/>
                </a:solidFill>
              </a:defRPr>
            </a:pPr>
            <a:r>
              <a:t>Validation: active power는 contracted power 이하, 학습+추론=100%, 표시값으로 token/day 재계산 일치.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1201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4748B"/>
                </a:solidFill>
              </a:defRPr>
            </a:pPr>
            <a:r>
              <a:t>출처 기반 시뮬레이션 | Fact / Estimate / Scenario 분리 | 생성일 2026-05-14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